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7"/>
    <p:sldId id="257" r:id="rId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  <Relationship Id="rId9"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p:txBody>
          <a:bodyPr/>
          <a:lstStyle/>
          <a:p>
            <a:endParaRPr lang="en-US"/>
          </a:p>
        </p:txBody>
      </p:sp>
      <p:sp>
        <p:nvSpPr>
          <p:cNvPr id="3" name="Date Placeholder 2"/>
          <p:cNvSpPr>
            <a:spLocks noGrp="1"/>
          </p:cNvSpPr>
          <p:nvPr>
            <p:ph type="dt" sz="half" idx="1"/>
          </p:nvPr>
        </p:nvSpPr>
        <p:spPr/>
        <p:txBody>
          <a:bodyPr/>
          <a:lstStyle/>
          <a:p>
            <a:endParaRPr lang="en-US"/>
          </a:p>
        </p:txBody>
      </p:sp>
      <p:sp>
        <p:nvSpPr>
          <p:cNvPr id="4" name="Slide Image Placeholder 3"/>
          <p:cNvSpPr>
            <a:spLocks noGrp="1" noRot="1" noChangeAspect="1"/>
          </p:cNvSpPr>
          <p:nvPr>
            <p:ph type="sldImg" idx="2"/>
          </p:nvPr>
        </p:nvSpPr>
        <p:spPr/>
      </p:sp>
      <p:sp>
        <p:nvSpPr>
          <p:cNvPr id="5" name="Notes Placeholder 4"/>
          <p:cNvSpPr>
            <a:spLocks noGrp="1"/>
          </p:cNvSpPr>
          <p:nvPr>
            <p:ph type="body" sz="quarter" idx="3"/>
          </p:nvPr>
        </p:nvSpPr>
        <p:spPr/>
        <p:txBody>
          <a:bodyPr/>
          <a:lstStyle/>
          <a:p>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March 11, 2011, a magnitude 9.0 earthquake — the most powerful ever recorded in Japan — struck off the eastern coast of Honshu. What followed was a 15-meter tsunami that overwhelmed every safety barrier at the Fukushima Daiichi nuclear plant, disabling 12 of 13 backup generators and cutting all cooling to three operating reactors. Within 72 hours, all three reactor cores had melted. The accident was rated Level 7 on the International Nuclear Event Scale — the maximum possible level, shared only with Chernobyl.</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Fukushima disaster displaced over 100,000 people and caused 2,313 stress-related deaths among evacuees — though remarkably, zero people died from direct radiation exposure. Japan is still managing the aftermath: roughly 1.25 million tonnes of treated water have accumulated on site, and in August 2023 Japan controversially began releasing filtered water into the Pacific Ocean. The full decommissioning of the four damaged reactors — an estimated 200 billion dollar project — is not expected to be complete until between 2041 and 2051. The accident reshaped global nuclear policy: Germany shut down its last reactor in 2023, Japan created an independent nuclear regulator, and the IAEA launched worldwide safety reviews. The cleanup at Fukushima continues, serving as a permanent reminder of the gap between what safety standards promised and what the ocean delivered.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18fbf39986d2291f.jp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118ba29d99bb4d57.jpg"/>
  <Relationship Id="rId3" Type="http://schemas.openxmlformats.org/officeDocument/2006/relationships/notesSlide" Target="../notesSlides/notesSlide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952500" y="-1524000"/>
            <a:ext cx="14097000" cy="10287000"/>
            <a:chOff x="-952500" y="-1524000"/>
            <a:chExt cx="14097000" cy="10287000"/>
          </a:xfrm>
        </p:grpSpPr>
        <p:pic>
          <p:nvPicPr>
            <p:cNvPr id="2" name="Image 2"/>
            <p:cNvPicPr>
              <a:picLocks noChangeAspect="1"/>
            </p:cNvPicPr>
            <p:nvPr/>
          </p:nvPicPr>
          <p:blipFill>
            <a:blip r:embed="rId2"/>
            <a:srcRect l="0" t="13514" r="0" b="13514"/>
            <a:stretch>
              <a:fillRect/>
            </a:stretch>
          </p:blipFill>
          <p:spPr>
            <a:xfrm>
              <a:off x="-952500" y="-1524000"/>
              <a:ext cx="14097000" cy="10287000"/>
            </a:xfrm>
            <a:prstGeom prst="rect">
              <a:avLst/>
            </a:prstGeom>
          </p:spPr>
        </p:pic>
        <p:sp>
          <p:nvSpPr>
            <p:cNvPr id="3" name="Rectangle 3"/>
            <p:cNvSpPr/>
            <p:nvPr/>
          </p:nvSpPr>
          <p:spPr>
            <a:xfrm>
              <a:off x="0" y="0"/>
              <a:ext cx="12192000" cy="6858000"/>
            </a:xfrm>
            <a:prstGeom prst="rect">
              <a:avLst/>
            </a:prstGeom>
            <a:gradFill>
              <a:gsLst>
                <a:gs pos="0">
                  <a:srgbClr val="1A1A2E">
                    <a:alpha val="92000"/>
                  </a:srgbClr>
                </a:gs>
                <a:gs pos="52000">
                  <a:srgbClr val="1A1A2E">
                    <a:alpha val="60000"/>
                  </a:srgbClr>
                </a:gs>
                <a:gs pos="75000">
                  <a:srgbClr val="1A1A2E">
                    <a:alpha val="20000"/>
                  </a:srgbClr>
                </a:gs>
                <a:gs pos="100000">
                  <a:srgbClr val="1A1A2E">
                    <a:alpha val="0"/>
                  </a:srgbClr>
                </a:gs>
              </a:gsLst>
              <a:lin ang="0" scaled="1"/>
            </a:gradFill>
            <a:ln>
              <a:noFill/>
            </a:ln>
          </p:spPr>
        </p:sp>
        <p:sp>
          <p:nvSpPr>
            <p:cNvPr id="4" name="Rectangle 4"/>
            <p:cNvSpPr/>
            <p:nvPr/>
          </p:nvSpPr>
          <p:spPr>
            <a:xfrm>
              <a:off x="0" y="0"/>
              <a:ext cx="12192000" cy="6858000"/>
            </a:xfrm>
            <a:prstGeom prst="rect">
              <a:avLst/>
            </a:prstGeom>
            <a:gradFill>
              <a:gsLst>
                <a:gs pos="0">
                  <a:srgbClr val="1A1A2E">
                    <a:alpha val="0"/>
                  </a:srgbClr>
                </a:gs>
                <a:gs pos="100000">
                  <a:srgbClr val="1A1A2E">
                    <a:alpha val="45000"/>
                  </a:srgbClr>
                </a:gs>
              </a:gsLst>
              <a:lin ang="5400000" scaled="1"/>
            </a:gradFill>
            <a:ln>
              <a:noFill/>
            </a:ln>
          </p:spPr>
        </p:sp>
        <p:sp>
          <p:nvSpPr>
            <p:cNvPr id="5" name="Rectangle 5"/>
            <p:cNvSpPr/>
            <p:nvPr/>
          </p:nvSpPr>
          <p:spPr>
            <a:xfrm>
              <a:off x="0" y="0"/>
              <a:ext cx="5334000" cy="6858000"/>
            </a:xfrm>
            <a:prstGeom prst="rect">
              <a:avLst/>
            </a:prstGeom>
            <a:solidFill>
              <a:srgbClr val="1A1A2E">
                <a:alpha val="15000"/>
              </a:srgbClr>
            </a:solidFill>
            <a:ln>
              <a:noFill/>
            </a:ln>
          </p:spPr>
        </p:sp>
      </p:grpSp>
      <p:grpSp>
        <p:nvGrpSpPr>
          <p:cNvPr id="14" name="Group 14"/>
          <p:cNvGrpSpPr/>
          <p:nvPr/>
        </p:nvGrpSpPr>
        <p:grpSpPr>
          <a:xfrm>
            <a:off x="571500" y="457200"/>
            <a:ext cx="2095500" cy="390239"/>
            <a:chOff x="571500" y="457200"/>
            <a:chExt cx="2095500" cy="390239"/>
          </a:xfrm>
        </p:grpSpPr>
        <p:sp>
          <p:nvSpPr>
            <p:cNvPr id="7" name="Rectangle 7"/>
            <p:cNvSpPr/>
            <p:nvPr/>
          </p:nvSpPr>
          <p:spPr>
            <a:xfrm>
              <a:off x="571500" y="457200"/>
              <a:ext cx="2095500" cy="38100"/>
            </a:xfrm>
            <a:prstGeom prst="roundRect">
              <a:avLst>
                <a:gd name="adj" fmla="val 50000"/>
              </a:avLst>
            </a:prstGeom>
            <a:gradFill>
              <a:gsLst>
                <a:gs pos="0">
                  <a:srgbClr val="C0392B"/>
                </a:gs>
                <a:gs pos="100000">
                  <a:srgbClr val="C0392B">
                    <a:alpha val="20000"/>
                  </a:srgbClr>
                </a:gs>
              </a:gsLst>
              <a:lin ang="0" scaled="1"/>
            </a:gradFill>
            <a:ln>
              <a:noFill/>
            </a:ln>
          </p:spPr>
        </p:sp>
        <p:sp>
          <p:nvSpPr>
            <p:cNvPr id="8" name="Rectangle 8"/>
            <p:cNvSpPr/>
            <p:nvPr/>
          </p:nvSpPr>
          <p:spPr>
            <a:xfrm>
              <a:off x="571500" y="590550"/>
              <a:ext cx="1238250" cy="247650"/>
            </a:xfrm>
            <a:prstGeom prst="roundRect">
              <a:avLst>
                <a:gd name="adj" fmla="val 11538"/>
              </a:avLst>
            </a:prstGeom>
            <a:solidFill>
              <a:srgbClr val="C0392B">
                <a:alpha val="95000"/>
              </a:srgbClr>
            </a:solidFill>
            <a:ln>
              <a:noFill/>
            </a:ln>
          </p:spPr>
        </p:sp>
        <p:sp>
          <p:nvSpPr>
            <p:cNvPr id="9" name="TextBox 9"/>
            <p:cNvSpPr txBox="1"/>
            <p:nvPr/>
          </p:nvSpPr>
          <p:spPr>
            <a:xfrm>
              <a:off x="642391" y="656749"/>
              <a:ext cx="1096468" cy="190690"/>
            </a:xfrm>
            <a:prstGeom prst="rect">
              <a:avLst/>
            </a:prstGeom>
            <a:noFill/>
            <a:ln>
              <a:noFill/>
            </a:ln>
          </p:spPr>
          <p:txBody>
            <a:bodyPr wrap="none" lIns="0" tIns="0" rIns="0" bIns="0" anchor="t" anchorCtr="0">
              <a:spAutoFit/>
            </a:bodyPr>
            <a:lstStyle/>
            <a:p>
              <a:pPr algn="ctr"/>
              <a:r>
                <a:rPr lang="en-US" sz="980" b="1" spc="150" dirty="0">
                  <a:solidFill>
                    <a:srgbClr val="FFFFFF"/>
                  </a:solidFill>
                  <a:latin typeface="Arial"/>
                  <a:ea typeface="Arial"/>
                  <a:cs typeface="Arial"/>
                </a:rPr>
                <a:t>INES LEVEL 7</a:t>
              </a:r>
            </a:p>
          </p:txBody>
        </p:sp>
        <p:grpSp>
          <p:nvGrpSpPr>
            <p:cNvPr id="13" name="Group 13"/>
            <p:cNvGrpSpPr/>
            <p:nvPr/>
          </p:nvGrpSpPr>
          <p:grpSpPr>
            <a:xfrm>
              <a:off x="1955006" y="617402"/>
              <a:ext cx="185737" cy="177356"/>
              <a:chOff x="1955006" y="617402"/>
              <a:chExt cx="185737" cy="177356"/>
            </a:xfrm>
          </p:grpSpPr>
          <p:sp>
            <p:nvSpPr>
              <p:cNvPr id="10" name="Freeform 10"/>
              <p:cNvSpPr/>
              <p:nvPr/>
            </p:nvSpPr>
            <p:spPr>
              <a:xfrm>
                <a:off x="2063353" y="714375"/>
                <a:ext cx="77390" cy="80383"/>
              </a:xfrm>
              <a:custGeom>
                <a:avLst/>
                <a:gdLst/>
                <a:ahLst/>
                <a:cxnLst/>
                <a:rect l="l" t="t" r="r" b="b"/>
                <a:pathLst>
                  <a:path w="77390" h="80383">
                    <a:moveTo>
                      <a:pt x="0" y="26829"/>
                    </a:moveTo>
                    <a:lnTo>
                      <a:pt x="30956" y="80383"/>
                    </a:lnTo>
                    <a:cubicBezTo>
                      <a:pt x="59676" y="63801"/>
                      <a:pt x="77375" y="33163"/>
                      <a:pt x="77390" y="0"/>
                    </a:cubicBezTo>
                    <a:lnTo>
                      <a:pt x="15478" y="0"/>
                    </a:lnTo>
                    <a:cubicBezTo>
                      <a:pt x="15485" y="11067"/>
                      <a:pt x="9584" y="21295"/>
                      <a:pt x="0" y="26829"/>
                    </a:cubicBezTo>
                  </a:path>
                </a:pathLst>
              </a:custGeom>
              <a:noFill/>
              <a:ln w="19050">
                <a:solidFill>
                  <a:srgbClr val="C0392B"/>
                </a:solidFill>
              </a:ln>
            </p:spPr>
          </p:sp>
          <p:sp>
            <p:nvSpPr>
              <p:cNvPr id="11" name="Freeform 11"/>
              <p:cNvSpPr/>
              <p:nvPr/>
            </p:nvSpPr>
            <p:spPr>
              <a:xfrm>
                <a:off x="2001440" y="617402"/>
                <a:ext cx="92868" cy="70144"/>
              </a:xfrm>
              <a:custGeom>
                <a:avLst/>
                <a:gdLst/>
                <a:ahLst/>
                <a:cxnLst/>
                <a:rect l="l" t="t" r="r" b="b"/>
                <a:pathLst>
                  <a:path w="92868" h="70144">
                    <a:moveTo>
                      <a:pt x="61912" y="70144"/>
                    </a:moveTo>
                    <a:lnTo>
                      <a:pt x="92868" y="16589"/>
                    </a:lnTo>
                    <a:cubicBezTo>
                      <a:pt x="64135" y="0"/>
                      <a:pt x="28734" y="0"/>
                      <a:pt x="0" y="16589"/>
                    </a:cubicBezTo>
                    <a:lnTo>
                      <a:pt x="30956" y="70144"/>
                    </a:lnTo>
                    <a:cubicBezTo>
                      <a:pt x="40534" y="64614"/>
                      <a:pt x="52334" y="64614"/>
                      <a:pt x="61912" y="70144"/>
                    </a:cubicBezTo>
                  </a:path>
                </a:pathLst>
              </a:custGeom>
              <a:noFill/>
              <a:ln w="19050">
                <a:solidFill>
                  <a:srgbClr val="C0392B"/>
                </a:solidFill>
              </a:ln>
            </p:spPr>
          </p:sp>
          <p:sp>
            <p:nvSpPr>
              <p:cNvPr id="12" name="Freeform 12"/>
              <p:cNvSpPr/>
              <p:nvPr/>
            </p:nvSpPr>
            <p:spPr>
              <a:xfrm>
                <a:off x="1955006" y="714375"/>
                <a:ext cx="77390" cy="80383"/>
              </a:xfrm>
              <a:custGeom>
                <a:avLst/>
                <a:gdLst/>
                <a:ahLst/>
                <a:cxnLst/>
                <a:rect l="l" t="t" r="r" b="b"/>
                <a:pathLst>
                  <a:path w="77390" h="80383">
                    <a:moveTo>
                      <a:pt x="77390" y="26829"/>
                    </a:moveTo>
                    <a:lnTo>
                      <a:pt x="46434" y="80383"/>
                    </a:lnTo>
                    <a:cubicBezTo>
                      <a:pt x="17714" y="63801"/>
                      <a:pt x="16" y="33163"/>
                      <a:pt x="0" y="0"/>
                    </a:cubicBezTo>
                    <a:lnTo>
                      <a:pt x="61912" y="0"/>
                    </a:lnTo>
                    <a:cubicBezTo>
                      <a:pt x="61905" y="11067"/>
                      <a:pt x="67806" y="21295"/>
                      <a:pt x="77390" y="26829"/>
                    </a:cubicBezTo>
                  </a:path>
                </a:pathLst>
              </a:custGeom>
              <a:noFill/>
              <a:ln w="19050">
                <a:solidFill>
                  <a:srgbClr val="C0392B"/>
                </a:solidFill>
              </a:ln>
            </p:spPr>
          </p:sp>
        </p:grpSp>
      </p:grpSp>
      <p:grpSp>
        <p:nvGrpSpPr>
          <p:cNvPr id="19" name="Group 19"/>
          <p:cNvGrpSpPr/>
          <p:nvPr/>
        </p:nvGrpSpPr>
        <p:grpSpPr>
          <a:xfrm>
            <a:off x="552450" y="1322070"/>
            <a:ext cx="3490341" cy="2708719"/>
            <a:chOff x="552450" y="1322070"/>
            <a:chExt cx="3490341" cy="2708719"/>
          </a:xfrm>
        </p:grpSpPr>
        <p:sp>
          <p:nvSpPr>
            <p:cNvPr id="15" name="TextBox 15"/>
            <p:cNvSpPr txBox="1"/>
            <p:nvPr/>
          </p:nvSpPr>
          <p:spPr>
            <a:xfrm>
              <a:off x="552450" y="1322070"/>
              <a:ext cx="3490341" cy="1790700"/>
            </a:xfrm>
            <a:prstGeom prst="rect">
              <a:avLst/>
            </a:prstGeom>
            <a:noFill/>
            <a:ln>
              <a:noFill/>
            </a:ln>
          </p:spPr>
          <p:txBody>
            <a:bodyPr wrap="square" lIns="0" tIns="0" rIns="0" bIns="0" anchor="t" anchorCtr="0"/>
            <a:lstStyle/>
            <a:p>
              <a:pPr algn="l">
                <a:lnSpc>
                  <a:spcPts val="5850"/>
                </a:lnSpc>
              </a:pPr>
              <a:r>
                <a:rPr lang="en-US" sz="5400" b="1" spc="-75" dirty="0">
                  <a:solidFill>
                    <a:srgbClr val="FFFFFF"/>
                  </a:solidFill>
                  <a:latin typeface="Georgia"/>
                  <a:ea typeface="Georgia"/>
                  <a:cs typeface="Georgia"/>
                </a:rPr>
                <a:t xml:space="preserve">Fukushima </a:t>
              </a:r>
              <a:r>
                <a:rPr lang="en-US" sz="5400" b="1" spc="-75" dirty="0">
                  <a:solidFill>
                    <a:srgbClr val="FFFFFF"/>
                  </a:solidFill>
                  <a:latin typeface="Georgia"/>
                  <a:ea typeface="Georgia"/>
                  <a:cs typeface="Georgia"/>
                </a:rPr>
                <a:t>Daiichi</a:t>
              </a:r>
            </a:p>
          </p:txBody>
        </p:sp>
        <p:sp>
          <p:nvSpPr>
            <p:cNvPr id="16" name="TextBox 16"/>
            <p:cNvSpPr txBox="1"/>
            <p:nvPr/>
          </p:nvSpPr>
          <p:spPr>
            <a:xfrm>
              <a:off x="557784" y="3156585"/>
              <a:ext cx="3289645" cy="528066"/>
            </a:xfrm>
            <a:prstGeom prst="rect">
              <a:avLst/>
            </a:prstGeom>
            <a:noFill/>
            <a:ln>
              <a:noFill/>
            </a:ln>
          </p:spPr>
          <p:txBody>
            <a:bodyPr wrap="none" lIns="0" tIns="0" rIns="0" bIns="0" anchor="t" anchorCtr="0">
              <a:spAutoFit/>
            </a:bodyPr>
            <a:lstStyle/>
            <a:p>
              <a:pPr algn="l"/>
              <a:r>
                <a:rPr lang="en-US" sz="2700" spc="38" dirty="0">
                  <a:solidFill>
                    <a:srgbClr val="F5F5F0">
                      <a:alphaMod val="88000"/>
                    </a:srgbClr>
                  </a:solidFill>
                  <a:latin typeface="Georgia"/>
                  <a:ea typeface="Georgia"/>
                  <a:cs typeface="Georgia"/>
                </a:rPr>
                <a:t>Nuclear Disaster</a:t>
              </a:r>
            </a:p>
          </p:txBody>
        </p:sp>
        <p:sp>
          <p:nvSpPr>
            <p:cNvPr id="17" name="Rectangle 17"/>
            <p:cNvSpPr/>
            <p:nvPr/>
          </p:nvSpPr>
          <p:spPr>
            <a:xfrm>
              <a:off x="571500" y="3638550"/>
              <a:ext cx="2667000" cy="19050"/>
            </a:xfrm>
            <a:prstGeom prst="roundRect">
              <a:avLst>
                <a:gd name="adj" fmla="val 50000"/>
              </a:avLst>
            </a:prstGeom>
            <a:solidFill>
              <a:srgbClr val="C0392B">
                <a:alpha val="80000"/>
              </a:srgbClr>
            </a:solidFill>
            <a:ln>
              <a:noFill/>
            </a:ln>
          </p:spPr>
        </p:sp>
        <p:sp>
          <p:nvSpPr>
            <p:cNvPr id="18" name="TextBox 18"/>
            <p:cNvSpPr txBox="1"/>
            <p:nvPr/>
          </p:nvSpPr>
          <p:spPr>
            <a:xfrm>
              <a:off x="563118" y="3708082"/>
              <a:ext cx="2769596" cy="322707"/>
            </a:xfrm>
            <a:prstGeom prst="rect">
              <a:avLst/>
            </a:prstGeom>
            <a:noFill/>
            <a:ln>
              <a:noFill/>
            </a:ln>
          </p:spPr>
          <p:txBody>
            <a:bodyPr wrap="none" lIns="0" tIns="0" rIns="0" bIns="0" anchor="t" anchorCtr="0">
              <a:spAutoFit/>
            </a:bodyPr>
            <a:lstStyle/>
            <a:p>
              <a:pPr algn="l"/>
              <a:r>
                <a:rPr lang="en-US" sz="1650" spc="75" dirty="0">
                  <a:solidFill>
                    <a:srgbClr val="F5F5F0">
                      <a:alphaMod val="80000"/>
                    </a:srgbClr>
                  </a:solidFill>
                  <a:latin typeface="Arial"/>
                  <a:ea typeface="Arial"/>
                  <a:cs typeface="Arial"/>
                </a:rPr>
                <a:t>March 11, 2011 · Japan</a:t>
              </a:r>
            </a:p>
          </p:txBody>
        </p:sp>
      </p:grpSp>
      <p:grpSp>
        <p:nvGrpSpPr>
          <p:cNvPr id="26" name="Group 26"/>
          <p:cNvGrpSpPr/>
          <p:nvPr/>
        </p:nvGrpSpPr>
        <p:grpSpPr>
          <a:xfrm>
            <a:off x="571500" y="4286250"/>
            <a:ext cx="2238375" cy="1102995"/>
            <a:chOff x="571500" y="4286250"/>
            <a:chExt cx="2238375" cy="1102995"/>
          </a:xfrm>
          <a:effectLst>
            <a:outerShdw blurRad="95250" dist="28575" dir="5400000" algn="ctr" rotWithShape="0">
              <a:srgbClr val="000000">
                <a:alpha val="18750"/>
              </a:srgbClr>
            </a:outerShdw>
          </a:effectLst>
        </p:grpSpPr>
        <p:sp>
          <p:nvSpPr>
            <p:cNvPr id="20" name="Rectangle 20"/>
            <p:cNvSpPr/>
            <p:nvPr/>
          </p:nvSpPr>
          <p:spPr>
            <a:xfrm>
              <a:off x="571500" y="4286250"/>
              <a:ext cx="2238375" cy="1047750"/>
            </a:xfrm>
            <a:prstGeom prst="roundRect">
              <a:avLst>
                <a:gd name="adj" fmla="val 5455"/>
              </a:avLst>
            </a:prstGeom>
            <a:solidFill>
              <a:srgbClr val="1A1A2E">
                <a:alpha val="82000"/>
              </a:srgbClr>
            </a:solidFill>
            <a:ln>
              <a:noFill/>
            </a:ln>
            <a:effectLst>
              <a:outerShdw blurRad="95250" dist="28575" dir="5400000" algn="ctr" rotWithShape="0">
                <a:srgbClr val="000000">
                  <a:alpha val="18750"/>
                </a:srgbClr>
              </a:outerShdw>
            </a:effectLst>
          </p:spPr>
        </p:sp>
        <p:sp>
          <p:nvSpPr>
            <p:cNvPr id="21" name="Rectangle 21"/>
            <p:cNvSpPr/>
            <p:nvPr/>
          </p:nvSpPr>
          <p:spPr>
            <a:xfrm>
              <a:off x="571500" y="4286250"/>
              <a:ext cx="38100" cy="1047750"/>
            </a:xfrm>
            <a:prstGeom prst="roundRect">
              <a:avLst>
                <a:gd name="adj" fmla="val 50000"/>
              </a:avLst>
            </a:prstGeom>
            <a:solidFill>
              <a:srgbClr val="C0392B"/>
            </a:solidFill>
            <a:ln>
              <a:noFill/>
            </a:ln>
            <a:effectLst>
              <a:outerShdw blurRad="95250" dist="28575" dir="5400000" algn="ctr" rotWithShape="0">
                <a:srgbClr val="000000">
                  <a:alpha val="18750"/>
                </a:srgbClr>
              </a:outerShdw>
            </a:effectLst>
          </p:spPr>
        </p:sp>
        <p:sp>
          <p:nvSpPr>
            <p:cNvPr id="22" name="TextBox 22"/>
            <p:cNvSpPr txBox="1"/>
            <p:nvPr/>
          </p:nvSpPr>
          <p:spPr>
            <a:xfrm>
              <a:off x="717042" y="4407218"/>
              <a:ext cx="1110310" cy="264033"/>
            </a:xfrm>
            <a:prstGeom prst="rect">
              <a:avLst/>
            </a:prstGeom>
            <a:noFill/>
            <a:ln>
              <a:noFill/>
            </a:ln>
            <a:effectLst>
              <a:outerShdw blurRad="95250" dist="28575" dir="5400000" algn="ctr" rotWithShape="0">
                <a:srgbClr val="000000">
                  <a:alpha val="18750"/>
                </a:srgbClr>
              </a:outerShdw>
            </a:effectLst>
          </p:spPr>
          <p:txBody>
            <a:bodyPr wrap="none" lIns="0" tIns="0" rIns="0" bIns="0" anchor="t" anchorCtr="0">
              <a:spAutoFit/>
            </a:bodyPr>
            <a:lstStyle/>
            <a:p>
              <a:pPr algn="l"/>
              <a:r>
                <a:rPr lang="en-US" sz="1350" spc="75" dirty="0">
                  <a:solidFill>
                    <a:srgbClr val="95A5A6"/>
                  </a:solidFill>
                  <a:latin typeface="Arial"/>
                  <a:ea typeface="Arial"/>
                  <a:cs typeface="Arial"/>
                </a:rPr>
                <a:t>Earthquake</a:t>
              </a:r>
            </a:p>
          </p:txBody>
        </p:sp>
        <p:sp>
          <p:nvSpPr>
            <p:cNvPr id="23" name="TextBox 23"/>
            <p:cNvSpPr txBox="1"/>
            <p:nvPr/>
          </p:nvSpPr>
          <p:spPr>
            <a:xfrm>
              <a:off x="704850" y="4627245"/>
              <a:ext cx="977844" cy="762000"/>
            </a:xfrm>
            <a:prstGeom prst="rect">
              <a:avLst/>
            </a:prstGeom>
            <a:noFill/>
            <a:ln>
              <a:noFill/>
            </a:ln>
            <a:effectLst>
              <a:outerShdw blurRad="95250" dist="28575" dir="5400000" algn="ctr" rotWithShape="0">
                <a:srgbClr val="000000">
                  <a:alpha val="18750"/>
                </a:srgbClr>
              </a:outerShdw>
            </a:effectLst>
          </p:spPr>
          <p:txBody>
            <a:bodyPr wrap="none" lIns="0" tIns="0" rIns="0" bIns="0" anchor="t" anchorCtr="0">
              <a:spAutoFit/>
            </a:bodyPr>
            <a:lstStyle/>
            <a:p>
              <a:pPr algn="l"/>
              <a:r>
                <a:rPr lang="en-US" sz="3900" b="1" spc="-75" dirty="0">
                  <a:solidFill>
                    <a:srgbClr val="FFFFFF"/>
                  </a:solidFill>
                  <a:latin typeface="Georgia"/>
                  <a:ea typeface="Georgia"/>
                  <a:cs typeface="Georgia"/>
                </a:rPr>
                <a:t>9.0</a:t>
              </a:r>
            </a:p>
          </p:txBody>
        </p:sp>
        <p:sp>
          <p:nvSpPr>
            <p:cNvPr id="24" name="TextBox 24"/>
            <p:cNvSpPr txBox="1"/>
            <p:nvPr/>
          </p:nvSpPr>
          <p:spPr>
            <a:xfrm>
              <a:off x="1401318" y="4870132"/>
              <a:ext cx="359378" cy="322707"/>
            </a:xfrm>
            <a:prstGeom prst="rect">
              <a:avLst/>
            </a:prstGeom>
            <a:noFill/>
            <a:ln>
              <a:noFill/>
            </a:ln>
            <a:effectLst>
              <a:outerShdw blurRad="95250" dist="28575" dir="5400000" algn="ctr" rotWithShape="0">
                <a:srgbClr val="000000">
                  <a:alpha val="18750"/>
                </a:srgbClr>
              </a:outerShdw>
            </a:effectLst>
          </p:spPr>
          <p:txBody>
            <a:bodyPr wrap="none" lIns="0" tIns="0" rIns="0" bIns="0" anchor="t" anchorCtr="0">
              <a:spAutoFit/>
            </a:bodyPr>
            <a:lstStyle/>
            <a:p>
              <a:pPr algn="l"/>
              <a:r>
                <a:rPr lang="en-US" sz="1650" dirty="0">
                  <a:solidFill>
                    <a:srgbClr val="95A5A6"/>
                  </a:solidFill>
                  <a:latin typeface="Arial"/>
                  <a:ea typeface="Arial"/>
                  <a:cs typeface="Arial"/>
                </a:rPr>
                <a:t>Mw</a:t>
              </a:r>
            </a:p>
          </p:txBody>
        </p:sp>
        <p:sp>
          <p:nvSpPr>
            <p:cNvPr id="25" name="TextBox 25"/>
            <p:cNvSpPr txBox="1"/>
            <p:nvPr/>
          </p:nvSpPr>
          <p:spPr>
            <a:xfrm>
              <a:off x="717804" y="5128260"/>
              <a:ext cx="808736" cy="234696"/>
            </a:xfrm>
            <a:prstGeom prst="rect">
              <a:avLst/>
            </a:prstGeom>
            <a:noFill/>
            <a:ln>
              <a:noFill/>
            </a:ln>
            <a:effectLst>
              <a:outerShdw blurRad="95250" dist="28575" dir="5400000" algn="ctr" rotWithShape="0">
                <a:srgbClr val="000000">
                  <a:alpha val="18750"/>
                </a:srgbClr>
              </a:outerShdw>
            </a:effectLst>
          </p:spPr>
          <p:txBody>
            <a:bodyPr wrap="none" lIns="0" tIns="0" rIns="0" bIns="0" anchor="t" anchorCtr="0">
              <a:spAutoFit/>
            </a:bodyPr>
            <a:lstStyle/>
            <a:p>
              <a:pPr algn="l"/>
              <a:r>
                <a:rPr lang="en-US" sz="1200" dirty="0">
                  <a:solidFill>
                    <a:srgbClr val="7F8C8D"/>
                  </a:solidFill>
                  <a:latin typeface="Arial"/>
                  <a:ea typeface="Arial"/>
                  <a:cs typeface="Arial"/>
                </a:rPr>
                <a:t>Magnitude</a:t>
              </a:r>
            </a:p>
          </p:txBody>
        </p:sp>
      </p:grpSp>
      <p:grpSp>
        <p:nvGrpSpPr>
          <p:cNvPr id="33" name="Group 33"/>
          <p:cNvGrpSpPr/>
          <p:nvPr/>
        </p:nvGrpSpPr>
        <p:grpSpPr>
          <a:xfrm>
            <a:off x="2924175" y="4286250"/>
            <a:ext cx="2238375" cy="1102995"/>
            <a:chOff x="2924175" y="4286250"/>
            <a:chExt cx="2238375" cy="1102995"/>
          </a:xfrm>
          <a:effectLst>
            <a:outerShdw blurRad="95250" dist="28575" dir="5400000" algn="ctr" rotWithShape="0">
              <a:srgbClr val="000000">
                <a:alpha val="18750"/>
              </a:srgbClr>
            </a:outerShdw>
          </a:effectLst>
        </p:grpSpPr>
        <p:sp>
          <p:nvSpPr>
            <p:cNvPr id="27" name="Rectangle 27"/>
            <p:cNvSpPr/>
            <p:nvPr/>
          </p:nvSpPr>
          <p:spPr>
            <a:xfrm>
              <a:off x="2924175" y="4286250"/>
              <a:ext cx="2238375" cy="1047750"/>
            </a:xfrm>
            <a:prstGeom prst="roundRect">
              <a:avLst>
                <a:gd name="adj" fmla="val 5455"/>
              </a:avLst>
            </a:prstGeom>
            <a:solidFill>
              <a:srgbClr val="1A1A2E">
                <a:alpha val="82000"/>
              </a:srgbClr>
            </a:solidFill>
            <a:ln>
              <a:noFill/>
            </a:ln>
            <a:effectLst>
              <a:outerShdw blurRad="95250" dist="28575" dir="5400000" algn="ctr" rotWithShape="0">
                <a:srgbClr val="000000">
                  <a:alpha val="18750"/>
                </a:srgbClr>
              </a:outerShdw>
            </a:effectLst>
          </p:spPr>
        </p:sp>
        <p:sp>
          <p:nvSpPr>
            <p:cNvPr id="28" name="Rectangle 28"/>
            <p:cNvSpPr/>
            <p:nvPr/>
          </p:nvSpPr>
          <p:spPr>
            <a:xfrm>
              <a:off x="2924175" y="4286250"/>
              <a:ext cx="38100" cy="1047750"/>
            </a:xfrm>
            <a:prstGeom prst="roundRect">
              <a:avLst>
                <a:gd name="adj" fmla="val 50000"/>
              </a:avLst>
            </a:prstGeom>
            <a:solidFill>
              <a:srgbClr val="C0392B"/>
            </a:solidFill>
            <a:ln>
              <a:noFill/>
            </a:ln>
            <a:effectLst>
              <a:outerShdw blurRad="95250" dist="28575" dir="5400000" algn="ctr" rotWithShape="0">
                <a:srgbClr val="000000">
                  <a:alpha val="18750"/>
                </a:srgbClr>
              </a:outerShdw>
            </a:effectLst>
          </p:spPr>
        </p:sp>
        <p:sp>
          <p:nvSpPr>
            <p:cNvPr id="29" name="TextBox 29"/>
            <p:cNvSpPr txBox="1"/>
            <p:nvPr/>
          </p:nvSpPr>
          <p:spPr>
            <a:xfrm>
              <a:off x="3069717" y="4407218"/>
              <a:ext cx="1456849" cy="264033"/>
            </a:xfrm>
            <a:prstGeom prst="rect">
              <a:avLst/>
            </a:prstGeom>
            <a:noFill/>
            <a:ln>
              <a:noFill/>
            </a:ln>
            <a:effectLst>
              <a:outerShdw blurRad="95250" dist="28575" dir="5400000" algn="ctr" rotWithShape="0">
                <a:srgbClr val="000000">
                  <a:alpha val="18750"/>
                </a:srgbClr>
              </a:outerShdw>
            </a:effectLst>
          </p:spPr>
          <p:txBody>
            <a:bodyPr wrap="none" lIns="0" tIns="0" rIns="0" bIns="0" anchor="t" anchorCtr="0">
              <a:spAutoFit/>
            </a:bodyPr>
            <a:lstStyle/>
            <a:p>
              <a:pPr algn="l"/>
              <a:r>
                <a:rPr lang="en-US" sz="1350" spc="75" dirty="0">
                  <a:solidFill>
                    <a:srgbClr val="95A5A6"/>
                  </a:solidFill>
                  <a:latin typeface="Arial"/>
                  <a:ea typeface="Arial"/>
                  <a:cs typeface="Arial"/>
                </a:rPr>
                <a:t>Tsunami Height</a:t>
              </a:r>
            </a:p>
          </p:txBody>
        </p:sp>
        <p:sp>
          <p:nvSpPr>
            <p:cNvPr id="30" name="TextBox 30"/>
            <p:cNvSpPr txBox="1"/>
            <p:nvPr/>
          </p:nvSpPr>
          <p:spPr>
            <a:xfrm>
              <a:off x="3057525" y="4627245"/>
              <a:ext cx="977844" cy="762000"/>
            </a:xfrm>
            <a:prstGeom prst="rect">
              <a:avLst/>
            </a:prstGeom>
            <a:noFill/>
            <a:ln>
              <a:noFill/>
            </a:ln>
            <a:effectLst>
              <a:outerShdw blurRad="95250" dist="28575" dir="5400000" algn="ctr" rotWithShape="0">
                <a:srgbClr val="000000">
                  <a:alpha val="18750"/>
                </a:srgbClr>
              </a:outerShdw>
            </a:effectLst>
          </p:spPr>
          <p:txBody>
            <a:bodyPr wrap="none" lIns="0" tIns="0" rIns="0" bIns="0" anchor="t" anchorCtr="0">
              <a:spAutoFit/>
            </a:bodyPr>
            <a:lstStyle/>
            <a:p>
              <a:pPr algn="l"/>
              <a:r>
                <a:rPr lang="en-US" sz="3900" b="1" spc="-75" dirty="0">
                  <a:solidFill>
                    <a:srgbClr val="FFFFFF"/>
                  </a:solidFill>
                  <a:latin typeface="Georgia"/>
                  <a:ea typeface="Georgia"/>
                  <a:cs typeface="Georgia"/>
                </a:rPr>
                <a:t>~15</a:t>
              </a:r>
            </a:p>
          </p:txBody>
        </p:sp>
        <p:sp>
          <p:nvSpPr>
            <p:cNvPr id="31" name="TextBox 31"/>
            <p:cNvSpPr txBox="1"/>
            <p:nvPr/>
          </p:nvSpPr>
          <p:spPr>
            <a:xfrm>
              <a:off x="3925443" y="4870132"/>
              <a:ext cx="183356" cy="322707"/>
            </a:xfrm>
            <a:prstGeom prst="rect">
              <a:avLst/>
            </a:prstGeom>
            <a:noFill/>
            <a:ln>
              <a:noFill/>
            </a:ln>
            <a:effectLst>
              <a:outerShdw blurRad="95250" dist="28575" dir="5400000" algn="ctr" rotWithShape="0">
                <a:srgbClr val="000000">
                  <a:alpha val="18750"/>
                </a:srgbClr>
              </a:outerShdw>
            </a:effectLst>
          </p:spPr>
          <p:txBody>
            <a:bodyPr wrap="none" lIns="0" tIns="0" rIns="0" bIns="0" anchor="t" anchorCtr="0">
              <a:spAutoFit/>
            </a:bodyPr>
            <a:lstStyle/>
            <a:p>
              <a:pPr algn="l"/>
              <a:r>
                <a:rPr lang="en-US" sz="1650" dirty="0">
                  <a:solidFill>
                    <a:srgbClr val="95A5A6"/>
                  </a:solidFill>
                  <a:latin typeface="Arial"/>
                  <a:ea typeface="Arial"/>
                  <a:cs typeface="Arial"/>
                </a:rPr>
                <a:t>m</a:t>
              </a:r>
            </a:p>
          </p:txBody>
        </p:sp>
        <p:sp>
          <p:nvSpPr>
            <p:cNvPr id="32" name="TextBox 32"/>
            <p:cNvSpPr txBox="1"/>
            <p:nvPr/>
          </p:nvSpPr>
          <p:spPr>
            <a:xfrm>
              <a:off x="3070479" y="5128260"/>
              <a:ext cx="1537868" cy="234696"/>
            </a:xfrm>
            <a:prstGeom prst="rect">
              <a:avLst/>
            </a:prstGeom>
            <a:noFill/>
            <a:ln>
              <a:noFill/>
            </a:ln>
            <a:effectLst>
              <a:outerShdw blurRad="95250" dist="28575" dir="5400000" algn="ctr" rotWithShape="0">
                <a:srgbClr val="000000">
                  <a:alpha val="18750"/>
                </a:srgbClr>
              </a:outerShdw>
            </a:effectLst>
          </p:spPr>
          <p:txBody>
            <a:bodyPr wrap="none" lIns="0" tIns="0" rIns="0" bIns="0" anchor="t" anchorCtr="0">
              <a:spAutoFit/>
            </a:bodyPr>
            <a:lstStyle/>
            <a:p>
              <a:pPr algn="l"/>
              <a:r>
                <a:rPr lang="en-US" sz="1200" dirty="0">
                  <a:solidFill>
                    <a:srgbClr val="7F8C8D"/>
                  </a:solidFill>
                  <a:latin typeface="Arial"/>
                  <a:ea typeface="Arial"/>
                  <a:cs typeface="Arial"/>
                </a:rPr>
                <a:t>Design basis: 5.7 m</a:t>
              </a:r>
            </a:p>
          </p:txBody>
        </p:sp>
      </p:grpSp>
      <p:grpSp>
        <p:nvGrpSpPr>
          <p:cNvPr id="40" name="Group 40"/>
          <p:cNvGrpSpPr/>
          <p:nvPr/>
        </p:nvGrpSpPr>
        <p:grpSpPr>
          <a:xfrm>
            <a:off x="571500" y="5448300"/>
            <a:ext cx="2238375" cy="1102995"/>
            <a:chOff x="571500" y="5448300"/>
            <a:chExt cx="2238375" cy="1102995"/>
          </a:xfrm>
          <a:effectLst>
            <a:outerShdw blurRad="95250" dist="28575" dir="5400000" algn="ctr" rotWithShape="0">
              <a:srgbClr val="000000">
                <a:alpha val="18750"/>
              </a:srgbClr>
            </a:outerShdw>
          </a:effectLst>
        </p:grpSpPr>
        <p:sp>
          <p:nvSpPr>
            <p:cNvPr id="34" name="Rectangle 34"/>
            <p:cNvSpPr/>
            <p:nvPr/>
          </p:nvSpPr>
          <p:spPr>
            <a:xfrm>
              <a:off x="571500" y="5448300"/>
              <a:ext cx="2238375" cy="1047750"/>
            </a:xfrm>
            <a:prstGeom prst="roundRect">
              <a:avLst>
                <a:gd name="adj" fmla="val 5455"/>
              </a:avLst>
            </a:prstGeom>
            <a:solidFill>
              <a:srgbClr val="C0392B">
                <a:alpha val="88000"/>
              </a:srgbClr>
            </a:solidFill>
            <a:ln>
              <a:noFill/>
            </a:ln>
            <a:effectLst>
              <a:outerShdw blurRad="95250" dist="28575" dir="5400000" algn="ctr" rotWithShape="0">
                <a:srgbClr val="000000">
                  <a:alpha val="18750"/>
                </a:srgbClr>
              </a:outerShdw>
            </a:effectLst>
          </p:spPr>
        </p:sp>
        <p:sp>
          <p:nvSpPr>
            <p:cNvPr id="35" name="Rectangle 35"/>
            <p:cNvSpPr/>
            <p:nvPr/>
          </p:nvSpPr>
          <p:spPr>
            <a:xfrm>
              <a:off x="571500" y="5448300"/>
              <a:ext cx="38100" cy="1047750"/>
            </a:xfrm>
            <a:prstGeom prst="roundRect">
              <a:avLst>
                <a:gd name="adj" fmla="val 50000"/>
              </a:avLst>
            </a:prstGeom>
            <a:solidFill>
              <a:srgbClr val="FFFFFF"/>
            </a:solidFill>
            <a:ln>
              <a:noFill/>
            </a:ln>
            <a:effectLst>
              <a:outerShdw blurRad="95250" dist="28575" dir="5400000" algn="ctr" rotWithShape="0">
                <a:srgbClr val="000000">
                  <a:alpha val="18750"/>
                </a:srgbClr>
              </a:outerShdw>
            </a:effectLst>
          </p:spPr>
        </p:sp>
        <p:sp>
          <p:nvSpPr>
            <p:cNvPr id="36" name="TextBox 36"/>
            <p:cNvSpPr txBox="1"/>
            <p:nvPr/>
          </p:nvSpPr>
          <p:spPr>
            <a:xfrm>
              <a:off x="717042" y="5569268"/>
              <a:ext cx="1108005" cy="264033"/>
            </a:xfrm>
            <a:prstGeom prst="rect">
              <a:avLst/>
            </a:prstGeom>
            <a:noFill/>
            <a:ln>
              <a:noFill/>
            </a:ln>
            <a:effectLst>
              <a:outerShdw blurRad="95250" dist="28575" dir="5400000" algn="ctr" rotWithShape="0">
                <a:srgbClr val="000000">
                  <a:alpha val="18750"/>
                </a:srgbClr>
              </a:outerShdw>
            </a:effectLst>
          </p:spPr>
          <p:txBody>
            <a:bodyPr wrap="none" lIns="0" tIns="0" rIns="0" bIns="0" anchor="t" anchorCtr="0">
              <a:spAutoFit/>
            </a:bodyPr>
            <a:lstStyle/>
            <a:p>
              <a:pPr algn="l"/>
              <a:r>
                <a:rPr lang="en-US" sz="1350" spc="75" dirty="0">
                  <a:solidFill>
                    <a:srgbClr val="F5F5F0">
                      <a:alphaMod val="85000"/>
                    </a:srgbClr>
                  </a:solidFill>
                  <a:latin typeface="Arial"/>
                  <a:ea typeface="Arial"/>
                  <a:cs typeface="Arial"/>
                </a:rPr>
                <a:t>INES Rating</a:t>
              </a:r>
            </a:p>
          </p:txBody>
        </p:sp>
        <p:sp>
          <p:nvSpPr>
            <p:cNvPr id="37" name="TextBox 37"/>
            <p:cNvSpPr txBox="1"/>
            <p:nvPr/>
          </p:nvSpPr>
          <p:spPr>
            <a:xfrm>
              <a:off x="704850" y="5789295"/>
              <a:ext cx="358460" cy="762000"/>
            </a:xfrm>
            <a:prstGeom prst="rect">
              <a:avLst/>
            </a:prstGeom>
            <a:noFill/>
            <a:ln>
              <a:noFill/>
            </a:ln>
            <a:effectLst>
              <a:outerShdw blurRad="95250" dist="28575" dir="5400000" algn="ctr" rotWithShape="0">
                <a:srgbClr val="000000">
                  <a:alpha val="18750"/>
                </a:srgbClr>
              </a:outerShdw>
            </a:effectLst>
          </p:spPr>
          <p:txBody>
            <a:bodyPr wrap="none" lIns="0" tIns="0" rIns="0" bIns="0" anchor="t" anchorCtr="0">
              <a:spAutoFit/>
            </a:bodyPr>
            <a:lstStyle/>
            <a:p>
              <a:pPr algn="l"/>
              <a:r>
                <a:rPr lang="en-US" sz="3900" b="1" spc="-75" dirty="0">
                  <a:solidFill>
                    <a:srgbClr val="FFFFFF"/>
                  </a:solidFill>
                  <a:latin typeface="Georgia"/>
                  <a:ea typeface="Georgia"/>
                  <a:cs typeface="Georgia"/>
                </a:rPr>
                <a:t>7</a:t>
              </a:r>
            </a:p>
          </p:txBody>
        </p:sp>
        <p:sp>
          <p:nvSpPr>
            <p:cNvPr id="38" name="TextBox 38"/>
            <p:cNvSpPr txBox="1"/>
            <p:nvPr/>
          </p:nvSpPr>
          <p:spPr>
            <a:xfrm>
              <a:off x="1067943" y="6032182"/>
              <a:ext cx="327736" cy="322707"/>
            </a:xfrm>
            <a:prstGeom prst="rect">
              <a:avLst/>
            </a:prstGeom>
            <a:noFill/>
            <a:ln>
              <a:noFill/>
            </a:ln>
            <a:effectLst>
              <a:outerShdw blurRad="95250" dist="28575" dir="5400000" algn="ctr" rotWithShape="0">
                <a:srgbClr val="000000">
                  <a:alpha val="18750"/>
                </a:srgbClr>
              </a:outerShdw>
            </a:effectLst>
          </p:spPr>
          <p:txBody>
            <a:bodyPr wrap="none" lIns="0" tIns="0" rIns="0" bIns="0" anchor="t" anchorCtr="0">
              <a:spAutoFit/>
            </a:bodyPr>
            <a:lstStyle/>
            <a:p>
              <a:pPr algn="l"/>
              <a:r>
                <a:rPr lang="en-US" sz="1650" dirty="0">
                  <a:solidFill>
                    <a:srgbClr val="F5F5F0"/>
                  </a:solidFill>
                  <a:latin typeface="Arial"/>
                  <a:ea typeface="Arial"/>
                  <a:cs typeface="Arial"/>
                </a:rPr>
                <a:t>/ 7</a:t>
              </a:r>
            </a:p>
          </p:txBody>
        </p:sp>
        <p:sp>
          <p:nvSpPr>
            <p:cNvPr id="39" name="TextBox 39"/>
            <p:cNvSpPr txBox="1"/>
            <p:nvPr/>
          </p:nvSpPr>
          <p:spPr>
            <a:xfrm>
              <a:off x="717804" y="6280785"/>
              <a:ext cx="1153668" cy="234696"/>
            </a:xfrm>
            <a:prstGeom prst="rect">
              <a:avLst/>
            </a:prstGeom>
            <a:noFill/>
            <a:ln>
              <a:noFill/>
            </a:ln>
            <a:effectLst>
              <a:outerShdw blurRad="95250" dist="28575" dir="5400000" algn="ctr" rotWithShape="0">
                <a:srgbClr val="000000">
                  <a:alpha val="18750"/>
                </a:srgbClr>
              </a:outerShdw>
            </a:effectLst>
          </p:spPr>
          <p:txBody>
            <a:bodyPr wrap="none" lIns="0" tIns="0" rIns="0" bIns="0" anchor="t" anchorCtr="0">
              <a:spAutoFit/>
            </a:bodyPr>
            <a:lstStyle/>
            <a:p>
              <a:pPr algn="l"/>
              <a:r>
                <a:rPr lang="en-US" sz="1200" dirty="0">
                  <a:solidFill>
                    <a:srgbClr val="F5F5F0">
                      <a:alphaMod val="80000"/>
                    </a:srgbClr>
                  </a:solidFill>
                  <a:latin typeface="Arial"/>
                  <a:ea typeface="Arial"/>
                  <a:cs typeface="Arial"/>
                </a:rPr>
                <a:t>Maximum Level</a:t>
              </a:r>
            </a:p>
          </p:txBody>
        </p:sp>
      </p:grpSp>
      <p:grpSp>
        <p:nvGrpSpPr>
          <p:cNvPr id="47" name="Group 47"/>
          <p:cNvGrpSpPr/>
          <p:nvPr/>
        </p:nvGrpSpPr>
        <p:grpSpPr>
          <a:xfrm>
            <a:off x="2924175" y="5448300"/>
            <a:ext cx="2238375" cy="1102995"/>
            <a:chOff x="2924175" y="5448300"/>
            <a:chExt cx="2238375" cy="1102995"/>
          </a:xfrm>
          <a:effectLst>
            <a:outerShdw blurRad="95250" dist="28575" dir="5400000" algn="ctr" rotWithShape="0">
              <a:srgbClr val="000000">
                <a:alpha val="18750"/>
              </a:srgbClr>
            </a:outerShdw>
          </a:effectLst>
        </p:grpSpPr>
        <p:sp>
          <p:nvSpPr>
            <p:cNvPr id="41" name="Rectangle 41"/>
            <p:cNvSpPr/>
            <p:nvPr/>
          </p:nvSpPr>
          <p:spPr>
            <a:xfrm>
              <a:off x="2924175" y="5448300"/>
              <a:ext cx="2238375" cy="1047750"/>
            </a:xfrm>
            <a:prstGeom prst="roundRect">
              <a:avLst>
                <a:gd name="adj" fmla="val 5455"/>
              </a:avLst>
            </a:prstGeom>
            <a:solidFill>
              <a:srgbClr val="1A1A2E">
                <a:alpha val="82000"/>
              </a:srgbClr>
            </a:solidFill>
            <a:ln>
              <a:noFill/>
            </a:ln>
            <a:effectLst>
              <a:outerShdw blurRad="95250" dist="28575" dir="5400000" algn="ctr" rotWithShape="0">
                <a:srgbClr val="000000">
                  <a:alpha val="18750"/>
                </a:srgbClr>
              </a:outerShdw>
            </a:effectLst>
          </p:spPr>
        </p:sp>
        <p:sp>
          <p:nvSpPr>
            <p:cNvPr id="42" name="Rectangle 42"/>
            <p:cNvSpPr/>
            <p:nvPr/>
          </p:nvSpPr>
          <p:spPr>
            <a:xfrm>
              <a:off x="2924175" y="5448300"/>
              <a:ext cx="38100" cy="1047750"/>
            </a:xfrm>
            <a:prstGeom prst="roundRect">
              <a:avLst>
                <a:gd name="adj" fmla="val 50000"/>
              </a:avLst>
            </a:prstGeom>
            <a:solidFill>
              <a:srgbClr val="C0392B"/>
            </a:solidFill>
            <a:ln>
              <a:noFill/>
            </a:ln>
            <a:effectLst>
              <a:outerShdw blurRad="95250" dist="28575" dir="5400000" algn="ctr" rotWithShape="0">
                <a:srgbClr val="000000">
                  <a:alpha val="18750"/>
                </a:srgbClr>
              </a:outerShdw>
            </a:effectLst>
          </p:spPr>
        </p:sp>
        <p:sp>
          <p:nvSpPr>
            <p:cNvPr id="43" name="TextBox 43"/>
            <p:cNvSpPr txBox="1"/>
            <p:nvPr/>
          </p:nvSpPr>
          <p:spPr>
            <a:xfrm>
              <a:off x="3069717" y="5569268"/>
              <a:ext cx="1401832" cy="264033"/>
            </a:xfrm>
            <a:prstGeom prst="rect">
              <a:avLst/>
            </a:prstGeom>
            <a:noFill/>
            <a:ln>
              <a:noFill/>
            </a:ln>
            <a:effectLst>
              <a:outerShdw blurRad="95250" dist="28575" dir="5400000" algn="ctr" rotWithShape="0">
                <a:srgbClr val="000000">
                  <a:alpha val="18750"/>
                </a:srgbClr>
              </a:outerShdw>
            </a:effectLst>
          </p:spPr>
          <p:txBody>
            <a:bodyPr wrap="none" lIns="0" tIns="0" rIns="0" bIns="0" anchor="t" anchorCtr="0">
              <a:spAutoFit/>
            </a:bodyPr>
            <a:lstStyle/>
            <a:p>
              <a:pPr algn="l"/>
              <a:r>
                <a:rPr lang="en-US" sz="1350" spc="75" dirty="0">
                  <a:solidFill>
                    <a:srgbClr val="95A5A6"/>
                  </a:solidFill>
                  <a:latin typeface="Arial"/>
                  <a:ea typeface="Arial"/>
                  <a:cs typeface="Arial"/>
                </a:rPr>
                <a:t>Reactor Cores</a:t>
              </a:r>
            </a:p>
          </p:txBody>
        </p:sp>
        <p:sp>
          <p:nvSpPr>
            <p:cNvPr id="44" name="TextBox 44"/>
            <p:cNvSpPr txBox="1"/>
            <p:nvPr/>
          </p:nvSpPr>
          <p:spPr>
            <a:xfrm>
              <a:off x="3057525" y="5789295"/>
              <a:ext cx="358460" cy="762000"/>
            </a:xfrm>
            <a:prstGeom prst="rect">
              <a:avLst/>
            </a:prstGeom>
            <a:noFill/>
            <a:ln>
              <a:noFill/>
            </a:ln>
            <a:effectLst>
              <a:outerShdw blurRad="95250" dist="28575" dir="5400000" algn="ctr" rotWithShape="0">
                <a:srgbClr val="000000">
                  <a:alpha val="18750"/>
                </a:srgbClr>
              </a:outerShdw>
            </a:effectLst>
          </p:spPr>
          <p:txBody>
            <a:bodyPr wrap="none" lIns="0" tIns="0" rIns="0" bIns="0" anchor="t" anchorCtr="0">
              <a:spAutoFit/>
            </a:bodyPr>
            <a:lstStyle/>
            <a:p>
              <a:pPr algn="l"/>
              <a:r>
                <a:rPr lang="en-US" sz="3900" b="1" spc="-75" dirty="0">
                  <a:solidFill>
                    <a:srgbClr val="FFFFFF"/>
                  </a:solidFill>
                  <a:latin typeface="Georgia"/>
                  <a:ea typeface="Georgia"/>
                  <a:cs typeface="Georgia"/>
                </a:rPr>
                <a:t>3</a:t>
              </a:r>
            </a:p>
          </p:txBody>
        </p:sp>
        <p:sp>
          <p:nvSpPr>
            <p:cNvPr id="45" name="TextBox 45"/>
            <p:cNvSpPr txBox="1"/>
            <p:nvPr/>
          </p:nvSpPr>
          <p:spPr>
            <a:xfrm>
              <a:off x="3439668" y="6032182"/>
              <a:ext cx="738664" cy="322707"/>
            </a:xfrm>
            <a:prstGeom prst="rect">
              <a:avLst/>
            </a:prstGeom>
            <a:noFill/>
            <a:ln>
              <a:noFill/>
            </a:ln>
            <a:effectLst>
              <a:outerShdw blurRad="95250" dist="28575" dir="5400000" algn="ctr" rotWithShape="0">
                <a:srgbClr val="000000">
                  <a:alpha val="18750"/>
                </a:srgbClr>
              </a:outerShdw>
            </a:effectLst>
          </p:spPr>
          <p:txBody>
            <a:bodyPr wrap="none" lIns="0" tIns="0" rIns="0" bIns="0" anchor="t" anchorCtr="0">
              <a:spAutoFit/>
            </a:bodyPr>
            <a:lstStyle/>
            <a:p>
              <a:pPr algn="l"/>
              <a:r>
                <a:rPr lang="en-US" sz="1650" dirty="0">
                  <a:solidFill>
                    <a:srgbClr val="95A5A6"/>
                  </a:solidFill>
                  <a:latin typeface="Arial"/>
                  <a:ea typeface="Arial"/>
                  <a:cs typeface="Arial"/>
                </a:rPr>
                <a:t>melted</a:t>
              </a:r>
            </a:p>
          </p:txBody>
        </p:sp>
        <p:sp>
          <p:nvSpPr>
            <p:cNvPr id="46" name="TextBox 46"/>
            <p:cNvSpPr txBox="1"/>
            <p:nvPr/>
          </p:nvSpPr>
          <p:spPr>
            <a:xfrm>
              <a:off x="3070479" y="6280785"/>
              <a:ext cx="1221888" cy="234696"/>
            </a:xfrm>
            <a:prstGeom prst="rect">
              <a:avLst/>
            </a:prstGeom>
            <a:noFill/>
            <a:ln>
              <a:noFill/>
            </a:ln>
            <a:effectLst>
              <a:outerShdw blurRad="95250" dist="28575" dir="5400000" algn="ctr" rotWithShape="0">
                <a:srgbClr val="000000">
                  <a:alpha val="18750"/>
                </a:srgbClr>
              </a:outerShdw>
            </a:effectLst>
          </p:spPr>
          <p:txBody>
            <a:bodyPr wrap="none" lIns="0" tIns="0" rIns="0" bIns="0" anchor="t" anchorCtr="0">
              <a:spAutoFit/>
            </a:bodyPr>
            <a:lstStyle/>
            <a:p>
              <a:pPr algn="l"/>
              <a:r>
                <a:rPr lang="en-US" sz="1200" dirty="0">
                  <a:solidFill>
                    <a:srgbClr val="7F8C8D"/>
                  </a:solidFill>
                  <a:latin typeface="Arial"/>
                  <a:ea typeface="Arial"/>
                  <a:cs typeface="Arial"/>
                </a:rPr>
                <a:t>Within 72 hours</a:t>
              </a:r>
            </a:p>
          </p:txBody>
        </p:sp>
      </p:grpSp>
      <p:grpSp>
        <p:nvGrpSpPr>
          <p:cNvPr id="49" name="Group 49"/>
          <p:cNvGrpSpPr/>
          <p:nvPr/>
        </p:nvGrpSpPr>
        <p:grpSpPr>
          <a:xfrm>
            <a:off x="563880" y="3990975"/>
            <a:ext cx="6938592" cy="293370"/>
            <a:chOff x="563880" y="3990975"/>
            <a:chExt cx="6938592" cy="293370"/>
          </a:xfrm>
        </p:grpSpPr>
        <p:sp>
          <p:nvSpPr>
            <p:cNvPr id="48" name="TextBox 48"/>
            <p:cNvSpPr txBox="1"/>
            <p:nvPr/>
          </p:nvSpPr>
          <p:spPr>
            <a:xfrm>
              <a:off x="563880" y="3990975"/>
              <a:ext cx="6938592" cy="293370"/>
            </a:xfrm>
            <a:prstGeom prst="rect">
              <a:avLst/>
            </a:prstGeom>
            <a:noFill/>
            <a:ln>
              <a:noFill/>
            </a:ln>
          </p:spPr>
          <p:txBody>
            <a:bodyPr wrap="none" lIns="0" tIns="0" rIns="0" bIns="0" anchor="t" anchorCtr="0">
              <a:spAutoFit/>
            </a:bodyPr>
            <a:lstStyle/>
            <a:p>
              <a:pPr algn="l"/>
              <a:r>
                <a:rPr lang="en-US" sz="1500" dirty="0">
                  <a:solidFill>
                    <a:srgbClr val="F5F5F0">
                      <a:alphaMod val="70000"/>
                    </a:srgbClr>
                  </a:solidFill>
                  <a:latin typeface="Arial"/>
                  <a:ea typeface="Arial"/>
                  <a:cs typeface="Arial"/>
                </a:rPr>
                <a:t>A 15 m tsunami overwhelmed all safety systems, triggering meltdown.</a:t>
              </a:r>
            </a:p>
          </p:txBody>
        </p:sp>
      </p:grpSp>
      <p:grpSp>
        <p:nvGrpSpPr>
          <p:cNvPr id="55" name="Group 55"/>
          <p:cNvGrpSpPr/>
          <p:nvPr/>
        </p:nvGrpSpPr>
        <p:grpSpPr>
          <a:xfrm>
            <a:off x="11065719" y="6521768"/>
            <a:ext cx="561639" cy="264033"/>
            <a:chOff x="11065719" y="6521768"/>
            <a:chExt cx="561639" cy="264033"/>
          </a:xfrm>
        </p:grpSpPr>
        <p:sp>
          <p:nvSpPr>
            <p:cNvPr id="50" name="TextBox 50"/>
            <p:cNvSpPr txBox="1"/>
            <p:nvPr/>
          </p:nvSpPr>
          <p:spPr>
            <a:xfrm>
              <a:off x="11413731" y="6521768"/>
              <a:ext cx="213627" cy="264033"/>
            </a:xfrm>
            <a:prstGeom prst="rect">
              <a:avLst/>
            </a:prstGeom>
            <a:noFill/>
            <a:ln>
              <a:noFill/>
            </a:ln>
          </p:spPr>
          <p:txBody>
            <a:bodyPr wrap="none" lIns="0" tIns="0" rIns="0" bIns="0" anchor="t" anchorCtr="0">
              <a:spAutoFit/>
            </a:bodyPr>
            <a:lstStyle/>
            <a:p>
              <a:pPr algn="r"/>
              <a:r>
                <a:rPr lang="en-US" sz="1350" dirty="0">
                  <a:solidFill>
                    <a:srgbClr val="F5F5F0">
                      <a:alphaMod val="40000"/>
                    </a:srgbClr>
                  </a:solidFill>
                  <a:latin typeface="Arial"/>
                  <a:ea typeface="Arial"/>
                  <a:cs typeface="Arial"/>
                </a:rPr>
                <a:t>01</a:t>
              </a:r>
            </a:p>
          </p:txBody>
        </p:sp>
        <p:grpSp>
          <p:nvGrpSpPr>
            <p:cNvPr id="54" name="Group 54"/>
            <p:cNvGrpSpPr/>
            <p:nvPr/>
          </p:nvGrpSpPr>
          <p:grpSpPr>
            <a:xfrm>
              <a:off x="11065719" y="6576493"/>
              <a:ext cx="176105" cy="151297"/>
              <a:chOff x="11065719" y="6576493"/>
              <a:chExt cx="176105" cy="151297"/>
            </a:xfrm>
          </p:grpSpPr>
          <p:sp>
            <p:nvSpPr>
              <p:cNvPr id="51" name="Freeform 51"/>
              <p:cNvSpPr/>
              <p:nvPr/>
            </p:nvSpPr>
            <p:spPr>
              <a:xfrm>
                <a:off x="11153775" y="6631781"/>
                <a:ext cx="9525" cy="34925"/>
              </a:xfrm>
              <a:custGeom>
                <a:avLst/>
                <a:gdLst/>
                <a:ahLst/>
                <a:cxnLst/>
                <a:rect l="l" t="t" r="r" b="b"/>
                <a:pathLst>
                  <a:path w="9525" h="34925">
                    <a:moveTo>
                      <a:pt x="0" y="0"/>
                    </a:moveTo>
                    <a:lnTo>
                      <a:pt x="0" y="34925"/>
                    </a:lnTo>
                  </a:path>
                </a:pathLst>
              </a:custGeom>
              <a:noFill/>
              <a:ln w="19050">
                <a:solidFill>
                  <a:srgbClr val="C0392B"/>
                </a:solidFill>
              </a:ln>
            </p:spPr>
          </p:sp>
          <p:sp>
            <p:nvSpPr>
              <p:cNvPr id="52" name="Freeform 52"/>
              <p:cNvSpPr/>
              <p:nvPr/>
            </p:nvSpPr>
            <p:spPr>
              <a:xfrm>
                <a:off x="11065719" y="6576493"/>
                <a:ext cx="176105" cy="151297"/>
              </a:xfrm>
              <a:custGeom>
                <a:avLst/>
                <a:gdLst/>
                <a:ahLst/>
                <a:cxnLst/>
                <a:rect l="l" t="t" r="r" b="b"/>
                <a:pathLst>
                  <a:path w="176105" h="151297">
                    <a:moveTo>
                      <a:pt x="73763" y="8061"/>
                    </a:moveTo>
                    <a:lnTo>
                      <a:pt x="2987" y="126230"/>
                    </a:lnTo>
                    <a:cubicBezTo>
                      <a:pt x="18" y="131371"/>
                      <a:pt x="0" y="137702"/>
                      <a:pt x="2939" y="142860"/>
                    </a:cubicBezTo>
                    <a:cubicBezTo>
                      <a:pt x="5879" y="148019"/>
                      <a:pt x="11335" y="151230"/>
                      <a:pt x="17271" y="151297"/>
                    </a:cubicBezTo>
                    <a:lnTo>
                      <a:pt x="158840" y="151297"/>
                    </a:lnTo>
                    <a:cubicBezTo>
                      <a:pt x="164774" y="151229"/>
                      <a:pt x="170227" y="148018"/>
                      <a:pt x="173166" y="142863"/>
                    </a:cubicBezTo>
                    <a:cubicBezTo>
                      <a:pt x="176105" y="137707"/>
                      <a:pt x="176089" y="131379"/>
                      <a:pt x="173124" y="126238"/>
                    </a:cubicBezTo>
                    <a:lnTo>
                      <a:pt x="102349" y="8052"/>
                    </a:lnTo>
                    <a:cubicBezTo>
                      <a:pt x="99320" y="3053"/>
                      <a:pt x="93900" y="0"/>
                      <a:pt x="88056" y="0"/>
                    </a:cubicBezTo>
                    <a:cubicBezTo>
                      <a:pt x="82211" y="0"/>
                      <a:pt x="76791" y="3053"/>
                      <a:pt x="73763" y="8052"/>
                    </a:cubicBezTo>
                  </a:path>
                </a:pathLst>
              </a:custGeom>
              <a:noFill/>
              <a:ln w="19050">
                <a:solidFill>
                  <a:srgbClr val="C0392B"/>
                </a:solidFill>
              </a:ln>
            </p:spPr>
          </p:sp>
          <p:sp>
            <p:nvSpPr>
              <p:cNvPr id="53" name="Freeform 53"/>
              <p:cNvSpPr/>
              <p:nvPr/>
            </p:nvSpPr>
            <p:spPr>
              <a:xfrm>
                <a:off x="11153775" y="6692900"/>
                <a:ext cx="9525" cy="9525"/>
              </a:xfrm>
              <a:custGeom>
                <a:avLst/>
                <a:gdLst/>
                <a:ahLst/>
                <a:cxnLst/>
                <a:rect l="l" t="t" r="r" b="b"/>
                <a:pathLst>
                  <a:path w="9525" h="9525">
                    <a:moveTo>
                      <a:pt x="0" y="0"/>
                    </a:moveTo>
                    <a:lnTo>
                      <a:pt x="87" y="0"/>
                    </a:lnTo>
                  </a:path>
                </a:pathLst>
              </a:custGeom>
              <a:noFill/>
              <a:ln w="19050">
                <a:solidFill>
                  <a:srgbClr val="C0392B"/>
                </a:solidFill>
              </a:ln>
            </p:spPr>
          </p:sp>
        </p:gr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5F0"/>
            </a:solidFill>
            <a:ln>
              <a:noFill/>
            </a:ln>
          </p:spPr>
        </p:sp>
        <p:sp>
          <p:nvSpPr>
            <p:cNvPr id="3" name="Rectangle 3"/>
            <p:cNvSpPr/>
            <p:nvPr/>
          </p:nvSpPr>
          <p:spPr>
            <a:xfrm>
              <a:off x="8572500" y="0"/>
              <a:ext cx="3619500" cy="2667000"/>
            </a:xfrm>
            <a:prstGeom prst="rect">
              <a:avLst/>
            </a:prstGeom>
            <a:solidFill>
              <a:srgbClr val="E8E4DC">
                <a:alpha val="40000"/>
              </a:srgbClr>
            </a:solidFill>
            <a:ln>
              <a:noFill/>
            </a:ln>
          </p:spPr>
        </p:sp>
      </p:grpSp>
      <p:grpSp>
        <p:nvGrpSpPr>
          <p:cNvPr id="9" name="Group 9"/>
          <p:cNvGrpSpPr/>
          <p:nvPr/>
        </p:nvGrpSpPr>
        <p:grpSpPr>
          <a:xfrm>
            <a:off x="571500" y="307658"/>
            <a:ext cx="11049000" cy="730567"/>
            <a:chOff x="571500" y="307658"/>
            <a:chExt cx="11049000" cy="730567"/>
          </a:xfrm>
        </p:grpSpPr>
        <p:sp>
          <p:nvSpPr>
            <p:cNvPr id="5" name="Rectangle 5"/>
            <p:cNvSpPr/>
            <p:nvPr/>
          </p:nvSpPr>
          <p:spPr>
            <a:xfrm>
              <a:off x="571500" y="361950"/>
              <a:ext cx="38100" cy="495300"/>
            </a:xfrm>
            <a:prstGeom prst="roundRect">
              <a:avLst>
                <a:gd name="adj" fmla="val 50000"/>
              </a:avLst>
            </a:prstGeom>
            <a:solidFill>
              <a:srgbClr val="C0392B"/>
            </a:solidFill>
            <a:ln>
              <a:noFill/>
            </a:ln>
          </p:spPr>
        </p:sp>
        <p:sp>
          <p:nvSpPr>
            <p:cNvPr id="6" name="TextBox 6"/>
            <p:cNvSpPr txBox="1"/>
            <p:nvPr/>
          </p:nvSpPr>
          <p:spPr>
            <a:xfrm>
              <a:off x="726948" y="307658"/>
              <a:ext cx="7452483" cy="616077"/>
            </a:xfrm>
            <a:prstGeom prst="rect">
              <a:avLst/>
            </a:prstGeom>
            <a:noFill/>
            <a:ln>
              <a:noFill/>
            </a:ln>
          </p:spPr>
          <p:txBody>
            <a:bodyPr wrap="none" lIns="0" tIns="0" rIns="0" bIns="0" anchor="t" anchorCtr="0">
              <a:spAutoFit/>
            </a:bodyPr>
            <a:lstStyle/>
            <a:p>
              <a:pPr algn="l"/>
              <a:r>
                <a:rPr lang="en-US" sz="3150" b="1" dirty="0">
                  <a:solidFill>
                    <a:srgbClr val="1A1A2E"/>
                  </a:solidFill>
                  <a:latin typeface="Georgia"/>
                  <a:ea typeface="Georgia"/>
                  <a:cs typeface="Georgia"/>
                </a:rPr>
                <a:t>Impact, Cleanup &amp; Global Legacy</a:t>
              </a:r>
            </a:p>
          </p:txBody>
        </p:sp>
        <p:sp>
          <p:nvSpPr>
            <p:cNvPr id="7" name="TextBox 7"/>
            <p:cNvSpPr txBox="1"/>
            <p:nvPr/>
          </p:nvSpPr>
          <p:spPr>
            <a:xfrm>
              <a:off x="735330" y="742950"/>
              <a:ext cx="5466588" cy="293370"/>
            </a:xfrm>
            <a:prstGeom prst="rect">
              <a:avLst/>
            </a:prstGeom>
            <a:noFill/>
            <a:ln>
              <a:noFill/>
            </a:ln>
          </p:spPr>
          <p:txBody>
            <a:bodyPr wrap="none" lIns="0" tIns="0" rIns="0" bIns="0" anchor="t" anchorCtr="0">
              <a:spAutoFit/>
            </a:bodyPr>
            <a:lstStyle/>
            <a:p>
              <a:pPr algn="l"/>
              <a:r>
                <a:rPr lang="en-US" sz="1500" spc="75" dirty="0">
                  <a:solidFill>
                    <a:srgbClr val="7F8C8D"/>
                  </a:solidFill>
                  <a:latin typeface="Arial"/>
                  <a:ea typeface="Arial"/>
                  <a:cs typeface="Arial"/>
                </a:rPr>
                <a:t>2011 — ONGOING DECOMMISSION (EST. 2041–2051)</a:t>
              </a:r>
            </a:p>
          </p:txBody>
        </p:sp>
        <p:sp>
          <p:nvSpPr>
            <p:cNvPr id="8" name="Line 8"/>
            <p:cNvSpPr/>
            <p:nvPr/>
          </p:nvSpPr>
          <p:spPr>
            <a:xfrm>
              <a:off x="571500" y="1028700"/>
              <a:ext cx="11049000" cy="9525"/>
            </a:xfrm>
            <a:custGeom>
              <a:avLst/>
              <a:gdLst/>
              <a:ahLst/>
              <a:cxnLst/>
              <a:rect l="l" t="t" r="r" b="b"/>
              <a:pathLst>
                <a:path w="11049000" h="9525">
                  <a:moveTo>
                    <a:pt x="0" y="0"/>
                  </a:moveTo>
                  <a:lnTo>
                    <a:pt x="11049000" y="0"/>
                  </a:lnTo>
                </a:path>
              </a:pathLst>
            </a:custGeom>
            <a:noFill/>
            <a:ln w="9525">
              <a:solidFill>
                <a:srgbClr val="BDC3C7"/>
              </a:solidFill>
            </a:ln>
          </p:spPr>
        </p:sp>
      </p:grpSp>
      <p:grpSp>
        <p:nvGrpSpPr>
          <p:cNvPr id="48" name="Group 48"/>
          <p:cNvGrpSpPr/>
          <p:nvPr/>
        </p:nvGrpSpPr>
        <p:grpSpPr>
          <a:xfrm>
            <a:off x="565404" y="1165860"/>
            <a:ext cx="11055096" cy="1319879"/>
            <a:chOff x="565404" y="1165860"/>
            <a:chExt cx="11055096" cy="1319879"/>
          </a:xfrm>
        </p:grpSpPr>
        <p:sp>
          <p:nvSpPr>
            <p:cNvPr id="10" name="TextBox 10"/>
            <p:cNvSpPr txBox="1"/>
            <p:nvPr/>
          </p:nvSpPr>
          <p:spPr>
            <a:xfrm>
              <a:off x="565404" y="1165860"/>
              <a:ext cx="1966570" cy="234696"/>
            </a:xfrm>
            <a:prstGeom prst="rect">
              <a:avLst/>
            </a:prstGeom>
            <a:noFill/>
            <a:ln>
              <a:noFill/>
            </a:ln>
          </p:spPr>
          <p:txBody>
            <a:bodyPr wrap="none" lIns="0" tIns="0" rIns="0" bIns="0" anchor="t" anchorCtr="0">
              <a:spAutoFit/>
            </a:bodyPr>
            <a:lstStyle/>
            <a:p>
              <a:pPr algn="l"/>
              <a:r>
                <a:rPr lang="en-US" sz="1200" b="1" spc="150" dirty="0">
                  <a:solidFill>
                    <a:srgbClr val="7F8C8D"/>
                  </a:solidFill>
                  <a:latin typeface="Arial"/>
                  <a:ea typeface="Arial"/>
                  <a:cs typeface="Arial"/>
                </a:rPr>
                <a:t>RECOVERY TIMELINE</a:t>
              </a:r>
            </a:p>
          </p:txBody>
        </p:sp>
        <p:sp>
          <p:nvSpPr>
            <p:cNvPr id="11" name="Rectangle 11"/>
            <p:cNvSpPr/>
            <p:nvPr/>
          </p:nvSpPr>
          <p:spPr>
            <a:xfrm>
              <a:off x="571500" y="1447800"/>
              <a:ext cx="11049000" cy="304800"/>
            </a:xfrm>
            <a:prstGeom prst="roundRect">
              <a:avLst>
                <a:gd name="adj" fmla="val 50000"/>
              </a:avLst>
            </a:prstGeom>
            <a:solidFill>
              <a:srgbClr val="E8E4DC"/>
            </a:solidFill>
            <a:ln>
              <a:noFill/>
            </a:ln>
          </p:spPr>
        </p:sp>
        <p:sp>
          <p:nvSpPr>
            <p:cNvPr id="12" name="Rectangle 12"/>
            <p:cNvSpPr/>
            <p:nvPr/>
          </p:nvSpPr>
          <p:spPr>
            <a:xfrm>
              <a:off x="571500" y="1447800"/>
              <a:ext cx="7734300" cy="304800"/>
            </a:xfrm>
            <a:prstGeom prst="roundRect">
              <a:avLst>
                <a:gd name="adj" fmla="val 50000"/>
              </a:avLst>
            </a:prstGeom>
            <a:gradFill>
              <a:gsLst>
                <a:gs pos="0">
                  <a:srgbClr val="C0392B">
                    <a:alpha val="85000"/>
                  </a:srgbClr>
                </a:gs>
                <a:gs pos="60000">
                  <a:srgbClr val="1A1A2E">
                    <a:alpha val="85000"/>
                  </a:srgbClr>
                </a:gs>
                <a:gs pos="100000">
                  <a:srgbClr val="BDC3C7">
                    <a:alpha val="85000"/>
                  </a:srgbClr>
                </a:gs>
              </a:gsLst>
              <a:lin ang="0" scaled="1"/>
            </a:gradFill>
            <a:ln>
              <a:noFill/>
            </a:ln>
          </p:spPr>
        </p:sp>
        <p:grpSp>
          <p:nvGrpSpPr>
            <p:cNvPr id="18" name="Group 18"/>
            <p:cNvGrpSpPr/>
            <p:nvPr/>
          </p:nvGrpSpPr>
          <p:grpSpPr>
            <a:xfrm>
              <a:off x="982054" y="1485900"/>
              <a:ext cx="702893" cy="999839"/>
              <a:chOff x="982054" y="1485900"/>
              <a:chExt cx="702893" cy="999839"/>
            </a:xfrm>
          </p:grpSpPr>
          <p:sp>
            <p:nvSpPr>
              <p:cNvPr id="13" name="Ellipse 13"/>
              <p:cNvSpPr/>
              <p:nvPr/>
            </p:nvSpPr>
            <p:spPr>
              <a:xfrm>
                <a:off x="1219200" y="1485900"/>
                <a:ext cx="228600" cy="228600"/>
              </a:xfrm>
              <a:prstGeom prst="ellipse">
                <a:avLst/>
              </a:prstGeom>
              <a:solidFill>
                <a:srgbClr val="C0392B"/>
              </a:solidFill>
              <a:ln>
                <a:noFill/>
              </a:ln>
            </p:spPr>
          </p:sp>
          <p:sp>
            <p:nvSpPr>
              <p:cNvPr id="14" name="TextBox 14"/>
              <p:cNvSpPr txBox="1"/>
              <p:nvPr/>
            </p:nvSpPr>
            <p:spPr>
              <a:xfrm>
                <a:off x="1188289" y="1829752"/>
                <a:ext cx="290423" cy="205359"/>
              </a:xfrm>
              <a:prstGeom prst="rect">
                <a:avLst/>
              </a:prstGeom>
              <a:noFill/>
              <a:ln>
                <a:noFill/>
              </a:ln>
            </p:spPr>
            <p:txBody>
              <a:bodyPr wrap="none" lIns="0" tIns="0" rIns="0" bIns="0" anchor="t" anchorCtr="0">
                <a:spAutoFit/>
              </a:bodyPr>
              <a:lstStyle/>
              <a:p>
                <a:pPr algn="ctr"/>
                <a:r>
                  <a:rPr lang="en-US" sz="1050" b="1" dirty="0">
                    <a:solidFill>
                      <a:srgbClr val="1A1A2E"/>
                    </a:solidFill>
                    <a:latin typeface="Arial"/>
                    <a:ea typeface="Arial"/>
                    <a:cs typeface="Arial"/>
                  </a:rPr>
                  <a:t>Mar</a:t>
                </a:r>
              </a:p>
            </p:txBody>
          </p:sp>
          <p:sp>
            <p:nvSpPr>
              <p:cNvPr id="15" name="TextBox 15"/>
              <p:cNvSpPr txBox="1"/>
              <p:nvPr/>
            </p:nvSpPr>
            <p:spPr>
              <a:xfrm>
                <a:off x="1164906" y="1982152"/>
                <a:ext cx="337189" cy="205359"/>
              </a:xfrm>
              <a:prstGeom prst="rect">
                <a:avLst/>
              </a:prstGeom>
              <a:noFill/>
              <a:ln>
                <a:noFill/>
              </a:ln>
            </p:spPr>
            <p:txBody>
              <a:bodyPr wrap="none" lIns="0" tIns="0" rIns="0" bIns="0" anchor="t" anchorCtr="0">
                <a:spAutoFit/>
              </a:bodyPr>
              <a:lstStyle/>
              <a:p>
                <a:pPr algn="ctr"/>
                <a:r>
                  <a:rPr lang="en-US" sz="1050" b="1" dirty="0">
                    <a:solidFill>
                      <a:srgbClr val="1A1A2E"/>
                    </a:solidFill>
                    <a:latin typeface="Arial"/>
                    <a:ea typeface="Arial"/>
                    <a:cs typeface="Arial"/>
                  </a:rPr>
                  <a:t>2011</a:t>
                </a:r>
              </a:p>
            </p:txBody>
          </p:sp>
          <p:sp>
            <p:nvSpPr>
              <p:cNvPr id="16" name="TextBox 16"/>
              <p:cNvSpPr txBox="1"/>
              <p:nvPr/>
            </p:nvSpPr>
            <p:spPr>
              <a:xfrm>
                <a:off x="998089" y="2161699"/>
                <a:ext cx="670822" cy="190690"/>
              </a:xfrm>
              <a:prstGeom prst="rect">
                <a:avLst/>
              </a:prstGeom>
              <a:noFill/>
              <a:ln>
                <a:noFill/>
              </a:ln>
            </p:spPr>
            <p:txBody>
              <a:bodyPr wrap="none" lIns="0" tIns="0" rIns="0" bIns="0" anchor="t" anchorCtr="0">
                <a:spAutoFit/>
              </a:bodyPr>
              <a:lstStyle/>
              <a:p>
                <a:pPr algn="ctr"/>
                <a:r>
                  <a:rPr lang="en-US" sz="980" dirty="0">
                    <a:solidFill>
                      <a:srgbClr val="5D6D7E"/>
                    </a:solidFill>
                    <a:latin typeface="Arial"/>
                    <a:ea typeface="Arial"/>
                    <a:cs typeface="Arial"/>
                  </a:rPr>
                  <a:t>Accident &amp;</a:t>
                </a:r>
              </a:p>
            </p:txBody>
          </p:sp>
          <p:sp>
            <p:nvSpPr>
              <p:cNvPr id="17" name="TextBox 17"/>
              <p:cNvSpPr txBox="1"/>
              <p:nvPr/>
            </p:nvSpPr>
            <p:spPr>
              <a:xfrm>
                <a:off x="982054" y="2295049"/>
                <a:ext cx="702893" cy="190690"/>
              </a:xfrm>
              <a:prstGeom prst="rect">
                <a:avLst/>
              </a:prstGeom>
              <a:noFill/>
              <a:ln>
                <a:noFill/>
              </a:ln>
            </p:spPr>
            <p:txBody>
              <a:bodyPr wrap="none" lIns="0" tIns="0" rIns="0" bIns="0" anchor="t" anchorCtr="0">
                <a:spAutoFit/>
              </a:bodyPr>
              <a:lstStyle/>
              <a:p>
                <a:pPr algn="ctr"/>
                <a:r>
                  <a:rPr lang="en-US" sz="980" dirty="0">
                    <a:solidFill>
                      <a:srgbClr val="5D6D7E"/>
                    </a:solidFill>
                    <a:latin typeface="Arial"/>
                    <a:ea typeface="Arial"/>
                    <a:cs typeface="Arial"/>
                  </a:rPr>
                  <a:t>Evacuation</a:t>
                </a:r>
              </a:p>
            </p:txBody>
          </p:sp>
        </p:grpSp>
        <p:grpSp>
          <p:nvGrpSpPr>
            <p:cNvPr id="24" name="Group 24"/>
            <p:cNvGrpSpPr/>
            <p:nvPr/>
          </p:nvGrpSpPr>
          <p:grpSpPr>
            <a:xfrm>
              <a:off x="2779759" y="1485900"/>
              <a:ext cx="917481" cy="999839"/>
              <a:chOff x="2779759" y="1485900"/>
              <a:chExt cx="917481" cy="999839"/>
            </a:xfrm>
          </p:grpSpPr>
          <p:sp>
            <p:nvSpPr>
              <p:cNvPr id="19" name="Ellipse 19"/>
              <p:cNvSpPr/>
              <p:nvPr/>
            </p:nvSpPr>
            <p:spPr>
              <a:xfrm>
                <a:off x="3124200" y="1485900"/>
                <a:ext cx="228600" cy="228600"/>
              </a:xfrm>
              <a:prstGeom prst="ellipse">
                <a:avLst/>
              </a:prstGeom>
              <a:solidFill>
                <a:srgbClr val="1A1A2E"/>
              </a:solidFill>
              <a:ln>
                <a:noFill/>
              </a:ln>
            </p:spPr>
          </p:sp>
          <p:sp>
            <p:nvSpPr>
              <p:cNvPr id="20" name="TextBox 20"/>
              <p:cNvSpPr txBox="1"/>
              <p:nvPr/>
            </p:nvSpPr>
            <p:spPr>
              <a:xfrm>
                <a:off x="3108410" y="1829752"/>
                <a:ext cx="260179" cy="205359"/>
              </a:xfrm>
              <a:prstGeom prst="rect">
                <a:avLst/>
              </a:prstGeom>
              <a:noFill/>
              <a:ln>
                <a:noFill/>
              </a:ln>
            </p:spPr>
            <p:txBody>
              <a:bodyPr wrap="none" lIns="0" tIns="0" rIns="0" bIns="0" anchor="t" anchorCtr="0">
                <a:spAutoFit/>
              </a:bodyPr>
              <a:lstStyle/>
              <a:p>
                <a:pPr algn="ctr"/>
                <a:r>
                  <a:rPr lang="en-US" sz="1050" b="1" dirty="0">
                    <a:solidFill>
                      <a:srgbClr val="1A1A2E"/>
                    </a:solidFill>
                    <a:latin typeface="Arial"/>
                    <a:ea typeface="Arial"/>
                    <a:cs typeface="Arial"/>
                  </a:rPr>
                  <a:t>Dec</a:t>
                </a:r>
              </a:p>
            </p:txBody>
          </p:sp>
          <p:sp>
            <p:nvSpPr>
              <p:cNvPr id="21" name="TextBox 21"/>
              <p:cNvSpPr txBox="1"/>
              <p:nvPr/>
            </p:nvSpPr>
            <p:spPr>
              <a:xfrm>
                <a:off x="3069906" y="1982152"/>
                <a:ext cx="337189" cy="205359"/>
              </a:xfrm>
              <a:prstGeom prst="rect">
                <a:avLst/>
              </a:prstGeom>
              <a:noFill/>
              <a:ln>
                <a:noFill/>
              </a:ln>
            </p:spPr>
            <p:txBody>
              <a:bodyPr wrap="none" lIns="0" tIns="0" rIns="0" bIns="0" anchor="t" anchorCtr="0">
                <a:spAutoFit/>
              </a:bodyPr>
              <a:lstStyle/>
              <a:p>
                <a:pPr algn="ctr"/>
                <a:r>
                  <a:rPr lang="en-US" sz="1050" b="1" dirty="0">
                    <a:solidFill>
                      <a:srgbClr val="1A1A2E"/>
                    </a:solidFill>
                    <a:latin typeface="Arial"/>
                    <a:ea typeface="Arial"/>
                    <a:cs typeface="Arial"/>
                  </a:rPr>
                  <a:t>2011</a:t>
                </a:r>
              </a:p>
            </p:txBody>
          </p:sp>
          <p:sp>
            <p:nvSpPr>
              <p:cNvPr id="22" name="TextBox 22"/>
              <p:cNvSpPr txBox="1"/>
              <p:nvPr/>
            </p:nvSpPr>
            <p:spPr>
              <a:xfrm>
                <a:off x="2779759" y="2161699"/>
                <a:ext cx="917481" cy="190690"/>
              </a:xfrm>
              <a:prstGeom prst="rect">
                <a:avLst/>
              </a:prstGeom>
              <a:noFill/>
              <a:ln>
                <a:noFill/>
              </a:ln>
            </p:spPr>
            <p:txBody>
              <a:bodyPr wrap="none" lIns="0" tIns="0" rIns="0" bIns="0" anchor="t" anchorCtr="0">
                <a:spAutoFit/>
              </a:bodyPr>
              <a:lstStyle/>
              <a:p>
                <a:pPr algn="ctr"/>
                <a:r>
                  <a:rPr lang="en-US" sz="980" dirty="0">
                    <a:solidFill>
                      <a:srgbClr val="5D6D7E"/>
                    </a:solidFill>
                    <a:latin typeface="Arial"/>
                    <a:ea typeface="Arial"/>
                    <a:cs typeface="Arial"/>
                  </a:rPr>
                  <a:t>Cold Shutdown</a:t>
                </a:r>
              </a:p>
            </p:txBody>
          </p:sp>
          <p:sp>
            <p:nvSpPr>
              <p:cNvPr id="23" name="TextBox 23"/>
              <p:cNvSpPr txBox="1"/>
              <p:nvPr/>
            </p:nvSpPr>
            <p:spPr>
              <a:xfrm>
                <a:off x="2959267" y="2295049"/>
                <a:ext cx="558466" cy="190690"/>
              </a:xfrm>
              <a:prstGeom prst="rect">
                <a:avLst/>
              </a:prstGeom>
              <a:noFill/>
              <a:ln>
                <a:noFill/>
              </a:ln>
            </p:spPr>
            <p:txBody>
              <a:bodyPr wrap="none" lIns="0" tIns="0" rIns="0" bIns="0" anchor="t" anchorCtr="0">
                <a:spAutoFit/>
              </a:bodyPr>
              <a:lstStyle/>
              <a:p>
                <a:pPr algn="ctr"/>
                <a:r>
                  <a:rPr lang="en-US" sz="980" dirty="0">
                    <a:solidFill>
                      <a:srgbClr val="5D6D7E"/>
                    </a:solidFill>
                    <a:latin typeface="Arial"/>
                    <a:ea typeface="Arial"/>
                    <a:cs typeface="Arial"/>
                  </a:rPr>
                  <a:t>Achieved</a:t>
                </a:r>
              </a:p>
            </p:txBody>
          </p:sp>
        </p:grpSp>
        <p:grpSp>
          <p:nvGrpSpPr>
            <p:cNvPr id="29" name="Group 29"/>
            <p:cNvGrpSpPr/>
            <p:nvPr/>
          </p:nvGrpSpPr>
          <p:grpSpPr>
            <a:xfrm>
              <a:off x="4684759" y="1485900"/>
              <a:ext cx="917481" cy="999839"/>
              <a:chOff x="4684759" y="1485900"/>
              <a:chExt cx="917481" cy="999839"/>
            </a:xfrm>
          </p:grpSpPr>
          <p:sp>
            <p:nvSpPr>
              <p:cNvPr id="25" name="Ellipse 25"/>
              <p:cNvSpPr/>
              <p:nvPr/>
            </p:nvSpPr>
            <p:spPr>
              <a:xfrm>
                <a:off x="5029200" y="1485900"/>
                <a:ext cx="228600" cy="228600"/>
              </a:xfrm>
              <a:prstGeom prst="ellipse">
                <a:avLst/>
              </a:prstGeom>
              <a:solidFill>
                <a:srgbClr val="1A1A2E"/>
              </a:solidFill>
              <a:ln>
                <a:noFill/>
              </a:ln>
            </p:spPr>
          </p:sp>
          <p:sp>
            <p:nvSpPr>
              <p:cNvPr id="26" name="TextBox 26"/>
              <p:cNvSpPr txBox="1"/>
              <p:nvPr/>
            </p:nvSpPr>
            <p:spPr>
              <a:xfrm>
                <a:off x="4974906" y="1829752"/>
                <a:ext cx="337189" cy="205359"/>
              </a:xfrm>
              <a:prstGeom prst="rect">
                <a:avLst/>
              </a:prstGeom>
              <a:noFill/>
              <a:ln>
                <a:noFill/>
              </a:ln>
            </p:spPr>
            <p:txBody>
              <a:bodyPr wrap="none" lIns="0" tIns="0" rIns="0" bIns="0" anchor="t" anchorCtr="0">
                <a:spAutoFit/>
              </a:bodyPr>
              <a:lstStyle/>
              <a:p>
                <a:pPr algn="ctr"/>
                <a:r>
                  <a:rPr lang="en-US" sz="1050" b="1" dirty="0">
                    <a:solidFill>
                      <a:srgbClr val="1A1A2E"/>
                    </a:solidFill>
                    <a:latin typeface="Arial"/>
                    <a:ea typeface="Arial"/>
                    <a:cs typeface="Arial"/>
                  </a:rPr>
                  <a:t>2012</a:t>
                </a:r>
              </a:p>
            </p:txBody>
          </p:sp>
          <p:sp>
            <p:nvSpPr>
              <p:cNvPr id="27" name="TextBox 27"/>
              <p:cNvSpPr txBox="1"/>
              <p:nvPr/>
            </p:nvSpPr>
            <p:spPr>
              <a:xfrm>
                <a:off x="4855916" y="2161699"/>
                <a:ext cx="575167" cy="190690"/>
              </a:xfrm>
              <a:prstGeom prst="rect">
                <a:avLst/>
              </a:prstGeom>
              <a:noFill/>
              <a:ln>
                <a:noFill/>
              </a:ln>
            </p:spPr>
            <p:txBody>
              <a:bodyPr wrap="none" lIns="0" tIns="0" rIns="0" bIns="0" anchor="t" anchorCtr="0">
                <a:spAutoFit/>
              </a:bodyPr>
              <a:lstStyle/>
              <a:p>
                <a:pPr algn="ctr"/>
                <a:r>
                  <a:rPr lang="en-US" sz="980" dirty="0">
                    <a:solidFill>
                      <a:srgbClr val="5D6D7E"/>
                    </a:solidFill>
                    <a:latin typeface="Arial"/>
                    <a:ea typeface="Arial"/>
                    <a:cs typeface="Arial"/>
                  </a:rPr>
                  <a:t>NRA Est.</a:t>
                </a:r>
              </a:p>
            </p:txBody>
          </p:sp>
          <p:sp>
            <p:nvSpPr>
              <p:cNvPr id="28" name="TextBox 28"/>
              <p:cNvSpPr txBox="1"/>
              <p:nvPr/>
            </p:nvSpPr>
            <p:spPr>
              <a:xfrm>
                <a:off x="4684759" y="2295049"/>
                <a:ext cx="917481" cy="190690"/>
              </a:xfrm>
              <a:prstGeom prst="rect">
                <a:avLst/>
              </a:prstGeom>
              <a:noFill/>
              <a:ln>
                <a:noFill/>
              </a:ln>
            </p:spPr>
            <p:txBody>
              <a:bodyPr wrap="none" lIns="0" tIns="0" rIns="0" bIns="0" anchor="t" anchorCtr="0">
                <a:spAutoFit/>
              </a:bodyPr>
              <a:lstStyle/>
              <a:p>
                <a:pPr algn="ctr"/>
                <a:r>
                  <a:rPr lang="en-US" sz="980" dirty="0">
                    <a:solidFill>
                      <a:srgbClr val="5D6D7E"/>
                    </a:solidFill>
                    <a:latin typeface="Arial"/>
                    <a:ea typeface="Arial"/>
                    <a:cs typeface="Arial"/>
                  </a:rPr>
                  <a:t>New Regulator</a:t>
                </a:r>
              </a:p>
            </p:txBody>
          </p:sp>
        </p:grpSp>
        <p:grpSp>
          <p:nvGrpSpPr>
            <p:cNvPr id="34" name="Group 34"/>
            <p:cNvGrpSpPr/>
            <p:nvPr/>
          </p:nvGrpSpPr>
          <p:grpSpPr>
            <a:xfrm>
              <a:off x="6560426" y="1485900"/>
              <a:ext cx="785647" cy="999839"/>
              <a:chOff x="6560426" y="1485900"/>
              <a:chExt cx="785647" cy="999839"/>
            </a:xfrm>
          </p:grpSpPr>
          <p:sp>
            <p:nvSpPr>
              <p:cNvPr id="30" name="Ellipse 30"/>
              <p:cNvSpPr/>
              <p:nvPr/>
            </p:nvSpPr>
            <p:spPr>
              <a:xfrm>
                <a:off x="6838950" y="1485900"/>
                <a:ext cx="228600" cy="228600"/>
              </a:xfrm>
              <a:prstGeom prst="ellipse">
                <a:avLst/>
              </a:prstGeom>
              <a:solidFill>
                <a:srgbClr val="1A1A2E"/>
              </a:solidFill>
              <a:ln>
                <a:noFill/>
              </a:ln>
            </p:spPr>
          </p:sp>
          <p:sp>
            <p:nvSpPr>
              <p:cNvPr id="31" name="TextBox 31"/>
              <p:cNvSpPr txBox="1"/>
              <p:nvPr/>
            </p:nvSpPr>
            <p:spPr>
              <a:xfrm>
                <a:off x="6784656" y="1829752"/>
                <a:ext cx="337189" cy="205359"/>
              </a:xfrm>
              <a:prstGeom prst="rect">
                <a:avLst/>
              </a:prstGeom>
              <a:noFill/>
              <a:ln>
                <a:noFill/>
              </a:ln>
            </p:spPr>
            <p:txBody>
              <a:bodyPr wrap="none" lIns="0" tIns="0" rIns="0" bIns="0" anchor="t" anchorCtr="0">
                <a:spAutoFit/>
              </a:bodyPr>
              <a:lstStyle/>
              <a:p>
                <a:pPr algn="ctr"/>
                <a:r>
                  <a:rPr lang="en-US" sz="1050" b="1" dirty="0">
                    <a:solidFill>
                      <a:srgbClr val="1A1A2E"/>
                    </a:solidFill>
                    <a:latin typeface="Arial"/>
                    <a:ea typeface="Arial"/>
                    <a:cs typeface="Arial"/>
                  </a:rPr>
                  <a:t>2021</a:t>
                </a:r>
              </a:p>
            </p:txBody>
          </p:sp>
          <p:sp>
            <p:nvSpPr>
              <p:cNvPr id="32" name="TextBox 32"/>
              <p:cNvSpPr txBox="1"/>
              <p:nvPr/>
            </p:nvSpPr>
            <p:spPr>
              <a:xfrm>
                <a:off x="6612190" y="2161699"/>
                <a:ext cx="682121" cy="190690"/>
              </a:xfrm>
              <a:prstGeom prst="rect">
                <a:avLst/>
              </a:prstGeom>
              <a:noFill/>
              <a:ln>
                <a:noFill/>
              </a:ln>
            </p:spPr>
            <p:txBody>
              <a:bodyPr wrap="none" lIns="0" tIns="0" rIns="0" bIns="0" anchor="t" anchorCtr="0">
                <a:spAutoFit/>
              </a:bodyPr>
              <a:lstStyle/>
              <a:p>
                <a:pPr algn="ctr"/>
                <a:r>
                  <a:rPr lang="en-US" sz="980" dirty="0">
                    <a:solidFill>
                      <a:srgbClr val="5D6D7E"/>
                    </a:solidFill>
                    <a:latin typeface="Arial"/>
                    <a:ea typeface="Arial"/>
                    <a:cs typeface="Arial"/>
                  </a:rPr>
                  <a:t>Unit 3 Fuel</a:t>
                </a:r>
              </a:p>
            </p:txBody>
          </p:sp>
          <p:sp>
            <p:nvSpPr>
              <p:cNvPr id="33" name="TextBox 33"/>
              <p:cNvSpPr txBox="1"/>
              <p:nvPr/>
            </p:nvSpPr>
            <p:spPr>
              <a:xfrm>
                <a:off x="6560426" y="2295049"/>
                <a:ext cx="785647" cy="190690"/>
              </a:xfrm>
              <a:prstGeom prst="rect">
                <a:avLst/>
              </a:prstGeom>
              <a:noFill/>
              <a:ln>
                <a:noFill/>
              </a:ln>
            </p:spPr>
            <p:txBody>
              <a:bodyPr wrap="none" lIns="0" tIns="0" rIns="0" bIns="0" anchor="t" anchorCtr="0">
                <a:spAutoFit/>
              </a:bodyPr>
              <a:lstStyle/>
              <a:p>
                <a:pPr algn="ctr"/>
                <a:r>
                  <a:rPr lang="en-US" sz="980" dirty="0">
                    <a:solidFill>
                      <a:srgbClr val="5D6D7E"/>
                    </a:solidFill>
                    <a:latin typeface="Arial"/>
                    <a:ea typeface="Arial"/>
                    <a:cs typeface="Arial"/>
                  </a:rPr>
                  <a:t>Pool Cleared</a:t>
                </a:r>
              </a:p>
            </p:txBody>
          </p:sp>
        </p:grpSp>
        <p:grpSp>
          <p:nvGrpSpPr>
            <p:cNvPr id="40" name="Group 40"/>
            <p:cNvGrpSpPr/>
            <p:nvPr/>
          </p:nvGrpSpPr>
          <p:grpSpPr>
            <a:xfrm>
              <a:off x="7840766" y="1485900"/>
              <a:ext cx="930069" cy="999839"/>
              <a:chOff x="7840766" y="1485900"/>
              <a:chExt cx="930069" cy="999839"/>
            </a:xfrm>
          </p:grpSpPr>
          <p:sp>
            <p:nvSpPr>
              <p:cNvPr id="35" name="Ellipse 35"/>
              <p:cNvSpPr/>
              <p:nvPr/>
            </p:nvSpPr>
            <p:spPr>
              <a:xfrm>
                <a:off x="8191500" y="1485900"/>
                <a:ext cx="228600" cy="228600"/>
              </a:xfrm>
              <a:prstGeom prst="ellipse">
                <a:avLst/>
              </a:prstGeom>
              <a:solidFill>
                <a:srgbClr val="EDEDEA"/>
              </a:solidFill>
              <a:ln w="19050">
                <a:solidFill>
                  <a:srgbClr val="7F8C8D"/>
                </a:solidFill>
              </a:ln>
            </p:spPr>
          </p:sp>
          <p:sp>
            <p:nvSpPr>
              <p:cNvPr id="36" name="Ellipse 36"/>
              <p:cNvSpPr/>
              <p:nvPr/>
            </p:nvSpPr>
            <p:spPr>
              <a:xfrm>
                <a:off x="8258175" y="1552575"/>
                <a:ext cx="95250" cy="95250"/>
              </a:xfrm>
              <a:prstGeom prst="ellipse">
                <a:avLst/>
              </a:prstGeom>
              <a:solidFill>
                <a:srgbClr val="7F8C8D"/>
              </a:solidFill>
              <a:ln>
                <a:noFill/>
              </a:ln>
            </p:spPr>
          </p:sp>
          <p:sp>
            <p:nvSpPr>
              <p:cNvPr id="37" name="TextBox 37"/>
              <p:cNvSpPr txBox="1"/>
              <p:nvPr/>
            </p:nvSpPr>
            <p:spPr>
              <a:xfrm>
                <a:off x="8137206" y="1829752"/>
                <a:ext cx="337189" cy="205359"/>
              </a:xfrm>
              <a:prstGeom prst="rect">
                <a:avLst/>
              </a:prstGeom>
              <a:noFill/>
              <a:ln>
                <a:noFill/>
              </a:ln>
            </p:spPr>
            <p:txBody>
              <a:bodyPr wrap="none" lIns="0" tIns="0" rIns="0" bIns="0" anchor="t" anchorCtr="0">
                <a:spAutoFit/>
              </a:bodyPr>
              <a:lstStyle/>
              <a:p>
                <a:pPr algn="ctr"/>
                <a:r>
                  <a:rPr lang="en-US" sz="1050" b="1" dirty="0">
                    <a:solidFill>
                      <a:srgbClr val="7F8C8D"/>
                    </a:solidFill>
                    <a:latin typeface="Arial"/>
                    <a:ea typeface="Arial"/>
                    <a:cs typeface="Arial"/>
                  </a:rPr>
                  <a:t>2023</a:t>
                </a:r>
              </a:p>
            </p:txBody>
          </p:sp>
          <p:sp>
            <p:nvSpPr>
              <p:cNvPr id="38" name="TextBox 38"/>
              <p:cNvSpPr txBox="1"/>
              <p:nvPr/>
            </p:nvSpPr>
            <p:spPr>
              <a:xfrm>
                <a:off x="7931931" y="2161699"/>
                <a:ext cx="747738" cy="190690"/>
              </a:xfrm>
              <a:prstGeom prst="rect">
                <a:avLst/>
              </a:prstGeom>
              <a:noFill/>
              <a:ln>
                <a:noFill/>
              </a:ln>
            </p:spPr>
            <p:txBody>
              <a:bodyPr wrap="none" lIns="0" tIns="0" rIns="0" bIns="0" anchor="t" anchorCtr="0">
                <a:spAutoFit/>
              </a:bodyPr>
              <a:lstStyle/>
              <a:p>
                <a:pPr algn="ctr"/>
                <a:r>
                  <a:rPr lang="en-US" sz="980" dirty="0">
                    <a:solidFill>
                      <a:srgbClr val="95A5A6"/>
                    </a:solidFill>
                    <a:latin typeface="Arial"/>
                    <a:ea typeface="Arial"/>
                    <a:cs typeface="Arial"/>
                  </a:rPr>
                  <a:t>ALPS Water</a:t>
                </a:r>
              </a:p>
            </p:txBody>
          </p:sp>
          <p:sp>
            <p:nvSpPr>
              <p:cNvPr id="39" name="TextBox 39"/>
              <p:cNvSpPr txBox="1"/>
              <p:nvPr/>
            </p:nvSpPr>
            <p:spPr>
              <a:xfrm>
                <a:off x="7840766" y="2295049"/>
                <a:ext cx="930069" cy="190690"/>
              </a:xfrm>
              <a:prstGeom prst="rect">
                <a:avLst/>
              </a:prstGeom>
              <a:noFill/>
              <a:ln>
                <a:noFill/>
              </a:ln>
            </p:spPr>
            <p:txBody>
              <a:bodyPr wrap="none" lIns="0" tIns="0" rIns="0" bIns="0" anchor="t" anchorCtr="0">
                <a:spAutoFit/>
              </a:bodyPr>
              <a:lstStyle/>
              <a:p>
                <a:pPr algn="ctr"/>
                <a:r>
                  <a:rPr lang="en-US" sz="980" dirty="0">
                    <a:solidFill>
                      <a:srgbClr val="95A5A6"/>
                    </a:solidFill>
                    <a:latin typeface="Arial"/>
                    <a:ea typeface="Arial"/>
                    <a:cs typeface="Arial"/>
                  </a:rPr>
                  <a:t>Release Begins</a:t>
                </a:r>
              </a:p>
            </p:txBody>
          </p:sp>
        </p:grpSp>
        <p:grpSp>
          <p:nvGrpSpPr>
            <p:cNvPr id="47" name="Group 47"/>
            <p:cNvGrpSpPr/>
            <p:nvPr/>
          </p:nvGrpSpPr>
          <p:grpSpPr>
            <a:xfrm>
              <a:off x="10615458" y="1476375"/>
              <a:ext cx="867085" cy="1009364"/>
              <a:chOff x="10615458" y="1476375"/>
              <a:chExt cx="867085" cy="1009364"/>
            </a:xfrm>
          </p:grpSpPr>
          <p:sp>
            <p:nvSpPr>
              <p:cNvPr id="41" name="Arc 41"/>
              <p:cNvSpPr/>
              <p:nvPr/>
            </p:nvSpPr>
            <p:spPr>
              <a:xfrm>
                <a:off x="11049000" y="1476375"/>
                <a:ext cx="40515" cy="24817"/>
              </a:xfrm>
              <a:custGeom>
                <a:avLst/>
                <a:gdLst/>
                <a:ahLst/>
                <a:cxnLst/>
                <a:rect l="l" t="t" r="r" b="b"/>
                <a:pathLst>
                  <a:path w="40515" h="24817">
                    <a:moveTo>
                      <a:pt x="0" y="0"/>
                    </a:moveTo>
                    <a:lnTo>
                      <a:pt x="2580" y="27"/>
                    </a:lnTo>
                    <a:lnTo>
                      <a:pt x="5158" y="107"/>
                    </a:lnTo>
                    <a:lnTo>
                      <a:pt x="7734" y="242"/>
                    </a:lnTo>
                    <a:lnTo>
                      <a:pt x="10307" y="430"/>
                    </a:lnTo>
                    <a:lnTo>
                      <a:pt x="12875" y="671"/>
                    </a:lnTo>
                    <a:lnTo>
                      <a:pt x="15438" y="966"/>
                    </a:lnTo>
                    <a:lnTo>
                      <a:pt x="17994" y="1314"/>
                    </a:lnTo>
                    <a:lnTo>
                      <a:pt x="20542" y="1716"/>
                    </a:lnTo>
                    <a:lnTo>
                      <a:pt x="23081" y="2170"/>
                    </a:lnTo>
                    <a:lnTo>
                      <a:pt x="25611" y="2677"/>
                    </a:lnTo>
                    <a:lnTo>
                      <a:pt x="28129" y="3237"/>
                    </a:lnTo>
                    <a:lnTo>
                      <a:pt x="30635" y="3849"/>
                    </a:lnTo>
                    <a:lnTo>
                      <a:pt x="33127" y="4514"/>
                    </a:lnTo>
                    <a:lnTo>
                      <a:pt x="35606" y="5230"/>
                    </a:lnTo>
                    <a:lnTo>
                      <a:pt x="38069" y="5997"/>
                    </a:lnTo>
                    <a:lnTo>
                      <a:pt x="40515" y="6816"/>
                    </a:lnTo>
                    <a:lnTo>
                      <a:pt x="34282" y="24817"/>
                    </a:lnTo>
                    <a:lnTo>
                      <a:pt x="32212" y="24124"/>
                    </a:lnTo>
                    <a:lnTo>
                      <a:pt x="30128" y="23475"/>
                    </a:lnTo>
                    <a:lnTo>
                      <a:pt x="28031" y="22869"/>
                    </a:lnTo>
                    <a:lnTo>
                      <a:pt x="25922" y="22307"/>
                    </a:lnTo>
                    <a:lnTo>
                      <a:pt x="23801" y="21789"/>
                    </a:lnTo>
                    <a:lnTo>
                      <a:pt x="21671" y="21316"/>
                    </a:lnTo>
                    <a:lnTo>
                      <a:pt x="19530" y="20886"/>
                    </a:lnTo>
                    <a:lnTo>
                      <a:pt x="17382" y="20502"/>
                    </a:lnTo>
                    <a:lnTo>
                      <a:pt x="15226" y="20162"/>
                    </a:lnTo>
                    <a:lnTo>
                      <a:pt x="13063" y="19867"/>
                    </a:lnTo>
                    <a:lnTo>
                      <a:pt x="10894" y="19618"/>
                    </a:lnTo>
                    <a:lnTo>
                      <a:pt x="8721" y="19414"/>
                    </a:lnTo>
                    <a:lnTo>
                      <a:pt x="6544" y="19255"/>
                    </a:lnTo>
                    <a:lnTo>
                      <a:pt x="4364" y="19141"/>
                    </a:lnTo>
                    <a:lnTo>
                      <a:pt x="2183" y="19073"/>
                    </a:lnTo>
                    <a:lnTo>
                      <a:pt x="0" y="19050"/>
                    </a:lnTo>
                    <a:close/>
                  </a:path>
                </a:pathLst>
              </a:custGeom>
              <a:solidFill>
                <a:srgbClr val="BDC3C7"/>
              </a:solidFill>
              <a:ln>
                <a:noFill/>
              </a:ln>
            </p:spPr>
          </p:sp>
          <p:sp>
            <p:nvSpPr>
              <p:cNvPr id="42" name="Ellipse 42"/>
              <p:cNvSpPr/>
              <p:nvPr/>
            </p:nvSpPr>
            <p:spPr>
              <a:xfrm>
                <a:off x="11010900" y="1562100"/>
                <a:ext cx="76200" cy="76200"/>
              </a:xfrm>
              <a:prstGeom prst="ellipse">
                <a:avLst/>
              </a:prstGeom>
              <a:solidFill>
                <a:srgbClr val="BDC3C7"/>
              </a:solidFill>
              <a:ln>
                <a:noFill/>
              </a:ln>
            </p:spPr>
          </p:sp>
          <p:sp>
            <p:nvSpPr>
              <p:cNvPr id="43" name="TextBox 43"/>
              <p:cNvSpPr txBox="1"/>
              <p:nvPr/>
            </p:nvSpPr>
            <p:spPr>
              <a:xfrm>
                <a:off x="10839590" y="1829752"/>
                <a:ext cx="418819" cy="205359"/>
              </a:xfrm>
              <a:prstGeom prst="rect">
                <a:avLst/>
              </a:prstGeom>
              <a:noFill/>
              <a:ln>
                <a:noFill/>
              </a:ln>
            </p:spPr>
            <p:txBody>
              <a:bodyPr wrap="none" lIns="0" tIns="0" rIns="0" bIns="0" anchor="t" anchorCtr="0">
                <a:spAutoFit/>
              </a:bodyPr>
              <a:lstStyle/>
              <a:p>
                <a:pPr algn="ctr"/>
                <a:r>
                  <a:rPr lang="en-US" sz="1050" b="1" dirty="0">
                    <a:solidFill>
                      <a:srgbClr val="95A5A6"/>
                    </a:solidFill>
                    <a:latin typeface="Arial"/>
                    <a:ea typeface="Arial"/>
                    <a:cs typeface="Arial"/>
                  </a:rPr>
                  <a:t>2041–</a:t>
                </a:r>
              </a:p>
            </p:txBody>
          </p:sp>
          <p:sp>
            <p:nvSpPr>
              <p:cNvPr id="44" name="TextBox 44"/>
              <p:cNvSpPr txBox="1"/>
              <p:nvPr/>
            </p:nvSpPr>
            <p:spPr>
              <a:xfrm>
                <a:off x="10880406" y="1982152"/>
                <a:ext cx="337189" cy="205359"/>
              </a:xfrm>
              <a:prstGeom prst="rect">
                <a:avLst/>
              </a:prstGeom>
              <a:noFill/>
              <a:ln>
                <a:noFill/>
              </a:ln>
            </p:spPr>
            <p:txBody>
              <a:bodyPr wrap="none" lIns="0" tIns="0" rIns="0" bIns="0" anchor="t" anchorCtr="0">
                <a:spAutoFit/>
              </a:bodyPr>
              <a:lstStyle/>
              <a:p>
                <a:pPr algn="ctr"/>
                <a:r>
                  <a:rPr lang="en-US" sz="1050" b="1" dirty="0">
                    <a:solidFill>
                      <a:srgbClr val="95A5A6"/>
                    </a:solidFill>
                    <a:latin typeface="Arial"/>
                    <a:ea typeface="Arial"/>
                    <a:cs typeface="Arial"/>
                  </a:rPr>
                  <a:t>2051</a:t>
                </a:r>
              </a:p>
            </p:txBody>
          </p:sp>
          <p:sp>
            <p:nvSpPr>
              <p:cNvPr id="45" name="TextBox 45"/>
              <p:cNvSpPr txBox="1"/>
              <p:nvPr/>
            </p:nvSpPr>
            <p:spPr>
              <a:xfrm>
                <a:off x="10930902" y="2161699"/>
                <a:ext cx="236196" cy="190690"/>
              </a:xfrm>
              <a:prstGeom prst="rect">
                <a:avLst/>
              </a:prstGeom>
              <a:noFill/>
              <a:ln>
                <a:noFill/>
              </a:ln>
            </p:spPr>
            <p:txBody>
              <a:bodyPr wrap="none" lIns="0" tIns="0" rIns="0" bIns="0" anchor="t" anchorCtr="0">
                <a:spAutoFit/>
              </a:bodyPr>
              <a:lstStyle/>
              <a:p>
                <a:pPr algn="ctr"/>
                <a:r>
                  <a:rPr lang="en-US" sz="980" dirty="0">
                    <a:solidFill>
                      <a:srgbClr val="95A5A6"/>
                    </a:solidFill>
                    <a:latin typeface="Arial"/>
                    <a:ea typeface="Arial"/>
                    <a:cs typeface="Arial"/>
                  </a:rPr>
                  <a:t>Full</a:t>
                </a:r>
              </a:p>
            </p:txBody>
          </p:sp>
          <p:sp>
            <p:nvSpPr>
              <p:cNvPr id="46" name="TextBox 46"/>
              <p:cNvSpPr txBox="1"/>
              <p:nvPr/>
            </p:nvSpPr>
            <p:spPr>
              <a:xfrm>
                <a:off x="10615458" y="2295049"/>
                <a:ext cx="867085" cy="190690"/>
              </a:xfrm>
              <a:prstGeom prst="rect">
                <a:avLst/>
              </a:prstGeom>
              <a:noFill/>
              <a:ln>
                <a:noFill/>
              </a:ln>
            </p:spPr>
            <p:txBody>
              <a:bodyPr wrap="none" lIns="0" tIns="0" rIns="0" bIns="0" anchor="t" anchorCtr="0">
                <a:spAutoFit/>
              </a:bodyPr>
              <a:lstStyle/>
              <a:p>
                <a:pPr algn="ctr"/>
                <a:r>
                  <a:rPr lang="en-US" sz="980" dirty="0">
                    <a:solidFill>
                      <a:srgbClr val="95A5A6"/>
                    </a:solidFill>
                    <a:latin typeface="Arial"/>
                    <a:ea typeface="Arial"/>
                    <a:cs typeface="Arial"/>
                  </a:rPr>
                  <a:t>Decommission</a:t>
                </a:r>
              </a:p>
            </p:txBody>
          </p:sp>
        </p:grpSp>
      </p:grpSp>
      <p:sp>
        <p:nvSpPr>
          <p:cNvPr id="49" name="Line 49"/>
          <p:cNvSpPr/>
          <p:nvPr/>
        </p:nvSpPr>
        <p:spPr>
          <a:xfrm>
            <a:off x="7715250" y="1123950"/>
            <a:ext cx="9525" cy="5353050"/>
          </a:xfrm>
          <a:custGeom>
            <a:avLst/>
            <a:gdLst/>
            <a:ahLst/>
            <a:cxnLst/>
            <a:rect l="l" t="t" r="r" b="b"/>
            <a:pathLst>
              <a:path w="9525" h="5353050">
                <a:moveTo>
                  <a:pt x="0" y="0"/>
                </a:moveTo>
                <a:lnTo>
                  <a:pt x="0" y="5353050"/>
                </a:lnTo>
              </a:path>
            </a:pathLst>
          </a:custGeom>
          <a:noFill/>
          <a:ln w="9525">
            <a:solidFill>
              <a:srgbClr val="BDC3C7"/>
            </a:solidFill>
            <a:prstDash val="dash"/>
          </a:ln>
        </p:spPr>
      </p:sp>
      <p:grpSp>
        <p:nvGrpSpPr>
          <p:cNvPr id="79" name="Group 79"/>
          <p:cNvGrpSpPr/>
          <p:nvPr/>
        </p:nvGrpSpPr>
        <p:grpSpPr>
          <a:xfrm>
            <a:off x="565404" y="2680335"/>
            <a:ext cx="3882443" cy="2480310"/>
            <a:chOff x="565404" y="2680335"/>
            <a:chExt cx="3882443" cy="2480310"/>
          </a:xfrm>
        </p:grpSpPr>
        <p:sp>
          <p:nvSpPr>
            <p:cNvPr id="50" name="TextBox 50"/>
            <p:cNvSpPr txBox="1"/>
            <p:nvPr/>
          </p:nvSpPr>
          <p:spPr>
            <a:xfrm>
              <a:off x="565404" y="2680335"/>
              <a:ext cx="1411834" cy="234696"/>
            </a:xfrm>
            <a:prstGeom prst="rect">
              <a:avLst/>
            </a:prstGeom>
            <a:noFill/>
            <a:ln>
              <a:noFill/>
            </a:ln>
          </p:spPr>
          <p:txBody>
            <a:bodyPr wrap="none" lIns="0" tIns="0" rIns="0" bIns="0" anchor="t" anchorCtr="0">
              <a:spAutoFit/>
            </a:bodyPr>
            <a:lstStyle/>
            <a:p>
              <a:pPr algn="l"/>
              <a:r>
                <a:rPr lang="en-US" sz="1200" b="1" spc="150" dirty="0">
                  <a:solidFill>
                    <a:srgbClr val="7F8C8D"/>
                  </a:solidFill>
                  <a:latin typeface="Arial"/>
                  <a:ea typeface="Arial"/>
                  <a:cs typeface="Arial"/>
                </a:rPr>
                <a:t>HUMAN IMPACT</a:t>
              </a:r>
            </a:p>
          </p:txBody>
        </p:sp>
        <p:sp>
          <p:nvSpPr>
            <p:cNvPr id="51" name="Rectangle 51"/>
            <p:cNvSpPr/>
            <p:nvPr/>
          </p:nvSpPr>
          <p:spPr>
            <a:xfrm>
              <a:off x="571500" y="2857500"/>
              <a:ext cx="476250" cy="19050"/>
            </a:xfrm>
            <a:prstGeom prst="roundRect">
              <a:avLst>
                <a:gd name="adj" fmla="val 50000"/>
              </a:avLst>
            </a:prstGeom>
            <a:solidFill>
              <a:srgbClr val="C0392B"/>
            </a:solidFill>
            <a:ln>
              <a:noFill/>
            </a:ln>
          </p:spPr>
        </p:sp>
        <p:grpSp>
          <p:nvGrpSpPr>
            <p:cNvPr id="59" name="Group 59"/>
            <p:cNvGrpSpPr/>
            <p:nvPr/>
          </p:nvGrpSpPr>
          <p:grpSpPr>
            <a:xfrm>
              <a:off x="611981" y="2835592"/>
              <a:ext cx="3835866" cy="667703"/>
              <a:chOff x="611981" y="2835592"/>
              <a:chExt cx="3835866" cy="667703"/>
            </a:xfrm>
          </p:grpSpPr>
          <p:grpSp>
            <p:nvGrpSpPr>
              <p:cNvPr id="56" name="Group 56"/>
              <p:cNvGrpSpPr/>
              <p:nvPr/>
            </p:nvGrpSpPr>
            <p:grpSpPr>
              <a:xfrm>
                <a:off x="611981" y="3069431"/>
                <a:ext cx="242888" cy="242889"/>
                <a:chOff x="611981" y="3069431"/>
                <a:chExt cx="242888" cy="242889"/>
              </a:xfrm>
            </p:grpSpPr>
            <p:sp>
              <p:nvSpPr>
                <p:cNvPr id="52" name="Freeform 52"/>
                <p:cNvSpPr/>
                <p:nvPr/>
              </p:nvSpPr>
              <p:spPr>
                <a:xfrm>
                  <a:off x="638969" y="3069431"/>
                  <a:ext cx="107950" cy="107950"/>
                </a:xfrm>
                <a:custGeom>
                  <a:avLst/>
                  <a:gdLst/>
                  <a:ahLst/>
                  <a:cxnLst/>
                  <a:rect l="l" t="t" r="r" b="b"/>
                  <a:pathLst>
                    <a:path w="107950" h="107950">
                      <a:moveTo>
                        <a:pt x="0" y="53975"/>
                      </a:moveTo>
                      <a:cubicBezTo>
                        <a:pt x="0" y="83785"/>
                        <a:pt x="24165" y="107950"/>
                        <a:pt x="53975" y="107950"/>
                      </a:cubicBezTo>
                      <a:cubicBezTo>
                        <a:pt x="83785" y="107950"/>
                        <a:pt x="107950" y="83785"/>
                        <a:pt x="107950" y="53975"/>
                      </a:cubicBezTo>
                      <a:cubicBezTo>
                        <a:pt x="107950" y="24165"/>
                        <a:pt x="83785" y="0"/>
                        <a:pt x="53975" y="0"/>
                      </a:cubicBezTo>
                      <a:cubicBezTo>
                        <a:pt x="24165" y="0"/>
                        <a:pt x="0" y="24165"/>
                        <a:pt x="0" y="53975"/>
                      </a:cubicBezTo>
                    </a:path>
                  </a:pathLst>
                </a:custGeom>
                <a:noFill/>
                <a:ln w="19050">
                  <a:solidFill>
                    <a:srgbClr val="1A1A2E"/>
                  </a:solidFill>
                </a:ln>
              </p:spPr>
            </p:sp>
            <p:sp>
              <p:nvSpPr>
                <p:cNvPr id="53" name="Freeform 53"/>
                <p:cNvSpPr/>
                <p:nvPr/>
              </p:nvSpPr>
              <p:spPr>
                <a:xfrm>
                  <a:off x="611981" y="3231357"/>
                  <a:ext cx="161925" cy="80963"/>
                </a:xfrm>
                <a:custGeom>
                  <a:avLst/>
                  <a:gdLst/>
                  <a:ahLst/>
                  <a:cxnLst/>
                  <a:rect l="l" t="t" r="r" b="b"/>
                  <a:pathLst>
                    <a:path w="161925" h="80963">
                      <a:moveTo>
                        <a:pt x="0" y="80963"/>
                      </a:moveTo>
                      <a:lnTo>
                        <a:pt x="0" y="53975"/>
                      </a:lnTo>
                      <a:cubicBezTo>
                        <a:pt x="0" y="24165"/>
                        <a:pt x="24165" y="0"/>
                        <a:pt x="53975" y="0"/>
                      </a:cubicBezTo>
                      <a:lnTo>
                        <a:pt x="107950" y="0"/>
                      </a:lnTo>
                      <a:cubicBezTo>
                        <a:pt x="137760" y="0"/>
                        <a:pt x="161925" y="24165"/>
                        <a:pt x="161925" y="53975"/>
                      </a:cubicBezTo>
                      <a:lnTo>
                        <a:pt x="161925" y="80963"/>
                      </a:lnTo>
                    </a:path>
                  </a:pathLst>
                </a:custGeom>
                <a:noFill/>
                <a:ln w="19050">
                  <a:solidFill>
                    <a:srgbClr val="1A1A2E"/>
                  </a:solidFill>
                </a:ln>
              </p:spPr>
            </p:sp>
            <p:sp>
              <p:nvSpPr>
                <p:cNvPr id="54" name="Freeform 54"/>
                <p:cNvSpPr/>
                <p:nvPr/>
              </p:nvSpPr>
              <p:spPr>
                <a:xfrm>
                  <a:off x="787401" y="3071186"/>
                  <a:ext cx="40587" cy="104577"/>
                </a:xfrm>
                <a:custGeom>
                  <a:avLst/>
                  <a:gdLst/>
                  <a:ahLst/>
                  <a:cxnLst/>
                  <a:rect l="l" t="t" r="r" b="b"/>
                  <a:pathLst>
                    <a:path w="40587" h="104577">
                      <a:moveTo>
                        <a:pt x="0" y="0"/>
                      </a:moveTo>
                      <a:cubicBezTo>
                        <a:pt x="23883" y="6115"/>
                        <a:pt x="40587" y="27635"/>
                        <a:pt x="40587" y="52288"/>
                      </a:cubicBezTo>
                      <a:cubicBezTo>
                        <a:pt x="40587" y="76942"/>
                        <a:pt x="23883" y="98462"/>
                        <a:pt x="0" y="104577"/>
                      </a:cubicBezTo>
                    </a:path>
                  </a:pathLst>
                </a:custGeom>
                <a:noFill/>
                <a:ln w="19050">
                  <a:solidFill>
                    <a:srgbClr val="1A1A2E"/>
                  </a:solidFill>
                </a:ln>
              </p:spPr>
            </p:sp>
            <p:sp>
              <p:nvSpPr>
                <p:cNvPr id="55" name="Freeform 55"/>
                <p:cNvSpPr/>
                <p:nvPr/>
              </p:nvSpPr>
              <p:spPr>
                <a:xfrm>
                  <a:off x="814388" y="3233381"/>
                  <a:ext cx="40481" cy="78939"/>
                </a:xfrm>
                <a:custGeom>
                  <a:avLst/>
                  <a:gdLst/>
                  <a:ahLst/>
                  <a:cxnLst/>
                  <a:rect l="l" t="t" r="r" b="b"/>
                  <a:pathLst>
                    <a:path w="40481" h="78939">
                      <a:moveTo>
                        <a:pt x="40481" y="78939"/>
                      </a:moveTo>
                      <a:lnTo>
                        <a:pt x="40481" y="51951"/>
                      </a:lnTo>
                      <a:cubicBezTo>
                        <a:pt x="40340" y="27454"/>
                        <a:pt x="23720" y="6124"/>
                        <a:pt x="0" y="0"/>
                      </a:cubicBezTo>
                    </a:path>
                  </a:pathLst>
                </a:custGeom>
                <a:noFill/>
                <a:ln w="19050">
                  <a:solidFill>
                    <a:srgbClr val="1A1A2E"/>
                  </a:solidFill>
                </a:ln>
              </p:spPr>
            </p:sp>
          </p:grpSp>
          <p:sp>
            <p:nvSpPr>
              <p:cNvPr id="57" name="TextBox 57"/>
              <p:cNvSpPr txBox="1"/>
              <p:nvPr/>
            </p:nvSpPr>
            <p:spPr>
              <a:xfrm>
                <a:off x="976122" y="2835592"/>
                <a:ext cx="1827154" cy="557403"/>
              </a:xfrm>
              <a:prstGeom prst="rect">
                <a:avLst/>
              </a:prstGeom>
              <a:noFill/>
              <a:ln>
                <a:noFill/>
              </a:ln>
            </p:spPr>
            <p:txBody>
              <a:bodyPr wrap="none" lIns="0" tIns="0" rIns="0" bIns="0" anchor="t" anchorCtr="0">
                <a:spAutoFit/>
              </a:bodyPr>
              <a:lstStyle/>
              <a:p>
                <a:pPr algn="l"/>
                <a:r>
                  <a:rPr lang="en-US" sz="2850" b="1" spc="-75" dirty="0">
                    <a:solidFill>
                      <a:srgbClr val="1A1A2E"/>
                    </a:solidFill>
                    <a:latin typeface="Georgia"/>
                    <a:ea typeface="Georgia"/>
                    <a:cs typeface="Georgia"/>
                  </a:rPr>
                  <a:t>100,000+</a:t>
                </a:r>
              </a:p>
            </p:txBody>
          </p:sp>
          <p:sp>
            <p:nvSpPr>
              <p:cNvPr id="58" name="TextBox 58"/>
              <p:cNvSpPr txBox="1"/>
              <p:nvPr/>
            </p:nvSpPr>
            <p:spPr>
              <a:xfrm>
                <a:off x="982980" y="3209925"/>
                <a:ext cx="3464867" cy="293370"/>
              </a:xfrm>
              <a:prstGeom prst="rect">
                <a:avLst/>
              </a:prstGeom>
              <a:noFill/>
              <a:ln>
                <a:noFill/>
              </a:ln>
            </p:spPr>
            <p:txBody>
              <a:bodyPr wrap="none" lIns="0" tIns="0" rIns="0" bIns="0" anchor="t" anchorCtr="0">
                <a:spAutoFit/>
              </a:bodyPr>
              <a:lstStyle/>
              <a:p>
                <a:pPr algn="l"/>
                <a:r>
                  <a:rPr lang="en-US" sz="1500" dirty="0">
                    <a:solidFill>
                      <a:srgbClr val="5D6D7E"/>
                    </a:solidFill>
                    <a:latin typeface="Arial"/>
                    <a:ea typeface="Arial"/>
                    <a:cs typeface="Arial"/>
                  </a:rPr>
                  <a:t>People evacuated from their homes</a:t>
                </a:r>
              </a:p>
            </p:txBody>
          </p:sp>
        </p:grpSp>
        <p:grpSp>
          <p:nvGrpSpPr>
            <p:cNvPr id="66" name="Group 66"/>
            <p:cNvGrpSpPr/>
            <p:nvPr/>
          </p:nvGrpSpPr>
          <p:grpSpPr>
            <a:xfrm>
              <a:off x="597339" y="3388042"/>
              <a:ext cx="3648409" cy="667703"/>
              <a:chOff x="597339" y="3388042"/>
              <a:chExt cx="3648409" cy="667703"/>
            </a:xfrm>
          </p:grpSpPr>
          <p:grpSp>
            <p:nvGrpSpPr>
              <p:cNvPr id="63" name="Group 63"/>
              <p:cNvGrpSpPr/>
              <p:nvPr/>
            </p:nvGrpSpPr>
            <p:grpSpPr>
              <a:xfrm>
                <a:off x="597339" y="3617398"/>
                <a:ext cx="272162" cy="233823"/>
                <a:chOff x="597339" y="3617398"/>
                <a:chExt cx="272162" cy="233823"/>
              </a:xfrm>
            </p:grpSpPr>
            <p:sp>
              <p:nvSpPr>
                <p:cNvPr id="60" name="Freeform 60"/>
                <p:cNvSpPr/>
                <p:nvPr/>
              </p:nvSpPr>
              <p:spPr>
                <a:xfrm>
                  <a:off x="733425" y="3702844"/>
                  <a:ext cx="9525" cy="53975"/>
                </a:xfrm>
                <a:custGeom>
                  <a:avLst/>
                  <a:gdLst/>
                  <a:ahLst/>
                  <a:cxnLst/>
                  <a:rect l="l" t="t" r="r" b="b"/>
                  <a:pathLst>
                    <a:path w="9525" h="53975">
                      <a:moveTo>
                        <a:pt x="0" y="0"/>
                      </a:moveTo>
                      <a:lnTo>
                        <a:pt x="0" y="53975"/>
                      </a:lnTo>
                    </a:path>
                  </a:pathLst>
                </a:custGeom>
                <a:noFill/>
                <a:ln w="19050">
                  <a:solidFill>
                    <a:srgbClr val="C0392B"/>
                  </a:solidFill>
                </a:ln>
              </p:spPr>
            </p:sp>
            <p:sp>
              <p:nvSpPr>
                <p:cNvPr id="61" name="Freeform 61"/>
                <p:cNvSpPr/>
                <p:nvPr/>
              </p:nvSpPr>
              <p:spPr>
                <a:xfrm>
                  <a:off x="597339" y="3617398"/>
                  <a:ext cx="272162" cy="233823"/>
                </a:xfrm>
                <a:custGeom>
                  <a:avLst/>
                  <a:gdLst/>
                  <a:ahLst/>
                  <a:cxnLst/>
                  <a:rect l="l" t="t" r="r" b="b"/>
                  <a:pathLst>
                    <a:path w="272162" h="233823">
                      <a:moveTo>
                        <a:pt x="113997" y="12458"/>
                      </a:moveTo>
                      <a:lnTo>
                        <a:pt x="4616" y="195083"/>
                      </a:lnTo>
                      <a:cubicBezTo>
                        <a:pt x="28" y="203029"/>
                        <a:pt x="0" y="212812"/>
                        <a:pt x="4543" y="220785"/>
                      </a:cubicBezTo>
                      <a:cubicBezTo>
                        <a:pt x="9086" y="228757"/>
                        <a:pt x="17517" y="233720"/>
                        <a:pt x="26692" y="233823"/>
                      </a:cubicBezTo>
                      <a:lnTo>
                        <a:pt x="245480" y="233823"/>
                      </a:lnTo>
                      <a:cubicBezTo>
                        <a:pt x="254651" y="233717"/>
                        <a:pt x="263078" y="228756"/>
                        <a:pt x="267620" y="220788"/>
                      </a:cubicBezTo>
                      <a:cubicBezTo>
                        <a:pt x="272162" y="212820"/>
                        <a:pt x="272138" y="203041"/>
                        <a:pt x="267556" y="195096"/>
                      </a:cubicBezTo>
                      <a:lnTo>
                        <a:pt x="158176" y="12444"/>
                      </a:lnTo>
                      <a:cubicBezTo>
                        <a:pt x="153495" y="4719"/>
                        <a:pt x="145119" y="0"/>
                        <a:pt x="136086" y="0"/>
                      </a:cubicBezTo>
                      <a:cubicBezTo>
                        <a:pt x="127054" y="0"/>
                        <a:pt x="118677" y="4719"/>
                        <a:pt x="113997" y="12444"/>
                      </a:cubicBezTo>
                    </a:path>
                  </a:pathLst>
                </a:custGeom>
                <a:noFill/>
                <a:ln w="19050">
                  <a:solidFill>
                    <a:srgbClr val="C0392B"/>
                  </a:solidFill>
                </a:ln>
              </p:spPr>
            </p:sp>
            <p:sp>
              <p:nvSpPr>
                <p:cNvPr id="62" name="Freeform 62"/>
                <p:cNvSpPr/>
                <p:nvPr/>
              </p:nvSpPr>
              <p:spPr>
                <a:xfrm>
                  <a:off x="733425" y="3797301"/>
                  <a:ext cx="9525" cy="9525"/>
                </a:xfrm>
                <a:custGeom>
                  <a:avLst/>
                  <a:gdLst/>
                  <a:ahLst/>
                  <a:cxnLst/>
                  <a:rect l="l" t="t" r="r" b="b"/>
                  <a:pathLst>
                    <a:path w="9525" h="9525">
                      <a:moveTo>
                        <a:pt x="0" y="0"/>
                      </a:moveTo>
                      <a:lnTo>
                        <a:pt x="135" y="0"/>
                      </a:lnTo>
                    </a:path>
                  </a:pathLst>
                </a:custGeom>
                <a:noFill/>
                <a:ln w="19050">
                  <a:solidFill>
                    <a:srgbClr val="C0392B"/>
                  </a:solidFill>
                </a:ln>
              </p:spPr>
            </p:sp>
          </p:grpSp>
          <p:sp>
            <p:nvSpPr>
              <p:cNvPr id="64" name="TextBox 64"/>
              <p:cNvSpPr txBox="1"/>
              <p:nvPr/>
            </p:nvSpPr>
            <p:spPr>
              <a:xfrm>
                <a:off x="976122" y="3388042"/>
                <a:ext cx="1156830" cy="557403"/>
              </a:xfrm>
              <a:prstGeom prst="rect">
                <a:avLst/>
              </a:prstGeom>
              <a:noFill/>
              <a:ln>
                <a:noFill/>
              </a:ln>
            </p:spPr>
            <p:txBody>
              <a:bodyPr wrap="none" lIns="0" tIns="0" rIns="0" bIns="0" anchor="t" anchorCtr="0">
                <a:spAutoFit/>
              </a:bodyPr>
              <a:lstStyle/>
              <a:p>
                <a:pPr algn="l"/>
                <a:r>
                  <a:rPr lang="en-US" sz="2850" b="1" spc="-75" dirty="0">
                    <a:solidFill>
                      <a:srgbClr val="C0392B"/>
                    </a:solidFill>
                    <a:latin typeface="Georgia"/>
                    <a:ea typeface="Georgia"/>
                    <a:cs typeface="Georgia"/>
                  </a:rPr>
                  <a:t>2,313</a:t>
                </a:r>
              </a:p>
            </p:txBody>
          </p:sp>
          <p:sp>
            <p:nvSpPr>
              <p:cNvPr id="65" name="TextBox 65"/>
              <p:cNvSpPr txBox="1"/>
              <p:nvPr/>
            </p:nvSpPr>
            <p:spPr>
              <a:xfrm>
                <a:off x="982980" y="3762375"/>
                <a:ext cx="3262768" cy="293370"/>
              </a:xfrm>
              <a:prstGeom prst="rect">
                <a:avLst/>
              </a:prstGeom>
              <a:noFill/>
              <a:ln>
                <a:noFill/>
              </a:ln>
            </p:spPr>
            <p:txBody>
              <a:bodyPr wrap="none" lIns="0" tIns="0" rIns="0" bIns="0" anchor="t" anchorCtr="0">
                <a:spAutoFit/>
              </a:bodyPr>
              <a:lstStyle/>
              <a:p>
                <a:pPr algn="l"/>
                <a:r>
                  <a:rPr lang="en-US" sz="1500" dirty="0">
                    <a:solidFill>
                      <a:srgbClr val="5D6D7E"/>
                    </a:solidFill>
                    <a:latin typeface="Arial"/>
                    <a:ea typeface="Arial"/>
                    <a:cs typeface="Arial"/>
                  </a:rPr>
                  <a:t>Disaster-related evacuee deaths</a:t>
                </a:r>
              </a:p>
            </p:txBody>
          </p:sp>
        </p:grpSp>
        <p:grpSp>
          <p:nvGrpSpPr>
            <p:cNvPr id="74" name="Group 74"/>
            <p:cNvGrpSpPr/>
            <p:nvPr/>
          </p:nvGrpSpPr>
          <p:grpSpPr>
            <a:xfrm>
              <a:off x="611981" y="3940492"/>
              <a:ext cx="3462010" cy="667703"/>
              <a:chOff x="611981" y="3940492"/>
              <a:chExt cx="3462010" cy="667703"/>
            </a:xfrm>
          </p:grpSpPr>
          <p:grpSp>
            <p:nvGrpSpPr>
              <p:cNvPr id="70" name="Group 70"/>
              <p:cNvGrpSpPr/>
              <p:nvPr/>
            </p:nvGrpSpPr>
            <p:grpSpPr>
              <a:xfrm>
                <a:off x="611981" y="4168965"/>
                <a:ext cx="242888" cy="231927"/>
                <a:chOff x="611981" y="4168965"/>
                <a:chExt cx="242888" cy="231927"/>
              </a:xfrm>
            </p:grpSpPr>
            <p:sp>
              <p:nvSpPr>
                <p:cNvPr id="67" name="Freeform 67"/>
                <p:cNvSpPr/>
                <p:nvPr/>
              </p:nvSpPr>
              <p:spPr>
                <a:xfrm>
                  <a:off x="753666" y="4295775"/>
                  <a:ext cx="101203" cy="105117"/>
                </a:xfrm>
                <a:custGeom>
                  <a:avLst/>
                  <a:gdLst/>
                  <a:ahLst/>
                  <a:cxnLst/>
                  <a:rect l="l" t="t" r="r" b="b"/>
                  <a:pathLst>
                    <a:path w="101203" h="105117">
                      <a:moveTo>
                        <a:pt x="0" y="35084"/>
                      </a:moveTo>
                      <a:lnTo>
                        <a:pt x="40481" y="105117"/>
                      </a:lnTo>
                      <a:cubicBezTo>
                        <a:pt x="78039" y="83433"/>
                        <a:pt x="101183" y="43367"/>
                        <a:pt x="101203" y="0"/>
                      </a:cubicBezTo>
                      <a:lnTo>
                        <a:pt x="20241" y="0"/>
                      </a:lnTo>
                      <a:cubicBezTo>
                        <a:pt x="20250" y="14472"/>
                        <a:pt x="12533" y="27848"/>
                        <a:pt x="0" y="35084"/>
                      </a:cubicBezTo>
                    </a:path>
                  </a:pathLst>
                </a:custGeom>
                <a:noFill/>
                <a:ln w="19050">
                  <a:solidFill>
                    <a:srgbClr val="7F8C8D"/>
                  </a:solidFill>
                </a:ln>
              </p:spPr>
            </p:sp>
            <p:sp>
              <p:nvSpPr>
                <p:cNvPr id="68" name="Freeform 68"/>
                <p:cNvSpPr/>
                <p:nvPr/>
              </p:nvSpPr>
              <p:spPr>
                <a:xfrm>
                  <a:off x="672703" y="4168965"/>
                  <a:ext cx="121444" cy="91727"/>
                </a:xfrm>
                <a:custGeom>
                  <a:avLst/>
                  <a:gdLst/>
                  <a:ahLst/>
                  <a:cxnLst/>
                  <a:rect l="l" t="t" r="r" b="b"/>
                  <a:pathLst>
                    <a:path w="121444" h="91727">
                      <a:moveTo>
                        <a:pt x="80963" y="91727"/>
                      </a:moveTo>
                      <a:lnTo>
                        <a:pt x="121444" y="21694"/>
                      </a:lnTo>
                      <a:cubicBezTo>
                        <a:pt x="83869" y="0"/>
                        <a:pt x="37575" y="0"/>
                        <a:pt x="0" y="21694"/>
                      </a:cubicBezTo>
                      <a:lnTo>
                        <a:pt x="40481" y="91727"/>
                      </a:lnTo>
                      <a:cubicBezTo>
                        <a:pt x="53006" y="84495"/>
                        <a:pt x="68438" y="84495"/>
                        <a:pt x="80963" y="91727"/>
                      </a:cubicBezTo>
                    </a:path>
                  </a:pathLst>
                </a:custGeom>
                <a:noFill/>
                <a:ln w="19050">
                  <a:solidFill>
                    <a:srgbClr val="7F8C8D"/>
                  </a:solidFill>
                </a:ln>
              </p:spPr>
            </p:sp>
            <p:sp>
              <p:nvSpPr>
                <p:cNvPr id="69" name="Freeform 69"/>
                <p:cNvSpPr/>
                <p:nvPr/>
              </p:nvSpPr>
              <p:spPr>
                <a:xfrm>
                  <a:off x="611981" y="4295775"/>
                  <a:ext cx="101203" cy="105117"/>
                </a:xfrm>
                <a:custGeom>
                  <a:avLst/>
                  <a:gdLst/>
                  <a:ahLst/>
                  <a:cxnLst/>
                  <a:rect l="l" t="t" r="r" b="b"/>
                  <a:pathLst>
                    <a:path w="101203" h="105117">
                      <a:moveTo>
                        <a:pt x="101203" y="35084"/>
                      </a:moveTo>
                      <a:lnTo>
                        <a:pt x="60722" y="105117"/>
                      </a:lnTo>
                      <a:cubicBezTo>
                        <a:pt x="23165" y="83433"/>
                        <a:pt x="20" y="43367"/>
                        <a:pt x="0" y="0"/>
                      </a:cubicBezTo>
                      <a:lnTo>
                        <a:pt x="80963" y="0"/>
                      </a:lnTo>
                      <a:cubicBezTo>
                        <a:pt x="80953" y="14472"/>
                        <a:pt x="88670" y="27848"/>
                        <a:pt x="101203" y="35084"/>
                      </a:cubicBezTo>
                    </a:path>
                  </a:pathLst>
                </a:custGeom>
                <a:noFill/>
                <a:ln w="19050">
                  <a:solidFill>
                    <a:srgbClr val="7F8C8D"/>
                  </a:solidFill>
                </a:ln>
              </p:spPr>
            </p:sp>
          </p:grpSp>
          <p:sp>
            <p:nvSpPr>
              <p:cNvPr id="71" name="TextBox 71"/>
              <p:cNvSpPr txBox="1"/>
              <p:nvPr/>
            </p:nvSpPr>
            <p:spPr>
              <a:xfrm>
                <a:off x="976122" y="3940492"/>
                <a:ext cx="263065" cy="557403"/>
              </a:xfrm>
              <a:prstGeom prst="rect">
                <a:avLst/>
              </a:prstGeom>
              <a:noFill/>
              <a:ln>
                <a:noFill/>
              </a:ln>
            </p:spPr>
            <p:txBody>
              <a:bodyPr wrap="none" lIns="0" tIns="0" rIns="0" bIns="0" anchor="t" anchorCtr="0">
                <a:spAutoFit/>
              </a:bodyPr>
              <a:lstStyle/>
              <a:p>
                <a:pPr algn="l"/>
                <a:r>
                  <a:rPr lang="en-US" sz="2850" b="1" dirty="0">
                    <a:solidFill>
                      <a:srgbClr val="1A1A2E"/>
                    </a:solidFill>
                    <a:latin typeface="Georgia"/>
                    <a:ea typeface="Georgia"/>
                    <a:cs typeface="Georgia"/>
                  </a:rPr>
                  <a:t>0</a:t>
                </a:r>
              </a:p>
            </p:txBody>
          </p:sp>
          <p:sp>
            <p:nvSpPr>
              <p:cNvPr id="72" name="TextBox 72"/>
              <p:cNvSpPr txBox="1"/>
              <p:nvPr/>
            </p:nvSpPr>
            <p:spPr>
              <a:xfrm>
                <a:off x="1322832" y="4021455"/>
                <a:ext cx="954253" cy="410718"/>
              </a:xfrm>
              <a:prstGeom prst="rect">
                <a:avLst/>
              </a:prstGeom>
              <a:noFill/>
              <a:ln>
                <a:noFill/>
              </a:ln>
            </p:spPr>
            <p:txBody>
              <a:bodyPr wrap="none" lIns="0" tIns="0" rIns="0" bIns="0" anchor="t" anchorCtr="0">
                <a:spAutoFit/>
              </a:bodyPr>
              <a:lstStyle/>
              <a:p>
                <a:pPr algn="l"/>
                <a:r>
                  <a:rPr lang="en-US" sz="2100" dirty="0">
                    <a:solidFill>
                      <a:srgbClr val="7F8C8D"/>
                    </a:solidFill>
                    <a:latin typeface="Arial"/>
                    <a:ea typeface="Arial"/>
                    <a:cs typeface="Arial"/>
                  </a:rPr>
                  <a:t>deaths</a:t>
                </a:r>
              </a:p>
            </p:txBody>
          </p:sp>
          <p:sp>
            <p:nvSpPr>
              <p:cNvPr id="73" name="TextBox 73"/>
              <p:cNvSpPr txBox="1"/>
              <p:nvPr/>
            </p:nvSpPr>
            <p:spPr>
              <a:xfrm>
                <a:off x="982980" y="4314825"/>
                <a:ext cx="3091011" cy="293370"/>
              </a:xfrm>
              <a:prstGeom prst="rect">
                <a:avLst/>
              </a:prstGeom>
              <a:noFill/>
              <a:ln>
                <a:noFill/>
              </a:ln>
            </p:spPr>
            <p:txBody>
              <a:bodyPr wrap="none" lIns="0" tIns="0" rIns="0" bIns="0" anchor="t" anchorCtr="0">
                <a:spAutoFit/>
              </a:bodyPr>
              <a:lstStyle/>
              <a:p>
                <a:pPr algn="l"/>
                <a:r>
                  <a:rPr lang="en-US" sz="1500" dirty="0">
                    <a:solidFill>
                      <a:srgbClr val="5D6D7E"/>
                    </a:solidFill>
                    <a:latin typeface="Arial"/>
                    <a:ea typeface="Arial"/>
                    <a:cs typeface="Arial"/>
                  </a:rPr>
                  <a:t>From direct radiation exposure</a:t>
                </a:r>
              </a:p>
            </p:txBody>
          </p:sp>
        </p:grpSp>
        <p:grpSp>
          <p:nvGrpSpPr>
            <p:cNvPr id="78" name="Group 78"/>
            <p:cNvGrpSpPr/>
            <p:nvPr/>
          </p:nvGrpSpPr>
          <p:grpSpPr>
            <a:xfrm>
              <a:off x="628714" y="4492942"/>
              <a:ext cx="3809016" cy="667703"/>
              <a:chOff x="628714" y="4492942"/>
              <a:chExt cx="3809016" cy="667703"/>
            </a:xfrm>
          </p:grpSpPr>
          <p:sp>
            <p:nvSpPr>
              <p:cNvPr id="75" name="Freeform 75"/>
              <p:cNvSpPr/>
              <p:nvPr/>
            </p:nvSpPr>
            <p:spPr>
              <a:xfrm>
                <a:off x="628714" y="4724272"/>
                <a:ext cx="209423" cy="252523"/>
              </a:xfrm>
              <a:custGeom>
                <a:avLst/>
                <a:gdLst/>
                <a:ahLst/>
                <a:cxnLst/>
                <a:rect l="l" t="t" r="r" b="b"/>
                <a:pathLst>
                  <a:path w="209423" h="252523">
                    <a:moveTo>
                      <a:pt x="44017" y="224118"/>
                    </a:moveTo>
                    <a:cubicBezTo>
                      <a:pt x="79128" y="252523"/>
                      <a:pt x="130309" y="252523"/>
                      <a:pt x="165407" y="224118"/>
                    </a:cubicBezTo>
                    <a:cubicBezTo>
                      <a:pt x="200518" y="195714"/>
                      <a:pt x="209423" y="147096"/>
                      <a:pt x="186538" y="108800"/>
                    </a:cubicBezTo>
                    <a:lnTo>
                      <a:pt x="120553" y="10836"/>
                    </a:lnTo>
                    <a:cubicBezTo>
                      <a:pt x="114886" y="2402"/>
                      <a:pt x="103187" y="0"/>
                      <a:pt x="94429" y="5478"/>
                    </a:cubicBezTo>
                    <a:cubicBezTo>
                      <a:pt x="92231" y="6858"/>
                      <a:pt x="90347" y="8683"/>
                      <a:pt x="88897" y="10836"/>
                    </a:cubicBezTo>
                    <a:lnTo>
                      <a:pt x="22872" y="108800"/>
                    </a:lnTo>
                    <a:cubicBezTo>
                      <a:pt x="0" y="147096"/>
                      <a:pt x="8906" y="195714"/>
                      <a:pt x="44017" y="224118"/>
                    </a:cubicBezTo>
                  </a:path>
                </a:pathLst>
              </a:custGeom>
              <a:noFill/>
              <a:ln w="19050">
                <a:solidFill>
                  <a:srgbClr val="457B9D"/>
                </a:solidFill>
              </a:ln>
            </p:spPr>
          </p:sp>
          <p:sp>
            <p:nvSpPr>
              <p:cNvPr id="76" name="TextBox 76"/>
              <p:cNvSpPr txBox="1"/>
              <p:nvPr/>
            </p:nvSpPr>
            <p:spPr>
              <a:xfrm>
                <a:off x="976122" y="4492942"/>
                <a:ext cx="1501891" cy="557403"/>
              </a:xfrm>
              <a:prstGeom prst="rect">
                <a:avLst/>
              </a:prstGeom>
              <a:noFill/>
              <a:ln>
                <a:noFill/>
              </a:ln>
            </p:spPr>
            <p:txBody>
              <a:bodyPr wrap="none" lIns="0" tIns="0" rIns="0" bIns="0" anchor="t" anchorCtr="0">
                <a:spAutoFit/>
              </a:bodyPr>
              <a:lstStyle/>
              <a:p>
                <a:pPr algn="l"/>
                <a:r>
                  <a:rPr lang="en-US" sz="2850" b="1" spc="-75" dirty="0">
                    <a:solidFill>
                      <a:srgbClr val="1A1A2E"/>
                    </a:solidFill>
                    <a:latin typeface="Georgia"/>
                    <a:ea typeface="Georgia"/>
                    <a:cs typeface="Georgia"/>
                  </a:rPr>
                  <a:t>1.25M</a:t>
                </a:r>
              </a:p>
            </p:txBody>
          </p:sp>
          <p:sp>
            <p:nvSpPr>
              <p:cNvPr id="77" name="TextBox 77"/>
              <p:cNvSpPr txBox="1"/>
              <p:nvPr/>
            </p:nvSpPr>
            <p:spPr>
              <a:xfrm>
                <a:off x="982980" y="4867275"/>
                <a:ext cx="3454750" cy="293370"/>
              </a:xfrm>
              <a:prstGeom prst="rect">
                <a:avLst/>
              </a:prstGeom>
              <a:noFill/>
              <a:ln>
                <a:noFill/>
              </a:ln>
            </p:spPr>
            <p:txBody>
              <a:bodyPr wrap="none" lIns="0" tIns="0" rIns="0" bIns="0" anchor="t" anchorCtr="0">
                <a:spAutoFit/>
              </a:bodyPr>
              <a:lstStyle/>
              <a:p>
                <a:pPr algn="l"/>
                <a:r>
                  <a:rPr lang="en-US" sz="1500" dirty="0">
                    <a:solidFill>
                      <a:srgbClr val="5D6D7E"/>
                    </a:solidFill>
                    <a:latin typeface="Arial"/>
                    <a:ea typeface="Arial"/>
                    <a:cs typeface="Arial"/>
                  </a:rPr>
                  <a:t>Tonnes contaminated water stored</a:t>
                </a:r>
              </a:p>
            </p:txBody>
          </p:sp>
        </p:grpSp>
      </p:grpSp>
      <p:grpSp>
        <p:nvGrpSpPr>
          <p:cNvPr id="91" name="Group 91"/>
          <p:cNvGrpSpPr/>
          <p:nvPr/>
        </p:nvGrpSpPr>
        <p:grpSpPr>
          <a:xfrm>
            <a:off x="565404" y="5356860"/>
            <a:ext cx="5751302" cy="1089660"/>
            <a:chOff x="565404" y="5356860"/>
            <a:chExt cx="5751302" cy="1089660"/>
          </a:xfrm>
        </p:grpSpPr>
        <p:sp>
          <p:nvSpPr>
            <p:cNvPr id="80" name="TextBox 80"/>
            <p:cNvSpPr txBox="1"/>
            <p:nvPr/>
          </p:nvSpPr>
          <p:spPr>
            <a:xfrm>
              <a:off x="565404" y="5356860"/>
              <a:ext cx="1540703" cy="234696"/>
            </a:xfrm>
            <a:prstGeom prst="rect">
              <a:avLst/>
            </a:prstGeom>
            <a:noFill/>
            <a:ln>
              <a:noFill/>
            </a:ln>
          </p:spPr>
          <p:txBody>
            <a:bodyPr wrap="none" lIns="0" tIns="0" rIns="0" bIns="0" anchor="t" anchorCtr="0">
              <a:spAutoFit/>
            </a:bodyPr>
            <a:lstStyle/>
            <a:p>
              <a:pPr algn="l"/>
              <a:r>
                <a:rPr lang="en-US" sz="1200" b="1" spc="150" dirty="0">
                  <a:solidFill>
                    <a:srgbClr val="7F8C8D"/>
                  </a:solidFill>
                  <a:latin typeface="Arial"/>
                  <a:ea typeface="Arial"/>
                  <a:cs typeface="Arial"/>
                </a:rPr>
                <a:t>GLOBAL LEGACY</a:t>
              </a:r>
            </a:p>
          </p:txBody>
        </p:sp>
        <p:sp>
          <p:nvSpPr>
            <p:cNvPr id="81" name="Rectangle 81"/>
            <p:cNvSpPr/>
            <p:nvPr/>
          </p:nvSpPr>
          <p:spPr>
            <a:xfrm>
              <a:off x="571500" y="5534025"/>
              <a:ext cx="476250" cy="19050"/>
            </a:xfrm>
            <a:prstGeom prst="roundRect">
              <a:avLst>
                <a:gd name="adj" fmla="val 50000"/>
              </a:avLst>
            </a:prstGeom>
            <a:solidFill>
              <a:srgbClr val="1A1A2E"/>
            </a:solidFill>
            <a:ln>
              <a:noFill/>
            </a:ln>
          </p:spPr>
        </p:sp>
        <p:grpSp>
          <p:nvGrpSpPr>
            <p:cNvPr id="87" name="Group 87"/>
            <p:cNvGrpSpPr/>
            <p:nvPr/>
          </p:nvGrpSpPr>
          <p:grpSpPr>
            <a:xfrm>
              <a:off x="604838" y="5710238"/>
              <a:ext cx="200026" cy="200026"/>
              <a:chOff x="604838" y="5710238"/>
              <a:chExt cx="200026" cy="200026"/>
            </a:xfrm>
          </p:grpSpPr>
          <p:sp>
            <p:nvSpPr>
              <p:cNvPr id="82" name="Freeform 82"/>
              <p:cNvSpPr/>
              <p:nvPr/>
            </p:nvSpPr>
            <p:spPr>
              <a:xfrm>
                <a:off x="604838" y="5710238"/>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19050">
                <a:solidFill>
                  <a:srgbClr val="1A1A2E"/>
                </a:solidFill>
              </a:ln>
            </p:spPr>
          </p:sp>
          <p:sp>
            <p:nvSpPr>
              <p:cNvPr id="83" name="Freeform 83"/>
              <p:cNvSpPr/>
              <p:nvPr/>
            </p:nvSpPr>
            <p:spPr>
              <a:xfrm>
                <a:off x="611505" y="5776913"/>
                <a:ext cx="186691" cy="9525"/>
              </a:xfrm>
              <a:custGeom>
                <a:avLst/>
                <a:gdLst/>
                <a:ahLst/>
                <a:cxnLst/>
                <a:rect l="l" t="t" r="r" b="b"/>
                <a:pathLst>
                  <a:path w="186691" h="9525">
                    <a:moveTo>
                      <a:pt x="0" y="0"/>
                    </a:moveTo>
                    <a:lnTo>
                      <a:pt x="186691" y="0"/>
                    </a:lnTo>
                  </a:path>
                </a:pathLst>
              </a:custGeom>
              <a:noFill/>
              <a:ln w="19050">
                <a:solidFill>
                  <a:srgbClr val="1A1A2E"/>
                </a:solidFill>
              </a:ln>
            </p:spPr>
          </p:sp>
          <p:sp>
            <p:nvSpPr>
              <p:cNvPr id="84" name="Freeform 84"/>
              <p:cNvSpPr/>
              <p:nvPr/>
            </p:nvSpPr>
            <p:spPr>
              <a:xfrm>
                <a:off x="611505" y="5843588"/>
                <a:ext cx="186691" cy="9525"/>
              </a:xfrm>
              <a:custGeom>
                <a:avLst/>
                <a:gdLst/>
                <a:ahLst/>
                <a:cxnLst/>
                <a:rect l="l" t="t" r="r" b="b"/>
                <a:pathLst>
                  <a:path w="186691" h="9525">
                    <a:moveTo>
                      <a:pt x="0" y="0"/>
                    </a:moveTo>
                    <a:lnTo>
                      <a:pt x="186691" y="0"/>
                    </a:lnTo>
                  </a:path>
                </a:pathLst>
              </a:custGeom>
              <a:noFill/>
              <a:ln w="19050">
                <a:solidFill>
                  <a:srgbClr val="1A1A2E"/>
                </a:solidFill>
              </a:ln>
            </p:spPr>
          </p:sp>
          <p:sp>
            <p:nvSpPr>
              <p:cNvPr id="85" name="Freeform 85"/>
              <p:cNvSpPr/>
              <p:nvPr/>
            </p:nvSpPr>
            <p:spPr>
              <a:xfrm>
                <a:off x="661100" y="5710238"/>
                <a:ext cx="38194" cy="200026"/>
              </a:xfrm>
              <a:custGeom>
                <a:avLst/>
                <a:gdLst/>
                <a:ahLst/>
                <a:cxnLst/>
                <a:rect l="l" t="t" r="r" b="b"/>
                <a:pathLst>
                  <a:path w="38194" h="200026">
                    <a:moveTo>
                      <a:pt x="38194" y="0"/>
                    </a:moveTo>
                    <a:cubicBezTo>
                      <a:pt x="0" y="61205"/>
                      <a:pt x="0" y="138820"/>
                      <a:pt x="38194" y="200026"/>
                    </a:cubicBezTo>
                  </a:path>
                </a:pathLst>
              </a:custGeom>
              <a:noFill/>
              <a:ln w="19050">
                <a:solidFill>
                  <a:srgbClr val="1A1A2E"/>
                </a:solidFill>
              </a:ln>
            </p:spPr>
          </p:sp>
          <p:sp>
            <p:nvSpPr>
              <p:cNvPr id="86" name="Freeform 86"/>
              <p:cNvSpPr/>
              <p:nvPr/>
            </p:nvSpPr>
            <p:spPr>
              <a:xfrm>
                <a:off x="710407" y="5710238"/>
                <a:ext cx="38194" cy="200026"/>
              </a:xfrm>
              <a:custGeom>
                <a:avLst/>
                <a:gdLst/>
                <a:ahLst/>
                <a:cxnLst/>
                <a:rect l="l" t="t" r="r" b="b"/>
                <a:pathLst>
                  <a:path w="38194" h="200026">
                    <a:moveTo>
                      <a:pt x="0" y="0"/>
                    </a:moveTo>
                    <a:cubicBezTo>
                      <a:pt x="38194" y="61205"/>
                      <a:pt x="38194" y="138820"/>
                      <a:pt x="0" y="200026"/>
                    </a:cubicBezTo>
                  </a:path>
                </a:pathLst>
              </a:custGeom>
              <a:noFill/>
              <a:ln w="19050">
                <a:solidFill>
                  <a:srgbClr val="1A1A2E"/>
                </a:solidFill>
              </a:ln>
            </p:spPr>
          </p:sp>
        </p:grpSp>
        <p:sp>
          <p:nvSpPr>
            <p:cNvPr id="88" name="TextBox 88"/>
            <p:cNvSpPr txBox="1"/>
            <p:nvPr/>
          </p:nvSpPr>
          <p:spPr>
            <a:xfrm>
              <a:off x="925830" y="5619750"/>
              <a:ext cx="4526509" cy="293370"/>
            </a:xfrm>
            <a:prstGeom prst="rect">
              <a:avLst/>
            </a:prstGeom>
            <a:noFill/>
            <a:ln>
              <a:noFill/>
            </a:ln>
          </p:spPr>
          <p:txBody>
            <a:bodyPr wrap="none" lIns="0" tIns="0" rIns="0" bIns="0" anchor="t" anchorCtr="0">
              <a:spAutoFit/>
            </a:bodyPr>
            <a:lstStyle/>
            <a:p>
              <a:pPr algn="l"/>
              <a:r>
                <a:rPr lang="en-US" sz="1500" b="1" dirty="0">
                  <a:solidFill>
                    <a:srgbClr val="1A1A2E"/>
                  </a:solidFill>
                  <a:latin typeface="Arial"/>
                  <a:ea typeface="Arial"/>
                  <a:cs typeface="Arial"/>
                </a:rPr>
                <a:t>Germany</a:t>
              </a:r>
              <a:r>
                <a:rPr lang="en-US" sz="1500" dirty="0">
                  <a:solidFill>
                    <a:srgbClr val="2C2C2C"/>
                  </a:solidFill>
                  <a:latin typeface="Arial"/>
                  <a:ea typeface="Arial"/>
                  <a:cs typeface="Arial"/>
                </a:rPr>
                <a:t xml:space="preserve"> phased out all nuclear power by 2023</a:t>
              </a:r>
            </a:p>
          </p:txBody>
        </p:sp>
        <p:sp>
          <p:nvSpPr>
            <p:cNvPr id="89" name="TextBox 89"/>
            <p:cNvSpPr txBox="1"/>
            <p:nvPr/>
          </p:nvSpPr>
          <p:spPr>
            <a:xfrm>
              <a:off x="925830" y="5886450"/>
              <a:ext cx="5390876" cy="293370"/>
            </a:xfrm>
            <a:prstGeom prst="rect">
              <a:avLst/>
            </a:prstGeom>
            <a:noFill/>
            <a:ln>
              <a:noFill/>
            </a:ln>
          </p:spPr>
          <p:txBody>
            <a:bodyPr wrap="none" lIns="0" tIns="0" rIns="0" bIns="0" anchor="t" anchorCtr="0">
              <a:spAutoFit/>
            </a:bodyPr>
            <a:lstStyle/>
            <a:p>
              <a:pPr algn="l"/>
              <a:r>
                <a:rPr lang="en-US" sz="1500" b="1" dirty="0">
                  <a:solidFill>
                    <a:srgbClr val="1A1A2E"/>
                  </a:solidFill>
                  <a:latin typeface="Arial"/>
                  <a:ea typeface="Arial"/>
                  <a:cs typeface="Arial"/>
                </a:rPr>
                <a:t>Japan NRA</a:t>
              </a:r>
              <a:r>
                <a:rPr lang="en-US" sz="1500" dirty="0">
                  <a:solidFill>
                    <a:srgbClr val="2C2C2C"/>
                  </a:solidFill>
                  <a:latin typeface="Arial"/>
                  <a:ea typeface="Arial"/>
                  <a:cs typeface="Arial"/>
                </a:rPr>
                <a:t xml:space="preserve"> established; new safety standards enacted</a:t>
              </a:r>
            </a:p>
          </p:txBody>
        </p:sp>
        <p:sp>
          <p:nvSpPr>
            <p:cNvPr id="90" name="TextBox 90"/>
            <p:cNvSpPr txBox="1"/>
            <p:nvPr/>
          </p:nvSpPr>
          <p:spPr>
            <a:xfrm>
              <a:off x="925830" y="6153150"/>
              <a:ext cx="5176745" cy="293370"/>
            </a:xfrm>
            <a:prstGeom prst="rect">
              <a:avLst/>
            </a:prstGeom>
            <a:noFill/>
            <a:ln>
              <a:noFill/>
            </a:ln>
          </p:spPr>
          <p:txBody>
            <a:bodyPr wrap="none" lIns="0" tIns="0" rIns="0" bIns="0" anchor="t" anchorCtr="0">
              <a:spAutoFit/>
            </a:bodyPr>
            <a:lstStyle/>
            <a:p>
              <a:pPr algn="l"/>
              <a:r>
                <a:rPr lang="en-US" sz="1500" b="1" dirty="0">
                  <a:solidFill>
                    <a:srgbClr val="1A1A2E"/>
                  </a:solidFill>
                  <a:latin typeface="Arial"/>
                  <a:ea typeface="Arial"/>
                  <a:cs typeface="Arial"/>
                </a:rPr>
                <a:t>IAEA</a:t>
              </a:r>
              <a:r>
                <a:rPr lang="en-US" sz="1500" dirty="0">
                  <a:solidFill>
                    <a:srgbClr val="2C2C2C"/>
                  </a:solidFill>
                  <a:latin typeface="Arial"/>
                  <a:ea typeface="Arial"/>
                  <a:cs typeface="Arial"/>
                </a:rPr>
                <a:t xml:space="preserve"> global post-Fukushima safety review worldwide</a:t>
              </a:r>
            </a:p>
          </p:txBody>
        </p:sp>
      </p:grpSp>
      <p:grpSp>
        <p:nvGrpSpPr>
          <p:cNvPr id="101" name="Group 101"/>
          <p:cNvGrpSpPr/>
          <p:nvPr/>
        </p:nvGrpSpPr>
        <p:grpSpPr>
          <a:xfrm>
            <a:off x="7899273" y="2680335"/>
            <a:ext cx="4526536" cy="3777615"/>
            <a:chOff x="7899273" y="2680335"/>
            <a:chExt cx="4526536" cy="3777615"/>
          </a:xfrm>
        </p:grpSpPr>
        <p:sp>
          <p:nvSpPr>
            <p:cNvPr id="92" name="TextBox 92"/>
            <p:cNvSpPr txBox="1"/>
            <p:nvPr/>
          </p:nvSpPr>
          <p:spPr>
            <a:xfrm>
              <a:off x="7899654" y="2680335"/>
              <a:ext cx="1624767" cy="234696"/>
            </a:xfrm>
            <a:prstGeom prst="rect">
              <a:avLst/>
            </a:prstGeom>
            <a:noFill/>
            <a:ln>
              <a:noFill/>
            </a:ln>
          </p:spPr>
          <p:txBody>
            <a:bodyPr wrap="none" lIns="0" tIns="0" rIns="0" bIns="0" anchor="t" anchorCtr="0">
              <a:spAutoFit/>
            </a:bodyPr>
            <a:lstStyle/>
            <a:p>
              <a:pPr algn="l"/>
              <a:r>
                <a:rPr lang="en-US" sz="1200" b="1" spc="150" dirty="0">
                  <a:solidFill>
                    <a:srgbClr val="7F8C8D"/>
                  </a:solidFill>
                  <a:latin typeface="Arial"/>
                  <a:ea typeface="Arial"/>
                  <a:cs typeface="Arial"/>
                </a:rPr>
                <a:t>CLEANUP STATUS</a:t>
              </a:r>
            </a:p>
          </p:txBody>
        </p:sp>
        <p:sp>
          <p:nvSpPr>
            <p:cNvPr id="93" name="Rectangle 93"/>
            <p:cNvSpPr/>
            <p:nvPr/>
          </p:nvSpPr>
          <p:spPr>
            <a:xfrm>
              <a:off x="7905750" y="2857500"/>
              <a:ext cx="476250" cy="19050"/>
            </a:xfrm>
            <a:prstGeom prst="roundRect">
              <a:avLst>
                <a:gd name="adj" fmla="val 50000"/>
              </a:avLst>
            </a:prstGeom>
            <a:solidFill>
              <a:srgbClr val="C0392B"/>
            </a:solidFill>
            <a:ln>
              <a:noFill/>
            </a:ln>
          </p:spPr>
        </p:sp>
        <p:pic>
          <p:nvPicPr>
            <p:cNvPr id="94" name="Image 94"/>
            <p:cNvPicPr>
              <a:picLocks noChangeAspect="1"/>
            </p:cNvPicPr>
            <p:nvPr/>
          </p:nvPicPr>
          <p:blipFill>
            <a:blip r:embed="rId2"/>
            <a:srcRect l="0" t="20732" r="0" b="20732"/>
            <a:stretch>
              <a:fillRect/>
            </a:stretch>
          </p:blipFill>
          <p:spPr>
            <a:xfrm>
              <a:off x="7905750" y="2952750"/>
              <a:ext cx="3905250" cy="2286000"/>
            </a:xfrm>
            <a:prstGeom prst="roundRect">
              <a:avLst>
                <a:gd name="adj" fmla="val 1666"/>
              </a:avLst>
            </a:prstGeom>
          </p:spPr>
        </p:pic>
        <p:sp>
          <p:nvSpPr>
            <p:cNvPr id="95" name="TextBox 95"/>
            <p:cNvSpPr txBox="1"/>
            <p:nvPr/>
          </p:nvSpPr>
          <p:spPr>
            <a:xfrm>
              <a:off x="7899273" y="5310664"/>
              <a:ext cx="4526536" cy="249364"/>
            </a:xfrm>
            <a:prstGeom prst="rect">
              <a:avLst/>
            </a:prstGeom>
            <a:noFill/>
            <a:ln>
              <a:noFill/>
            </a:ln>
          </p:spPr>
          <p:txBody>
            <a:bodyPr wrap="none" lIns="0" tIns="0" rIns="0" bIns="0" anchor="t" anchorCtr="0">
              <a:spAutoFit/>
            </a:bodyPr>
            <a:lstStyle/>
            <a:p>
              <a:pPr algn="l"/>
              <a:r>
                <a:rPr lang="en-US" sz="1280" dirty="0">
                  <a:solidFill>
                    <a:srgbClr val="7F8C8D"/>
                  </a:solidFill>
                  <a:latin typeface="Arial"/>
                  <a:ea typeface="Arial"/>
                  <a:cs typeface="Arial"/>
                </a:rPr>
                <a:t>Contaminated water storage at Fukushima Daiichi site</a:t>
              </a:r>
            </a:p>
          </p:txBody>
        </p:sp>
        <p:sp>
          <p:nvSpPr>
            <p:cNvPr id="96" name="Rectangle 96"/>
            <p:cNvSpPr/>
            <p:nvPr/>
          </p:nvSpPr>
          <p:spPr>
            <a:xfrm>
              <a:off x="7905750" y="5600700"/>
              <a:ext cx="3905250" cy="857250"/>
            </a:xfrm>
            <a:prstGeom prst="roundRect">
              <a:avLst>
                <a:gd name="adj" fmla="val 4444"/>
              </a:avLst>
            </a:prstGeom>
            <a:solidFill>
              <a:srgbClr val="EDEDEA"/>
            </a:solidFill>
            <a:ln>
              <a:noFill/>
            </a:ln>
          </p:spPr>
        </p:sp>
        <p:sp>
          <p:nvSpPr>
            <p:cNvPr id="97" name="Rectangle 97"/>
            <p:cNvSpPr/>
            <p:nvPr/>
          </p:nvSpPr>
          <p:spPr>
            <a:xfrm>
              <a:off x="7905750" y="5600700"/>
              <a:ext cx="38100" cy="857250"/>
            </a:xfrm>
            <a:prstGeom prst="roundRect">
              <a:avLst>
                <a:gd name="adj" fmla="val 50000"/>
              </a:avLst>
            </a:prstGeom>
            <a:solidFill>
              <a:srgbClr val="1A1A2E"/>
            </a:solidFill>
            <a:ln>
              <a:noFill/>
            </a:ln>
          </p:spPr>
        </p:sp>
        <p:sp>
          <p:nvSpPr>
            <p:cNvPr id="98" name="TextBox 98"/>
            <p:cNvSpPr txBox="1"/>
            <p:nvPr/>
          </p:nvSpPr>
          <p:spPr>
            <a:xfrm>
              <a:off x="8069580" y="5667375"/>
              <a:ext cx="3835302" cy="293370"/>
            </a:xfrm>
            <a:prstGeom prst="rect">
              <a:avLst/>
            </a:prstGeom>
            <a:noFill/>
            <a:ln>
              <a:noFill/>
            </a:ln>
          </p:spPr>
          <p:txBody>
            <a:bodyPr wrap="none" lIns="0" tIns="0" rIns="0" bIns="0" anchor="t" anchorCtr="0">
              <a:spAutoFit/>
            </a:bodyPr>
            <a:lstStyle/>
            <a:p>
              <a:pPr algn="l"/>
              <a:r>
                <a:rPr lang="en-US" sz="1500" b="1" dirty="0">
                  <a:solidFill>
                    <a:srgbClr val="1A1A2E"/>
                  </a:solidFill>
                  <a:latin typeface="Arial"/>
                  <a:ea typeface="Arial"/>
                  <a:cs typeface="Arial"/>
                </a:rPr>
                <a:t>Decommissioning: 30–40 Year Project</a:t>
              </a:r>
            </a:p>
          </p:txBody>
        </p:sp>
        <p:sp>
          <p:nvSpPr>
            <p:cNvPr id="99" name="TextBox 99"/>
            <p:cNvSpPr txBox="1"/>
            <p:nvPr/>
          </p:nvSpPr>
          <p:spPr>
            <a:xfrm>
              <a:off x="8069580" y="5915025"/>
              <a:ext cx="4278250" cy="293370"/>
            </a:xfrm>
            <a:prstGeom prst="rect">
              <a:avLst/>
            </a:prstGeom>
            <a:noFill/>
            <a:ln>
              <a:noFill/>
            </a:ln>
          </p:spPr>
          <p:txBody>
            <a:bodyPr wrap="none" lIns="0" tIns="0" rIns="0" bIns="0" anchor="t" anchorCtr="0">
              <a:spAutoFit/>
            </a:bodyPr>
            <a:lstStyle/>
            <a:p>
              <a:pPr algn="l"/>
              <a:r>
                <a:rPr lang="en-US" sz="1500" b="1" dirty="0">
                  <a:solidFill>
                    <a:srgbClr val="C0392B"/>
                  </a:solidFill>
                  <a:latin typeface="Arial"/>
                  <a:ea typeface="Arial"/>
                  <a:cs typeface="Arial"/>
                </a:rPr>
                <a:t>Est. $200 billion</a:t>
              </a:r>
              <a:r>
                <a:rPr lang="en-US" sz="1500" dirty="0">
                  <a:solidFill>
                    <a:srgbClr val="5D6D7E"/>
                  </a:solidFill>
                  <a:latin typeface="Arial"/>
                  <a:ea typeface="Arial"/>
                  <a:cs typeface="Arial"/>
                </a:rPr>
                <a:t xml:space="preserve"> cost · Target: 2041–2051</a:t>
              </a:r>
            </a:p>
          </p:txBody>
        </p:sp>
        <p:sp>
          <p:nvSpPr>
            <p:cNvPr id="100" name="TextBox 100"/>
            <p:cNvSpPr txBox="1"/>
            <p:nvPr/>
          </p:nvSpPr>
          <p:spPr>
            <a:xfrm>
              <a:off x="8070342" y="6169342"/>
              <a:ext cx="4308355" cy="264033"/>
            </a:xfrm>
            <a:prstGeom prst="rect">
              <a:avLst/>
            </a:prstGeom>
            <a:noFill/>
            <a:ln>
              <a:noFill/>
            </a:ln>
          </p:spPr>
          <p:txBody>
            <a:bodyPr wrap="none" lIns="0" tIns="0" rIns="0" bIns="0" anchor="t" anchorCtr="0">
              <a:spAutoFit/>
            </a:bodyPr>
            <a:lstStyle/>
            <a:p>
              <a:pPr algn="l"/>
              <a:r>
                <a:rPr lang="en-US" sz="1350" dirty="0">
                  <a:solidFill>
                    <a:srgbClr val="7F8C8D"/>
                  </a:solidFill>
                  <a:latin typeface="Arial"/>
                  <a:ea typeface="Arial"/>
                  <a:cs typeface="Arial"/>
                </a:rPr>
                <a:t>Fuel debris retrieval remains greatest challenge</a:t>
              </a:r>
            </a:p>
          </p:txBody>
        </p:sp>
      </p:grpSp>
      <p:grpSp>
        <p:nvGrpSpPr>
          <p:cNvPr id="105" name="Group 105"/>
          <p:cNvGrpSpPr/>
          <p:nvPr/>
        </p:nvGrpSpPr>
        <p:grpSpPr>
          <a:xfrm>
            <a:off x="564642" y="6553200"/>
            <a:ext cx="11062716" cy="299275"/>
            <a:chOff x="564642" y="6553200"/>
            <a:chExt cx="11062716" cy="299275"/>
          </a:xfrm>
        </p:grpSpPr>
        <p:sp>
          <p:nvSpPr>
            <p:cNvPr id="102" name="Line 102"/>
            <p:cNvSpPr/>
            <p:nvPr/>
          </p:nvSpPr>
          <p:spPr>
            <a:xfrm>
              <a:off x="571500" y="6553200"/>
              <a:ext cx="11049000" cy="9525"/>
            </a:xfrm>
            <a:custGeom>
              <a:avLst/>
              <a:gdLst/>
              <a:ahLst/>
              <a:cxnLst/>
              <a:rect l="l" t="t" r="r" b="b"/>
              <a:pathLst>
                <a:path w="11049000" h="9525">
                  <a:moveTo>
                    <a:pt x="0" y="0"/>
                  </a:moveTo>
                  <a:lnTo>
                    <a:pt x="11049000" y="0"/>
                  </a:lnTo>
                </a:path>
              </a:pathLst>
            </a:custGeom>
            <a:noFill/>
            <a:ln w="9525">
              <a:solidFill>
                <a:srgbClr val="BDC3C7"/>
              </a:solidFill>
            </a:ln>
          </p:spPr>
        </p:sp>
        <p:sp>
          <p:nvSpPr>
            <p:cNvPr id="103" name="TextBox 103"/>
            <p:cNvSpPr txBox="1"/>
            <p:nvPr/>
          </p:nvSpPr>
          <p:spPr>
            <a:xfrm>
              <a:off x="564642" y="6588442"/>
              <a:ext cx="4422814" cy="264033"/>
            </a:xfrm>
            <a:prstGeom prst="rect">
              <a:avLst/>
            </a:prstGeom>
            <a:noFill/>
            <a:ln>
              <a:noFill/>
            </a:ln>
          </p:spPr>
          <p:txBody>
            <a:bodyPr wrap="none" lIns="0" tIns="0" rIns="0" bIns="0" anchor="t" anchorCtr="0">
              <a:spAutoFit/>
            </a:bodyPr>
            <a:lstStyle/>
            <a:p>
              <a:pPr algn="l"/>
              <a:r>
                <a:rPr lang="en-US" sz="1350" dirty="0">
                  <a:solidFill>
                    <a:srgbClr val="95A5A6"/>
                  </a:solidFill>
                  <a:latin typeface="Arial"/>
                  <a:ea typeface="Arial"/>
                  <a:cs typeface="Arial"/>
                </a:rPr>
                <a:t>Source: World Nuclear Association · IAEA · TEPCO</a:t>
              </a:r>
            </a:p>
          </p:txBody>
        </p:sp>
        <p:sp>
          <p:nvSpPr>
            <p:cNvPr id="104" name="TextBox 104"/>
            <p:cNvSpPr txBox="1"/>
            <p:nvPr/>
          </p:nvSpPr>
          <p:spPr>
            <a:xfrm>
              <a:off x="11413731" y="6588442"/>
              <a:ext cx="213627" cy="264033"/>
            </a:xfrm>
            <a:prstGeom prst="rect">
              <a:avLst/>
            </a:prstGeom>
            <a:noFill/>
            <a:ln>
              <a:noFill/>
            </a:ln>
          </p:spPr>
          <p:txBody>
            <a:bodyPr wrap="none" lIns="0" tIns="0" rIns="0" bIns="0" anchor="t" anchorCtr="0">
              <a:spAutoFit/>
            </a:bodyPr>
            <a:lstStyle/>
            <a:p>
              <a:pPr algn="r"/>
              <a:r>
                <a:rPr lang="en-US" sz="1350" dirty="0">
                  <a:solidFill>
                    <a:srgbClr val="95A5A6"/>
                  </a:solidFill>
                  <a:latin typeface="Arial"/>
                  <a:ea typeface="Arial"/>
                  <a:cs typeface="Arial"/>
                </a:rPr>
                <a:t>02</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2026-06-29T05:35:43Z</dcterms:created>
  <dcterms:modified xsi:type="dcterms:W3CDTF">2026-06-29T05:35:43Z</dcterms:modified>
  <cp:category/>
  <cp:contentStatus/>
</cp:coreProperties>
</file>