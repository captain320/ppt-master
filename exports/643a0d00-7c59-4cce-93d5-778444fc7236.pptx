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today's presentation on the future of artificial intelligence in healthcare. Before we dive in, consider this number: by 2030, the world will face a shortage of 18 million healthcare professionals. That's not a distant hypothetical — it's a structural crisis already unfolding. The question we're here to explore is whether AI can help bridge that gap, and the answer, increasingly, is yes.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systems everywhere are wrestling with four simultaneous crises. The workforce shortage is perhaps the most alarming — 18 million fewer professionals globally by 2030, including 5 million fewer doctors. At the same time, chronic disease burden is driving costs to unsustainable levels. The pandemic exposed deep inequities in who gets access to specialist care. And overloaded systems mean dangerous diagnostic delays — in sepsis alone, hours matter. These aren't problems that incremental fixes can solve. This is why AI is not optional — it's essential infrastructure.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established why healthcare needs AI, let's understand how it works. There are three distinct AI technology families reshaping medicine today: deep learning, computer vision, and natural language processing. Each solves a different class of clinical problem, and together they make AI applicable across virtually every dimension of healthcare.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not theoretical — it is actively deployed across six major clinical domains right now. Medical imaging AI matches and sometimes exceeds specialist accuracy. Drug discovery AI is compressing the development timeline from twelve years to potentially four. Clinical decision support AI is catching sepsis before clinical criteria are even met. Genomics AI is enabling treatment matching to individual genetic profiles. Mental health AI is providing 24/7 support through intelligent conversational systems. And remote monitoring AI is catching atrial fibrillation, preventing falls, and managing glucose around the clock.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numbers tell the story. The AI healthcare market has grown from eleven billion dollars in 2021 and is projected to reach forty-five billion by 2026 — that's a forty percent compound annual growth rate, making it the fastest-growing sector in healthcare. The FDA has cleared over 521 AI and machine learning medical devices — five times more than just a few years ago. And that workforce shortage of 18 million professionals by 2030 is precisely the force driving urgency. The inflection point has already occurred.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AI technology engines driving this transformation. Deep learning, the first engine, detects patterns in electronic health records, genomic data, and lab results that are invisible to the human eye — including sepsis onset twelve hours before it becomes clinically apparent. Computer vision, the second engine, analyzes medical images at or above specialist accuracy — it accounts for roughly three-quarters of all FDA AI device clearances. And natural language processing, the third engine, mines the ocean of unstructured clinical text — notes, discharge summaries, medical literature — to surface diagnoses, predict deterioration, and now, through large language models like GPT-4, pass the US medical licensing exam at the ninety-first percentile.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understood the technologies, let's look at where they're actually working in clinical practice. The evidence is no longer anecdotal. Rigorous clinical studies confirm that AI is reducing diagnostic errors, accelerating disease detection, and improving patient outcomes in real healthcare environments — not just in controlled research settings.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domains show the clearest clinical proof. In diagnostics, AI achieves 91 percent sensitivity and 98 percent specificity in detecting diabetic retinopathy — and reduces radiologist reading time for lung cancer by 35 percent. In critical care, AI-powered sepsis prediction systems have reduced ICU mortality by 18.2 percent and flag deteriorating patients six to twelve hours before clinical criteria are met. In drug discovery, DeepMind's AlphaFold solved over 200 million protein structures — a problem that stumped science for fifty years — and the first AI-designed drug molecule entered clinical trials in 2020. These are not promises. They are published results.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markets speak this clearly, they are telling us something important. The global AI healthcare market grew from eleven billion dollars in 2021 and is on track to reach forty-five billion by 2026. That forty percent annual growth rate isn't speculation — it represents the accumulated investment decisions of every major health system, every leading pharmaceutical company, and every major technology platform choosing to build their future on AI. Google Health, Microsoft Nuance, IBM Watson, Tempus, Flatiron, Insilico Medicine — they have all placed their bets. The question for organizations in this room is: what is your position?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pace of this transformation. In 2016, DeepMind demonstrated that AI could match human pattern recognition at superhuman levels. By 2018, the Apple Watch had FDA clearance to detect atrial fibrillation. In 2019, Google Health published that its breast cancer AI outperformed radiologists. By 2020, AlphaFold had solved the protein folding problem, and the first AI-designed drug was in clinical trials. In 2021, 521 AI medical devices had FDA clearance — five times more than 2019. And in 2023 and 2024, large language models began entering clinical documentation and passing medical licensing exams. What took radiology decades to accept, AI achieved in five years.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of AI in healthcare is real — but so are the risks. Algorithmic bias is perhaps the most urgent: AI trained on non-representative data performs 34 percent worse on darker skin tones in dermatology. Privacy and security challenges remain unresolved, with patient consent for AI model training lacking universal standards. The accountability gap — who is liable when AI makes a clinical error — has no clear legal answer yet. And access equity is a fundamental concern: the health systems that need AI most often have the least infrastructure to deploy it. These challenges are not reasons to slow down — they are the governance agenda that must accompany deployment.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examined where AI stands today — the technologies, the clinical impact, and the ethical challenges — we turn now to where it's heading. The road ahead unfolds across three time horizons, each building on the last. Near-term deployments are already active. Mid-term transformation is underway. And the long-term vision is nothing less than the democratization of specialist-level care for every patient on the planet.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AI healthcare development as three concentric circles of ambition. In the near term, from 2024 to 2027, the priorities are deploying large language models in clinical documentation, using AI for primary care triage, and combining imaging with genomics and electronic health records in multi-modal AI systems. In the mid-term, from 2027 to 2032, AI will become a co-pilot in the operating room, a real-time partner in intensive care, and the engine of wearable-driven preventive health. In the long term, beyond 2032, the vision is precision medicine at population scale — AI eliminating diagnostic delays in resource-limited settings and making specialist-level care universally accessible. The organizations that start building today will be the ones defining that standard of care.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transformation of healthcare by artificial intelligence has already begun. It is not a future event — it is a present reality, measured in lives saved, costs reduced, and diagnoses made faster and more accurately than ever before. The question before every healthcare organization, every investor, and every policy maker in this room is not whether AI will transform your world. It already is. The question is whether your organization will lead that transformation, or spend the next decade catching up. The first step is clear: begin your AI readiness assessment, build your strategy, and act with the urgency the data demands.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0"/>
            <a:ext cx="12382500" cy="6858000"/>
            <a:chOff x="0" y="0"/>
            <a:chExt cx="123825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5715">
              <a:solidFill>
                <a:srgbClr val="1A2332"/>
              </a:solidFill>
            </a:ln>
          </p:spPr>
        </p:sp>
        <p:sp>
          <p:nvSpPr>
            <p:cNvPr id="4" name="Rectangle 4"/>
            <p:cNvSpPr/>
            <p:nvPr/>
          </p:nvSpPr>
          <p:spPr>
            <a:xfrm>
              <a:off x="6667500" y="0"/>
              <a:ext cx="5524500" cy="6858000"/>
            </a:xfrm>
            <a:prstGeom prst="rect">
              <a:avLst/>
            </a:prstGeom>
            <a:solidFill>
              <a:srgbClr val="0A0E14">
                <a:alpha val="50000"/>
              </a:srgbClr>
            </a:solidFill>
            <a:ln>
              <a:noFill/>
            </a:ln>
          </p:spPr>
        </p:sp>
        <p:sp>
          <p:nvSpPr>
            <p:cNvPr id="5" name="Ellipse 5"/>
            <p:cNvSpPr/>
            <p:nvPr/>
          </p:nvSpPr>
          <p:spPr>
            <a:xfrm>
              <a:off x="6286500" y="381000"/>
              <a:ext cx="6096000" cy="6096000"/>
            </a:xfrm>
            <a:prstGeom prst="ellipse">
              <a:avLst/>
            </a:prstGeom>
            <a:gradFill>
              <a:gsLst>
                <a:gs pos="0">
                  <a:srgbClr val="00E5FF">
                    <a:alpha val="8000"/>
                  </a:srgbClr>
                </a:gs>
                <a:gs pos="100000">
                  <a:srgbClr val="00E5FF">
                    <a:alpha val="0"/>
                  </a:srgbClr>
                </a:gs>
              </a:gsLst>
              <a:path path="circle">
                <a:fillToRect l="50000" t="50000" r="50000" b="50000"/>
              </a:path>
            </a:gradFill>
            <a:ln>
              <a:noFill/>
            </a:ln>
          </p:spPr>
        </p:sp>
        <p:sp>
          <p:nvSpPr>
            <p:cNvPr id="6" name="Rectangle 6"/>
            <p:cNvSpPr/>
            <p:nvPr/>
          </p:nvSpPr>
          <p:spPr>
            <a:xfrm>
              <a:off x="0" y="0"/>
              <a:ext cx="12192000" cy="6858000"/>
            </a:xfrm>
            <a:prstGeom prst="rect">
              <a:avLst/>
            </a:prstGeom>
            <a:gradFill>
              <a:gsLst>
                <a:gs pos="0">
                  <a:srgbClr val="0D1117">
                    <a:alpha val="97000"/>
                  </a:srgbClr>
                </a:gs>
                <a:gs pos="65000">
                  <a:srgbClr val="0D1117">
                    <a:alpha val="75000"/>
                  </a:srgbClr>
                </a:gs>
                <a:gs pos="100000">
                  <a:srgbClr val="0D1117">
                    <a:alpha val="20000"/>
                  </a:srgbClr>
                </a:gs>
              </a:gsLst>
              <a:lin ang="0" scaled="1"/>
            </a:gradFill>
            <a:ln>
              <a:noFill/>
            </a:ln>
          </p:spPr>
        </p:sp>
      </p:grpSp>
      <p:grpSp>
        <p:nvGrpSpPr>
          <p:cNvPr id="17" name="Group 17"/>
          <p:cNvGrpSpPr/>
          <p:nvPr/>
        </p:nvGrpSpPr>
        <p:grpSpPr>
          <a:xfrm>
            <a:off x="7772400" y="0"/>
            <a:ext cx="3467100" cy="6858000"/>
            <a:chOff x="7772400" y="0"/>
            <a:chExt cx="3467100" cy="6858000"/>
          </a:xfrm>
        </p:grpSpPr>
        <p:sp>
          <p:nvSpPr>
            <p:cNvPr id="8" name="Line 8"/>
            <p:cNvSpPr/>
            <p:nvPr/>
          </p:nvSpPr>
          <p:spPr>
            <a:xfrm>
              <a:off x="7810500" y="0"/>
              <a:ext cx="9525" cy="2667000"/>
            </a:xfrm>
            <a:custGeom>
              <a:avLst/>
              <a:gdLst/>
              <a:ahLst/>
              <a:cxnLst/>
              <a:rect l="l" t="t" r="r" b="b"/>
              <a:pathLst>
                <a:path w="9525" h="2667000">
                  <a:moveTo>
                    <a:pt x="0" y="0"/>
                  </a:moveTo>
                  <a:lnTo>
                    <a:pt x="0" y="2667000"/>
                  </a:lnTo>
                </a:path>
              </a:pathLst>
            </a:custGeom>
            <a:noFill/>
            <a:ln w="9525">
              <a:solidFill>
                <a:srgbClr val="00796B">
                  <a:alpha val="40000"/>
                </a:srgbClr>
              </a:solidFill>
            </a:ln>
          </p:spPr>
        </p:sp>
        <p:sp>
          <p:nvSpPr>
            <p:cNvPr id="9" name="Line 9"/>
            <p:cNvSpPr/>
            <p:nvPr/>
          </p:nvSpPr>
          <p:spPr>
            <a:xfrm>
              <a:off x="7810500" y="1333500"/>
              <a:ext cx="1714500" cy="9525"/>
            </a:xfrm>
            <a:custGeom>
              <a:avLst/>
              <a:gdLst/>
              <a:ahLst/>
              <a:cxnLst/>
              <a:rect l="l" t="t" r="r" b="b"/>
              <a:pathLst>
                <a:path w="1714500" h="9525">
                  <a:moveTo>
                    <a:pt x="0" y="0"/>
                  </a:moveTo>
                  <a:lnTo>
                    <a:pt x="1714500" y="0"/>
                  </a:lnTo>
                </a:path>
              </a:pathLst>
            </a:custGeom>
            <a:noFill/>
            <a:ln w="9525">
              <a:solidFill>
                <a:srgbClr val="00796B">
                  <a:alpha val="40000"/>
                </a:srgbClr>
              </a:solidFill>
            </a:ln>
          </p:spPr>
        </p:sp>
        <p:sp>
          <p:nvSpPr>
            <p:cNvPr id="10" name="Ellipse 10"/>
            <p:cNvSpPr/>
            <p:nvPr/>
          </p:nvSpPr>
          <p:spPr>
            <a:xfrm>
              <a:off x="7772400" y="1295400"/>
              <a:ext cx="76200" cy="76200"/>
            </a:xfrm>
            <a:prstGeom prst="ellipse">
              <a:avLst/>
            </a:prstGeom>
            <a:solidFill>
              <a:srgbClr val="00E5FF">
                <a:alpha val="60000"/>
              </a:srgbClr>
            </a:solidFill>
            <a:ln>
              <a:noFill/>
            </a:ln>
          </p:spPr>
        </p:sp>
        <p:sp>
          <p:nvSpPr>
            <p:cNvPr id="11" name="Ellipse 11"/>
            <p:cNvSpPr/>
            <p:nvPr/>
          </p:nvSpPr>
          <p:spPr>
            <a:xfrm>
              <a:off x="9496425" y="1304925"/>
              <a:ext cx="57150" cy="57150"/>
            </a:xfrm>
            <a:prstGeom prst="ellipse">
              <a:avLst/>
            </a:prstGeom>
            <a:solidFill>
              <a:srgbClr val="00796B">
                <a:alpha val="50000"/>
              </a:srgbClr>
            </a:solidFill>
            <a:ln>
              <a:noFill/>
            </a:ln>
          </p:spPr>
        </p:sp>
        <p:sp>
          <p:nvSpPr>
            <p:cNvPr id="12" name="Line 12"/>
            <p:cNvSpPr/>
            <p:nvPr/>
          </p:nvSpPr>
          <p:spPr>
            <a:xfrm>
              <a:off x="8572500" y="4286250"/>
              <a:ext cx="9525" cy="2571750"/>
            </a:xfrm>
            <a:custGeom>
              <a:avLst/>
              <a:gdLst/>
              <a:ahLst/>
              <a:cxnLst/>
              <a:rect l="l" t="t" r="r" b="b"/>
              <a:pathLst>
                <a:path w="9525" h="2571750">
                  <a:moveTo>
                    <a:pt x="0" y="2571750"/>
                  </a:moveTo>
                  <a:lnTo>
                    <a:pt x="0" y="0"/>
                  </a:lnTo>
                </a:path>
              </a:pathLst>
            </a:custGeom>
            <a:noFill/>
            <a:ln w="9525">
              <a:solidFill>
                <a:srgbClr val="00796B">
                  <a:alpha val="30000"/>
                </a:srgbClr>
              </a:solidFill>
            </a:ln>
          </p:spPr>
        </p:sp>
        <p:sp>
          <p:nvSpPr>
            <p:cNvPr id="13" name="Line 13"/>
            <p:cNvSpPr/>
            <p:nvPr/>
          </p:nvSpPr>
          <p:spPr>
            <a:xfrm>
              <a:off x="8572500" y="5524500"/>
              <a:ext cx="2667000" cy="9525"/>
            </a:xfrm>
            <a:custGeom>
              <a:avLst/>
              <a:gdLst/>
              <a:ahLst/>
              <a:cxnLst/>
              <a:rect l="l" t="t" r="r" b="b"/>
              <a:pathLst>
                <a:path w="2667000" h="9525">
                  <a:moveTo>
                    <a:pt x="0" y="0"/>
                  </a:moveTo>
                  <a:lnTo>
                    <a:pt x="2667000" y="0"/>
                  </a:lnTo>
                </a:path>
              </a:pathLst>
            </a:custGeom>
            <a:noFill/>
            <a:ln w="9525">
              <a:solidFill>
                <a:srgbClr val="00796B">
                  <a:alpha val="30000"/>
                </a:srgbClr>
              </a:solidFill>
            </a:ln>
          </p:spPr>
        </p:sp>
        <p:sp>
          <p:nvSpPr>
            <p:cNvPr id="14" name="Ellipse 14"/>
            <p:cNvSpPr/>
            <p:nvPr/>
          </p:nvSpPr>
          <p:spPr>
            <a:xfrm>
              <a:off x="8539162" y="5491162"/>
              <a:ext cx="66675" cy="66675"/>
            </a:xfrm>
            <a:prstGeom prst="ellipse">
              <a:avLst/>
            </a:prstGeom>
            <a:solidFill>
              <a:srgbClr val="26A69A">
                <a:alpha val="50000"/>
              </a:srgbClr>
            </a:solidFill>
            <a:ln>
              <a:noFill/>
            </a:ln>
          </p:spPr>
        </p:sp>
        <p:sp>
          <p:nvSpPr>
            <p:cNvPr id="15" name="Polygon 15"/>
            <p:cNvSpPr/>
            <p:nvPr/>
          </p:nvSpPr>
          <p:spPr>
            <a:xfrm>
              <a:off x="10477500" y="2971800"/>
              <a:ext cx="266700" cy="304800"/>
            </a:xfrm>
            <a:custGeom>
              <a:avLst/>
              <a:gdLst/>
              <a:ahLst/>
              <a:cxnLst/>
              <a:rect l="l" t="t" r="r" b="b"/>
              <a:pathLst>
                <a:path w="266700" h="304800">
                  <a:moveTo>
                    <a:pt x="0" y="76200"/>
                  </a:moveTo>
                  <a:lnTo>
                    <a:pt x="133350" y="0"/>
                  </a:lnTo>
                  <a:lnTo>
                    <a:pt x="266700" y="76200"/>
                  </a:lnTo>
                  <a:lnTo>
                    <a:pt x="266700" y="228600"/>
                  </a:lnTo>
                  <a:lnTo>
                    <a:pt x="133350" y="304800"/>
                  </a:lnTo>
                  <a:lnTo>
                    <a:pt x="0" y="228600"/>
                  </a:lnTo>
                  <a:close/>
                </a:path>
              </a:pathLst>
            </a:custGeom>
            <a:noFill/>
            <a:ln w="9525">
              <a:solidFill>
                <a:srgbClr val="00E5FF">
                  <a:alpha val="30000"/>
                </a:srgbClr>
              </a:solidFill>
            </a:ln>
          </p:spPr>
        </p:sp>
        <p:sp>
          <p:nvSpPr>
            <p:cNvPr id="16" name="Polygon 16"/>
            <p:cNvSpPr/>
            <p:nvPr/>
          </p:nvSpPr>
          <p:spPr>
            <a:xfrm>
              <a:off x="10096500" y="1843088"/>
              <a:ext cx="209550" cy="247650"/>
            </a:xfrm>
            <a:custGeom>
              <a:avLst/>
              <a:gdLst/>
              <a:ahLst/>
              <a:cxnLst/>
              <a:rect l="l" t="t" r="r" b="b"/>
              <a:pathLst>
                <a:path w="209550" h="247650">
                  <a:moveTo>
                    <a:pt x="0" y="61912"/>
                  </a:moveTo>
                  <a:lnTo>
                    <a:pt x="104775" y="0"/>
                  </a:lnTo>
                  <a:lnTo>
                    <a:pt x="209550" y="61912"/>
                  </a:lnTo>
                  <a:lnTo>
                    <a:pt x="209550" y="185738"/>
                  </a:lnTo>
                  <a:lnTo>
                    <a:pt x="104775" y="247650"/>
                  </a:lnTo>
                  <a:lnTo>
                    <a:pt x="0" y="185738"/>
                  </a:lnTo>
                  <a:close/>
                </a:path>
              </a:pathLst>
            </a:custGeom>
            <a:noFill/>
            <a:ln w="9525">
              <a:solidFill>
                <a:srgbClr val="00796B">
                  <a:alpha val="25000"/>
                </a:srgbClr>
              </a:solidFill>
            </a:ln>
          </p:spPr>
        </p:sp>
      </p:grpSp>
      <p:grpSp>
        <p:nvGrpSpPr>
          <p:cNvPr id="19" name="Group 19"/>
          <p:cNvGrpSpPr/>
          <p:nvPr/>
        </p:nvGrpSpPr>
        <p:grpSpPr>
          <a:xfrm>
            <a:off x="1173690" y="1552575"/>
            <a:ext cx="10606621" cy="6019800"/>
            <a:chOff x="1173690" y="1552575"/>
            <a:chExt cx="10606621" cy="6019800"/>
          </a:xfrm>
        </p:grpSpPr>
        <p:sp>
          <p:nvSpPr>
            <p:cNvPr id="18" name="TextBox 18"/>
            <p:cNvSpPr txBox="1"/>
            <p:nvPr/>
          </p:nvSpPr>
          <p:spPr>
            <a:xfrm>
              <a:off x="1173690" y="1552575"/>
              <a:ext cx="10606621" cy="6019800"/>
            </a:xfrm>
            <a:prstGeom prst="rect">
              <a:avLst/>
            </a:prstGeom>
            <a:noFill/>
            <a:ln>
              <a:noFill/>
            </a:ln>
          </p:spPr>
          <p:txBody>
            <a:bodyPr wrap="none" lIns="0" tIns="0" rIns="0" bIns="0" anchor="t" anchorCtr="0">
              <a:spAutoFit/>
            </a:bodyPr>
            <a:lstStyle/>
            <a:p>
              <a:pPr algn="ctr"/>
              <a:r>
                <a:rPr lang="en-US" sz="31500" b="1" dirty="0">
                  <a:solidFill>
                    <a:srgbClr val="00E5FF">
                      <a:alphaMod val="4000"/>
                    </a:srgbClr>
                  </a:solidFill>
                  <a:latin typeface="Georgia"/>
                  <a:ea typeface="Georgia"/>
                  <a:cs typeface="Georgia"/>
                </a:rPr>
                <a:t>18M</a:t>
              </a:r>
            </a:p>
          </p:txBody>
        </p:sp>
      </p:grpSp>
      <p:grpSp>
        <p:nvGrpSpPr>
          <p:cNvPr id="21" name="Group 21"/>
          <p:cNvGrpSpPr/>
          <p:nvPr/>
        </p:nvGrpSpPr>
        <p:grpSpPr>
          <a:xfrm>
            <a:off x="609600" y="2286000"/>
            <a:ext cx="38100" cy="2286000"/>
            <a:chOff x="609600" y="2286000"/>
            <a:chExt cx="38100" cy="2286000"/>
          </a:xfrm>
        </p:grpSpPr>
        <p:sp>
          <p:nvSpPr>
            <p:cNvPr id="20" name="Rectangle 20"/>
            <p:cNvSpPr/>
            <p:nvPr/>
          </p:nvSpPr>
          <p:spPr>
            <a:xfrm>
              <a:off x="609600" y="2286000"/>
              <a:ext cx="38100" cy="2286000"/>
            </a:xfrm>
            <a:prstGeom prst="roundRect">
              <a:avLst>
                <a:gd name="adj" fmla="val 50000"/>
              </a:avLst>
            </a:prstGeom>
            <a:gradFill>
              <a:gsLst>
                <a:gs pos="0">
                  <a:srgbClr val="00796B"/>
                </a:gs>
                <a:gs pos="100000">
                  <a:srgbClr val="00E5FF"/>
                </a:gs>
              </a:gsLst>
              <a:lin ang="0" scaled="1"/>
            </a:gradFill>
            <a:ln>
              <a:noFill/>
            </a:ln>
          </p:spPr>
        </p:sp>
      </p:grpSp>
      <p:grpSp>
        <p:nvGrpSpPr>
          <p:cNvPr id="28" name="Group 28"/>
          <p:cNvGrpSpPr/>
          <p:nvPr/>
        </p:nvGrpSpPr>
        <p:grpSpPr>
          <a:xfrm>
            <a:off x="742950" y="2001202"/>
            <a:ext cx="7125606" cy="3165349"/>
            <a:chOff x="742950" y="2001202"/>
            <a:chExt cx="7125606" cy="3165349"/>
          </a:xfrm>
        </p:grpSpPr>
        <p:sp>
          <p:nvSpPr>
            <p:cNvPr id="22" name="TextBox 22"/>
            <p:cNvSpPr txBox="1"/>
            <p:nvPr/>
          </p:nvSpPr>
          <p:spPr>
            <a:xfrm>
              <a:off x="756666" y="2001202"/>
              <a:ext cx="2959197" cy="205359"/>
            </a:xfrm>
            <a:prstGeom prst="rect">
              <a:avLst/>
            </a:prstGeom>
            <a:noFill/>
            <a:ln>
              <a:noFill/>
            </a:ln>
          </p:spPr>
          <p:txBody>
            <a:bodyPr wrap="none" lIns="0" tIns="0" rIns="0" bIns="0" anchor="t" anchorCtr="0">
              <a:spAutoFit/>
            </a:bodyPr>
            <a:lstStyle/>
            <a:p>
              <a:pPr algn="l"/>
              <a:r>
                <a:rPr lang="en-US" sz="1050" b="1" spc="225" dirty="0">
                  <a:solidFill>
                    <a:srgbClr val="00E5FF">
                      <a:alphaMod val="85000"/>
                    </a:srgbClr>
                  </a:solidFill>
                  <a:latin typeface="Arial"/>
                  <a:ea typeface="Arial"/>
                  <a:cs typeface="Arial"/>
                </a:rPr>
                <a:t>HEALTHCARE INNOVATION 2026</a:t>
              </a:r>
            </a:p>
          </p:txBody>
        </p:sp>
        <p:sp>
          <p:nvSpPr>
            <p:cNvPr id="23" name="TextBox 23"/>
            <p:cNvSpPr txBox="1"/>
            <p:nvPr/>
          </p:nvSpPr>
          <p:spPr>
            <a:xfrm>
              <a:off x="742950" y="2305050"/>
              <a:ext cx="6229419" cy="1162050"/>
            </a:xfrm>
            <a:prstGeom prst="rect">
              <a:avLst/>
            </a:prstGeom>
            <a:noFill/>
            <a:ln>
              <a:noFill/>
            </a:ln>
          </p:spPr>
          <p:txBody>
            <a:bodyPr wrap="none" lIns="0" tIns="0" rIns="0" bIns="0" anchor="t" anchorCtr="0">
              <a:spAutoFit/>
            </a:bodyPr>
            <a:lstStyle/>
            <a:p>
              <a:pPr algn="l"/>
              <a:r>
                <a:rPr lang="en-US" sz="6000" b="1" dirty="0">
                  <a:solidFill>
                    <a:srgbClr val="E8F5E9"/>
                  </a:solidFill>
                  <a:latin typeface="Georgia"/>
                  <a:ea typeface="Georgia"/>
                  <a:cs typeface="Georgia"/>
                </a:rPr>
                <a:t>The Future of</a:t>
              </a:r>
            </a:p>
          </p:txBody>
        </p:sp>
        <p:sp>
          <p:nvSpPr>
            <p:cNvPr id="24" name="TextBox 24"/>
            <p:cNvSpPr txBox="1"/>
            <p:nvPr/>
          </p:nvSpPr>
          <p:spPr>
            <a:xfrm>
              <a:off x="742950" y="3162300"/>
              <a:ext cx="7114413" cy="1162050"/>
            </a:xfrm>
            <a:prstGeom prst="rect">
              <a:avLst/>
            </a:prstGeom>
            <a:noFill/>
            <a:ln>
              <a:noFill/>
            </a:ln>
          </p:spPr>
          <p:txBody>
            <a:bodyPr wrap="none" lIns="0" tIns="0" rIns="0" bIns="0" anchor="t" anchorCtr="0">
              <a:spAutoFit/>
            </a:bodyPr>
            <a:lstStyle/>
            <a:p>
              <a:pPr algn="l"/>
              <a:r>
                <a:rPr lang="en-US" sz="6000" b="1" dirty="0">
                  <a:gradFill>
                    <a:gsLst>
                      <a:gs pos="0">
                        <a:srgbClr val="00796B"/>
                      </a:gs>
                      <a:gs pos="100000">
                        <a:srgbClr val="00E5FF"/>
                      </a:gs>
                    </a:gsLst>
                    <a:lin ang="0" scaled="1"/>
                  </a:gradFill>
                  <a:effectLst>
                    <a:glow rad="76200">
                      <a:srgbClr val="00E5FF">
                        <a:alpha val="30000"/>
                      </a:srgbClr>
                    </a:glow>
                  </a:effectLst>
                  <a:latin typeface="Georgia"/>
                  <a:ea typeface="Georgia"/>
                  <a:cs typeface="Georgia"/>
                </a:rPr>
                <a:t>AI in Healthcare</a:t>
              </a:r>
            </a:p>
          </p:txBody>
        </p:sp>
        <p:sp>
          <p:nvSpPr>
            <p:cNvPr id="25" name="Rectangle 25"/>
            <p:cNvSpPr/>
            <p:nvPr/>
          </p:nvSpPr>
          <p:spPr>
            <a:xfrm>
              <a:off x="762000" y="4019550"/>
              <a:ext cx="4381500" cy="19050"/>
            </a:xfrm>
            <a:prstGeom prst="roundRect">
              <a:avLst>
                <a:gd name="adj" fmla="val 50000"/>
              </a:avLst>
            </a:prstGeom>
            <a:gradFill>
              <a:gsLst>
                <a:gs pos="0">
                  <a:srgbClr val="00796B">
                    <a:alpha val="60000"/>
                  </a:srgbClr>
                </a:gs>
                <a:gs pos="100000">
                  <a:srgbClr val="00E5FF">
                    <a:alpha val="60000"/>
                  </a:srgbClr>
                </a:gs>
              </a:gsLst>
              <a:lin ang="0" scaled="1"/>
            </a:gradFill>
            <a:ln>
              <a:noFill/>
            </a:ln>
          </p:spPr>
        </p:sp>
        <p:sp>
          <p:nvSpPr>
            <p:cNvPr id="26" name="TextBox 26"/>
            <p:cNvSpPr txBox="1"/>
            <p:nvPr/>
          </p:nvSpPr>
          <p:spPr>
            <a:xfrm>
              <a:off x="751332" y="4231005"/>
              <a:ext cx="7117224" cy="410718"/>
            </a:xfrm>
            <a:prstGeom prst="rect">
              <a:avLst/>
            </a:prstGeom>
            <a:noFill/>
            <a:ln>
              <a:noFill/>
            </a:ln>
          </p:spPr>
          <p:txBody>
            <a:bodyPr wrap="none" lIns="0" tIns="0" rIns="0" bIns="0" anchor="t" anchorCtr="0">
              <a:spAutoFit/>
            </a:bodyPr>
            <a:lstStyle/>
            <a:p>
              <a:pPr algn="l"/>
              <a:r>
                <a:rPr lang="en-US" sz="2100" dirty="0">
                  <a:solidFill>
                    <a:srgbClr val="90A4AE"/>
                  </a:solidFill>
                  <a:latin typeface="Arial"/>
                  <a:ea typeface="Arial"/>
                  <a:cs typeface="Arial"/>
                </a:rPr>
                <a:t>How Artificial Intelligence is Transforming Medicine</a:t>
              </a:r>
            </a:p>
          </p:txBody>
        </p:sp>
        <p:sp>
          <p:nvSpPr>
            <p:cNvPr id="27" name="TextBox 27"/>
            <p:cNvSpPr txBox="1"/>
            <p:nvPr/>
          </p:nvSpPr>
          <p:spPr>
            <a:xfrm>
              <a:off x="755142" y="4902518"/>
              <a:ext cx="3169154" cy="264033"/>
            </a:xfrm>
            <a:prstGeom prst="rect">
              <a:avLst/>
            </a:prstGeom>
            <a:noFill/>
            <a:ln>
              <a:noFill/>
            </a:ln>
          </p:spPr>
          <p:txBody>
            <a:bodyPr wrap="none" lIns="0" tIns="0" rIns="0" bIns="0" anchor="t" anchorCtr="0">
              <a:spAutoFit/>
            </a:bodyPr>
            <a:lstStyle/>
            <a:p>
              <a:pPr algn="l"/>
              <a:r>
                <a:rPr lang="en-US" sz="1350" dirty="0">
                  <a:solidFill>
                    <a:srgbClr val="546E7A"/>
                  </a:solidFill>
                  <a:latin typeface="Arial"/>
                  <a:ea typeface="Arial"/>
                  <a:cs typeface="Arial"/>
                </a:rPr>
                <a:t>Healthcare Innovation Series · 2026</a:t>
              </a:r>
            </a:p>
          </p:txBody>
        </p:sp>
      </p:grpSp>
      <p:grpSp>
        <p:nvGrpSpPr>
          <p:cNvPr id="33" name="Group 33"/>
          <p:cNvGrpSpPr/>
          <p:nvPr/>
        </p:nvGrpSpPr>
        <p:grpSpPr>
          <a:xfrm>
            <a:off x="762000" y="5619750"/>
            <a:ext cx="9064581" cy="713803"/>
            <a:chOff x="762000" y="5619750"/>
            <a:chExt cx="9064581" cy="713803"/>
          </a:xfrm>
        </p:grpSpPr>
        <p:sp>
          <p:nvSpPr>
            <p:cNvPr id="29" name="Rectangle 29"/>
            <p:cNvSpPr/>
            <p:nvPr/>
          </p:nvSpPr>
          <p:spPr>
            <a:xfrm>
              <a:off x="762000" y="5619750"/>
              <a:ext cx="5524500" cy="666750"/>
            </a:xfrm>
            <a:prstGeom prst="roundRect">
              <a:avLst>
                <a:gd name="adj" fmla="val 11429"/>
              </a:avLst>
            </a:prstGeom>
            <a:solidFill>
              <a:srgbClr val="161B22">
                <a:alpha val="80000"/>
              </a:srgbClr>
            </a:solidFill>
            <a:ln>
              <a:noFill/>
            </a:ln>
          </p:spPr>
        </p:sp>
        <p:sp>
          <p:nvSpPr>
            <p:cNvPr id="30" name="Rectangle 30"/>
            <p:cNvSpPr/>
            <p:nvPr/>
          </p:nvSpPr>
          <p:spPr>
            <a:xfrm>
              <a:off x="762000" y="5619750"/>
              <a:ext cx="38100" cy="666750"/>
            </a:xfrm>
            <a:prstGeom prst="roundRect">
              <a:avLst>
                <a:gd name="adj" fmla="val 50000"/>
              </a:avLst>
            </a:prstGeom>
            <a:solidFill>
              <a:srgbClr val="00E5FF"/>
            </a:solidFill>
            <a:ln>
              <a:noFill/>
            </a:ln>
          </p:spPr>
        </p:sp>
        <p:sp>
          <p:nvSpPr>
            <p:cNvPr id="31" name="TextBox 31"/>
            <p:cNvSpPr txBox="1"/>
            <p:nvPr/>
          </p:nvSpPr>
          <p:spPr>
            <a:xfrm>
              <a:off x="947166" y="5773102"/>
              <a:ext cx="2964454" cy="205359"/>
            </a:xfrm>
            <a:prstGeom prst="rect">
              <a:avLst/>
            </a:prstGeom>
            <a:noFill/>
            <a:ln>
              <a:noFill/>
            </a:ln>
          </p:spPr>
          <p:txBody>
            <a:bodyPr wrap="none" lIns="0" tIns="0" rIns="0" bIns="0" anchor="t" anchorCtr="0">
              <a:spAutoFit/>
            </a:bodyPr>
            <a:lstStyle/>
            <a:p>
              <a:pPr algn="l"/>
              <a:r>
                <a:rPr lang="en-US" sz="1050" dirty="0">
                  <a:solidFill>
                    <a:srgbClr val="90A4AE"/>
                  </a:solidFill>
                  <a:latin typeface="Arial"/>
                  <a:ea typeface="Arial"/>
                  <a:cs typeface="Arial"/>
                </a:rPr>
                <a:t>Global Healthcare Worker Shortage by 2030</a:t>
              </a:r>
            </a:p>
          </p:txBody>
        </p:sp>
        <p:sp>
          <p:nvSpPr>
            <p:cNvPr id="32" name="TextBox 32"/>
            <p:cNvSpPr txBox="1"/>
            <p:nvPr/>
          </p:nvSpPr>
          <p:spPr>
            <a:xfrm>
              <a:off x="942594" y="5952172"/>
              <a:ext cx="8883987" cy="381381"/>
            </a:xfrm>
            <a:prstGeom prst="rect">
              <a:avLst/>
            </a:prstGeom>
            <a:noFill/>
            <a:ln>
              <a:noFill/>
            </a:ln>
          </p:spPr>
          <p:txBody>
            <a:bodyPr wrap="none" lIns="0" tIns="0" rIns="0" bIns="0" anchor="t" anchorCtr="0">
              <a:spAutoFit/>
            </a:bodyPr>
            <a:lstStyle/>
            <a:p>
              <a:pPr algn="l"/>
              <a:r>
                <a:rPr lang="en-US" sz="1950" b="1" dirty="0">
                  <a:solidFill>
                    <a:srgbClr val="00E5FF"/>
                  </a:solidFill>
                  <a:latin typeface="Georgia"/>
                  <a:ea typeface="Georgia"/>
                  <a:cs typeface="Georgia"/>
                </a:rPr>
                <a:t>18 Million fewer healthcare professionals — AI is not optional.</a:t>
              </a:r>
            </a:p>
          </p:txBody>
        </p:sp>
      </p:grpSp>
      <p:sp>
        <p:nvSpPr>
          <p:cNvPr id="34" name="TextBox 34"/>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01 / 14</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grpSp>
      <p:grpSp>
        <p:nvGrpSpPr>
          <p:cNvPr id="9" name="Group 9"/>
          <p:cNvGrpSpPr/>
          <p:nvPr/>
        </p:nvGrpSpPr>
        <p:grpSpPr>
          <a:xfrm>
            <a:off x="609600" y="163830"/>
            <a:ext cx="10972800" cy="836295"/>
            <a:chOff x="609600" y="163830"/>
            <a:chExt cx="10972800" cy="836295"/>
          </a:xfrm>
        </p:grpSpPr>
        <p:sp>
          <p:nvSpPr>
            <p:cNvPr id="5" name="Rectangle 5"/>
            <p:cNvSpPr/>
            <p:nvPr/>
          </p:nvSpPr>
          <p:spPr>
            <a:xfrm>
              <a:off x="609600" y="304800"/>
              <a:ext cx="38100" cy="533400"/>
            </a:xfrm>
            <a:prstGeom prst="roundRect">
              <a:avLst>
                <a:gd name="adj" fmla="val 50000"/>
              </a:avLst>
            </a:prstGeom>
            <a:gradFill>
              <a:gsLst>
                <a:gs pos="0">
                  <a:srgbClr val="00796B"/>
                </a:gs>
                <a:gs pos="100000">
                  <a:srgbClr val="00E5FF"/>
                </a:gs>
              </a:gsLst>
              <a:lin ang="0" scaled="1"/>
            </a:gradFill>
            <a:ln>
              <a:noFill/>
            </a:ln>
          </p:spPr>
        </p:sp>
        <p:sp>
          <p:nvSpPr>
            <p:cNvPr id="6" name="TextBox 6"/>
            <p:cNvSpPr txBox="1"/>
            <p:nvPr/>
          </p:nvSpPr>
          <p:spPr>
            <a:xfrm>
              <a:off x="781812" y="163830"/>
              <a:ext cx="10594405" cy="704088"/>
            </a:xfrm>
            <a:prstGeom prst="rect">
              <a:avLst/>
            </a:prstGeom>
            <a:noFill/>
            <a:ln>
              <a:noFill/>
            </a:ln>
          </p:spPr>
          <p:txBody>
            <a:bodyPr wrap="none" lIns="0" tIns="0" rIns="0" bIns="0" anchor="t" anchorCtr="0">
              <a:spAutoFit/>
            </a:bodyPr>
            <a:lstStyle/>
            <a:p>
              <a:pPr algn="l"/>
              <a:r>
                <a:rPr lang="en-US" sz="3600" b="1" dirty="0">
                  <a:solidFill>
                    <a:srgbClr val="E8F5E9"/>
                  </a:solidFill>
                  <a:latin typeface="Georgia"/>
                  <a:ea typeface="Georgia"/>
                  <a:cs typeface="Georgia"/>
                </a:rPr>
                <a:t>Four Unsolvable Challenges — Without AI</a:t>
              </a:r>
            </a:p>
          </p:txBody>
        </p:sp>
        <p:sp>
          <p:nvSpPr>
            <p:cNvPr id="7" name="TextBox 7"/>
            <p:cNvSpPr txBox="1"/>
            <p:nvPr/>
          </p:nvSpPr>
          <p:spPr>
            <a:xfrm>
              <a:off x="791718" y="660082"/>
              <a:ext cx="10589726"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Healthcare systems worldwide face simultaneous crises that make AI not optional, but essential.</a:t>
              </a:r>
            </a:p>
          </p:txBody>
        </p:sp>
        <p:sp>
          <p:nvSpPr>
            <p:cNvPr id="8" name="Line 8"/>
            <p:cNvSpPr/>
            <p:nvPr/>
          </p:nvSpPr>
          <p:spPr>
            <a:xfrm>
              <a:off x="609600" y="990600"/>
              <a:ext cx="10972800" cy="9525"/>
            </a:xfrm>
            <a:custGeom>
              <a:avLst/>
              <a:gdLst/>
              <a:ahLst/>
              <a:cxnLst/>
              <a:rect l="l" t="t" r="r" b="b"/>
              <a:pathLst>
                <a:path w="10972800" h="9525">
                  <a:moveTo>
                    <a:pt x="0" y="0"/>
                  </a:moveTo>
                  <a:lnTo>
                    <a:pt x="10972800" y="0"/>
                  </a:lnTo>
                </a:path>
              </a:pathLst>
            </a:custGeom>
            <a:noFill/>
            <a:ln w="9525">
              <a:solidFill>
                <a:srgbClr val="263238"/>
              </a:solidFill>
            </a:ln>
          </p:spPr>
        </p:sp>
      </p:grpSp>
      <p:grpSp>
        <p:nvGrpSpPr>
          <p:cNvPr id="23" name="Group 23"/>
          <p:cNvGrpSpPr/>
          <p:nvPr/>
        </p:nvGrpSpPr>
        <p:grpSpPr>
          <a:xfrm>
            <a:off x="609600" y="1143000"/>
            <a:ext cx="5334000" cy="2438400"/>
            <a:chOff x="609600" y="1143000"/>
            <a:chExt cx="5334000" cy="2438400"/>
          </a:xfrm>
          <a:effectLst>
            <a:outerShdw blurRad="114300" dist="38100" dir="5400000" algn="ctr" rotWithShape="0">
              <a:srgbClr val="00E5FF">
                <a:alpha val="4500"/>
              </a:srgbClr>
            </a:outerShdw>
          </a:effectLst>
        </p:grpSpPr>
        <p:sp>
          <p:nvSpPr>
            <p:cNvPr id="10" name="Rectangle 10"/>
            <p:cNvSpPr/>
            <p:nvPr/>
          </p:nvSpPr>
          <p:spPr>
            <a:xfrm>
              <a:off x="609600" y="1143000"/>
              <a:ext cx="5334000" cy="2438400"/>
            </a:xfrm>
            <a:prstGeom prst="roundRect">
              <a:avLst>
                <a:gd name="adj" fmla="val 3125"/>
              </a:avLst>
            </a:prstGeom>
            <a:solidFill>
              <a:srgbClr val="161B22"/>
            </a:solidFill>
            <a:ln>
              <a:noFill/>
            </a:ln>
            <a:effectLst>
              <a:outerShdw blurRad="114300" dist="38100" dir="5400000" algn="ctr" rotWithShape="0">
                <a:srgbClr val="00E5FF">
                  <a:alpha val="4500"/>
                </a:srgbClr>
              </a:outerShdw>
            </a:effectLst>
          </p:spPr>
        </p:sp>
        <p:sp>
          <p:nvSpPr>
            <p:cNvPr id="11" name="Rectangle 11"/>
            <p:cNvSpPr/>
            <p:nvPr/>
          </p:nvSpPr>
          <p:spPr>
            <a:xfrm>
              <a:off x="609600" y="1143000"/>
              <a:ext cx="5334000" cy="38100"/>
            </a:xfrm>
            <a:prstGeom prst="roundRect">
              <a:avLst>
                <a:gd name="adj" fmla="val 50000"/>
              </a:avLst>
            </a:prstGeom>
            <a:solidFill>
              <a:srgbClr val="FF5252"/>
            </a:solidFill>
            <a:ln>
              <a:noFill/>
            </a:ln>
            <a:effectLst>
              <a:outerShdw blurRad="114300" dist="38100" dir="5400000" algn="ctr" rotWithShape="0">
                <a:srgbClr val="00E5FF">
                  <a:alpha val="4500"/>
                </a:srgbClr>
              </a:outerShdw>
            </a:effectLst>
          </p:spPr>
        </p:sp>
        <p:grpSp>
          <p:nvGrpSpPr>
            <p:cNvPr id="16" name="Group 16"/>
            <p:cNvGrpSpPr/>
            <p:nvPr/>
          </p:nvGrpSpPr>
          <p:grpSpPr>
            <a:xfrm>
              <a:off x="962025" y="1495425"/>
              <a:ext cx="285751" cy="285751"/>
              <a:chOff x="962025" y="1495425"/>
              <a:chExt cx="285751" cy="285751"/>
            </a:xfrm>
          </p:grpSpPr>
          <p:sp>
            <p:nvSpPr>
              <p:cNvPr id="12" name="Freeform 12"/>
              <p:cNvSpPr/>
              <p:nvPr/>
            </p:nvSpPr>
            <p:spPr>
              <a:xfrm>
                <a:off x="993775" y="1495425"/>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19050">
                <a:solidFill>
                  <a:srgbClr val="FF5252"/>
                </a:solidFill>
              </a:ln>
              <a:effectLst>
                <a:outerShdw blurRad="114300" dist="38100" dir="5400000" algn="ctr" rotWithShape="0">
                  <a:srgbClr val="00E5FF">
                    <a:alpha val="4500"/>
                  </a:srgbClr>
                </a:outerShdw>
              </a:effectLst>
            </p:spPr>
          </p:sp>
          <p:sp>
            <p:nvSpPr>
              <p:cNvPr id="13" name="Freeform 13"/>
              <p:cNvSpPr/>
              <p:nvPr/>
            </p:nvSpPr>
            <p:spPr>
              <a:xfrm>
                <a:off x="962025" y="1685925"/>
                <a:ext cx="190500" cy="95250"/>
              </a:xfrm>
              <a:custGeom>
                <a:avLst/>
                <a:gdLst/>
                <a:ahLst/>
                <a:cxnLst/>
                <a:rect l="l" t="t" r="r" b="b"/>
                <a:pathLst>
                  <a:path w="190500" h="95250">
                    <a:moveTo>
                      <a:pt x="0" y="95250"/>
                    </a:moveTo>
                    <a:lnTo>
                      <a:pt x="0" y="63500"/>
                    </a:lnTo>
                    <a:cubicBezTo>
                      <a:pt x="0" y="28430"/>
                      <a:pt x="28430" y="0"/>
                      <a:pt x="63500" y="0"/>
                    </a:cubicBezTo>
                    <a:lnTo>
                      <a:pt x="127000" y="0"/>
                    </a:lnTo>
                    <a:cubicBezTo>
                      <a:pt x="162070" y="0"/>
                      <a:pt x="190500" y="28430"/>
                      <a:pt x="190500" y="63500"/>
                    </a:cubicBezTo>
                    <a:lnTo>
                      <a:pt x="190500" y="95250"/>
                    </a:lnTo>
                  </a:path>
                </a:pathLst>
              </a:custGeom>
              <a:noFill/>
              <a:ln w="19050">
                <a:solidFill>
                  <a:srgbClr val="FF5252"/>
                </a:solidFill>
              </a:ln>
              <a:effectLst>
                <a:outerShdw blurRad="114300" dist="38100" dir="5400000" algn="ctr" rotWithShape="0">
                  <a:srgbClr val="00E5FF">
                    <a:alpha val="4500"/>
                  </a:srgbClr>
                </a:outerShdw>
              </a:effectLst>
            </p:spPr>
          </p:sp>
          <p:sp>
            <p:nvSpPr>
              <p:cNvPr id="14" name="Freeform 14"/>
              <p:cNvSpPr/>
              <p:nvPr/>
            </p:nvSpPr>
            <p:spPr>
              <a:xfrm>
                <a:off x="1168401" y="1497489"/>
                <a:ext cx="47750" cy="123031"/>
              </a:xfrm>
              <a:custGeom>
                <a:avLst/>
                <a:gdLst/>
                <a:ahLst/>
                <a:cxnLst/>
                <a:rect l="l" t="t" r="r" b="b"/>
                <a:pathLst>
                  <a:path w="47750" h="123031">
                    <a:moveTo>
                      <a:pt x="0" y="0"/>
                    </a:moveTo>
                    <a:cubicBezTo>
                      <a:pt x="28097" y="7194"/>
                      <a:pt x="47750" y="32512"/>
                      <a:pt x="47750" y="61516"/>
                    </a:cubicBezTo>
                    <a:cubicBezTo>
                      <a:pt x="47750" y="90520"/>
                      <a:pt x="28097" y="115837"/>
                      <a:pt x="0" y="123031"/>
                    </a:cubicBezTo>
                  </a:path>
                </a:pathLst>
              </a:custGeom>
              <a:noFill/>
              <a:ln w="19050">
                <a:solidFill>
                  <a:srgbClr val="FF5252"/>
                </a:solidFill>
              </a:ln>
              <a:effectLst>
                <a:outerShdw blurRad="114300" dist="38100" dir="5400000" algn="ctr" rotWithShape="0">
                  <a:srgbClr val="00E5FF">
                    <a:alpha val="4500"/>
                  </a:srgbClr>
                </a:outerShdw>
              </a:effectLst>
            </p:spPr>
          </p:sp>
          <p:sp>
            <p:nvSpPr>
              <p:cNvPr id="15" name="Freeform 15"/>
              <p:cNvSpPr/>
              <p:nvPr/>
            </p:nvSpPr>
            <p:spPr>
              <a:xfrm>
                <a:off x="1200151" y="1688307"/>
                <a:ext cx="47625" cy="92869"/>
              </a:xfrm>
              <a:custGeom>
                <a:avLst/>
                <a:gdLst/>
                <a:ahLst/>
                <a:cxnLst/>
                <a:rect l="l" t="t" r="r" b="b"/>
                <a:pathLst>
                  <a:path w="47625" h="92869">
                    <a:moveTo>
                      <a:pt x="47625" y="92869"/>
                    </a:moveTo>
                    <a:lnTo>
                      <a:pt x="47625" y="61119"/>
                    </a:lnTo>
                    <a:cubicBezTo>
                      <a:pt x="47459" y="32299"/>
                      <a:pt x="27905" y="7205"/>
                      <a:pt x="0" y="0"/>
                    </a:cubicBezTo>
                  </a:path>
                </a:pathLst>
              </a:custGeom>
              <a:noFill/>
              <a:ln w="19050">
                <a:solidFill>
                  <a:srgbClr val="FF5252"/>
                </a:solidFill>
              </a:ln>
              <a:effectLst>
                <a:outerShdw blurRad="114300" dist="38100" dir="5400000" algn="ctr" rotWithShape="0">
                  <a:srgbClr val="00E5FF">
                    <a:alpha val="4500"/>
                  </a:srgbClr>
                </a:outerShdw>
              </a:effectLst>
            </p:spPr>
          </p:sp>
        </p:grpSp>
        <p:sp>
          <p:nvSpPr>
            <p:cNvPr id="17" name="TextBox 17"/>
            <p:cNvSpPr txBox="1"/>
            <p:nvPr/>
          </p:nvSpPr>
          <p:spPr>
            <a:xfrm>
              <a:off x="1439418" y="1517332"/>
              <a:ext cx="2329370"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b="1" dirty="0">
                  <a:solidFill>
                    <a:srgbClr val="E8F5E9"/>
                  </a:solidFill>
                  <a:latin typeface="Arial"/>
                  <a:ea typeface="Arial"/>
                  <a:cs typeface="Arial"/>
                </a:rPr>
                <a:t>Workforce Shortage</a:t>
              </a:r>
            </a:p>
          </p:txBody>
        </p:sp>
        <p:sp>
          <p:nvSpPr>
            <p:cNvPr id="18" name="TextBox 18"/>
            <p:cNvSpPr txBox="1"/>
            <p:nvPr/>
          </p:nvSpPr>
          <p:spPr>
            <a:xfrm>
              <a:off x="895350" y="1756410"/>
              <a:ext cx="1447236" cy="819150"/>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4200" b="1" dirty="0">
                  <a:solidFill>
                    <a:srgbClr val="FF5252"/>
                  </a:solidFill>
                  <a:latin typeface="Georgia"/>
                  <a:ea typeface="Georgia"/>
                  <a:cs typeface="Georgia"/>
                </a:rPr>
                <a:t>18M</a:t>
              </a:r>
            </a:p>
          </p:txBody>
        </p:sp>
        <p:sp>
          <p:nvSpPr>
            <p:cNvPr id="19" name="TextBox 19"/>
            <p:cNvSpPr txBox="1"/>
            <p:nvPr/>
          </p:nvSpPr>
          <p:spPr>
            <a:xfrm>
              <a:off x="1896618" y="2031682"/>
              <a:ext cx="1538307"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fewer by 2030</a:t>
              </a:r>
            </a:p>
          </p:txBody>
        </p:sp>
        <p:sp>
          <p:nvSpPr>
            <p:cNvPr id="20" name="TextBox 20"/>
            <p:cNvSpPr txBox="1"/>
            <p:nvPr/>
          </p:nvSpPr>
          <p:spPr>
            <a:xfrm>
              <a:off x="906018" y="2374582"/>
              <a:ext cx="4088805"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Including 5 million fewer doctors than</a:t>
              </a:r>
            </a:p>
          </p:txBody>
        </p:sp>
        <p:sp>
          <p:nvSpPr>
            <p:cNvPr id="21" name="TextBox 21"/>
            <p:cNvSpPr txBox="1"/>
            <p:nvPr/>
          </p:nvSpPr>
          <p:spPr>
            <a:xfrm>
              <a:off x="906018" y="2641282"/>
              <a:ext cx="3115380"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society will require globally.</a:t>
              </a:r>
            </a:p>
          </p:txBody>
        </p:sp>
        <p:sp>
          <p:nvSpPr>
            <p:cNvPr id="22" name="TextBox 22"/>
            <p:cNvSpPr txBox="1"/>
            <p:nvPr/>
          </p:nvSpPr>
          <p:spPr>
            <a:xfrm>
              <a:off x="907542" y="3245168"/>
              <a:ext cx="3649361" cy="264033"/>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350" dirty="0">
                  <a:solidFill>
                    <a:srgbClr val="546E7A"/>
                  </a:solidFill>
                  <a:latin typeface="Arial"/>
                  <a:ea typeface="Arial"/>
                  <a:cs typeface="Arial"/>
                </a:rPr>
                <a:t>Source: World Health Organization, 2021</a:t>
              </a:r>
            </a:p>
          </p:txBody>
        </p:sp>
      </p:grpSp>
      <p:grpSp>
        <p:nvGrpSpPr>
          <p:cNvPr id="35" name="Group 35"/>
          <p:cNvGrpSpPr/>
          <p:nvPr/>
        </p:nvGrpSpPr>
        <p:grpSpPr>
          <a:xfrm>
            <a:off x="6248400" y="1143000"/>
            <a:ext cx="5334000" cy="2438400"/>
            <a:chOff x="6248400" y="1143000"/>
            <a:chExt cx="5334000" cy="2438400"/>
          </a:xfrm>
          <a:effectLst>
            <a:outerShdw blurRad="114300" dist="38100" dir="5400000" algn="ctr" rotWithShape="0">
              <a:srgbClr val="00E5FF">
                <a:alpha val="4500"/>
              </a:srgbClr>
            </a:outerShdw>
          </a:effectLst>
        </p:grpSpPr>
        <p:sp>
          <p:nvSpPr>
            <p:cNvPr id="24" name="Rectangle 24"/>
            <p:cNvSpPr/>
            <p:nvPr/>
          </p:nvSpPr>
          <p:spPr>
            <a:xfrm>
              <a:off x="6248400" y="1143000"/>
              <a:ext cx="5334000" cy="2438400"/>
            </a:xfrm>
            <a:prstGeom prst="roundRect">
              <a:avLst>
                <a:gd name="adj" fmla="val 3125"/>
              </a:avLst>
            </a:prstGeom>
            <a:solidFill>
              <a:srgbClr val="161B22"/>
            </a:solidFill>
            <a:ln>
              <a:noFill/>
            </a:ln>
            <a:effectLst>
              <a:outerShdw blurRad="114300" dist="38100" dir="5400000" algn="ctr" rotWithShape="0">
                <a:srgbClr val="00E5FF">
                  <a:alpha val="4500"/>
                </a:srgbClr>
              </a:outerShdw>
            </a:effectLst>
          </p:spPr>
        </p:sp>
        <p:sp>
          <p:nvSpPr>
            <p:cNvPr id="25" name="Rectangle 25"/>
            <p:cNvSpPr/>
            <p:nvPr/>
          </p:nvSpPr>
          <p:spPr>
            <a:xfrm>
              <a:off x="6248400" y="1143000"/>
              <a:ext cx="5334000" cy="38100"/>
            </a:xfrm>
            <a:prstGeom prst="roundRect">
              <a:avLst>
                <a:gd name="adj" fmla="val 50000"/>
              </a:avLst>
            </a:prstGeom>
            <a:solidFill>
              <a:srgbClr val="F59E0B"/>
            </a:solidFill>
            <a:ln>
              <a:noFill/>
            </a:ln>
            <a:effectLst>
              <a:outerShdw blurRad="114300" dist="38100" dir="5400000" algn="ctr" rotWithShape="0">
                <a:srgbClr val="00E5FF">
                  <a:alpha val="4500"/>
                </a:srgbClr>
              </a:outerShdw>
            </a:effectLst>
          </p:spPr>
        </p:sp>
        <p:grpSp>
          <p:nvGrpSpPr>
            <p:cNvPr id="28" name="Group 28"/>
            <p:cNvGrpSpPr/>
            <p:nvPr/>
          </p:nvGrpSpPr>
          <p:grpSpPr>
            <a:xfrm>
              <a:off x="6600825" y="1558925"/>
              <a:ext cx="285751" cy="158750"/>
              <a:chOff x="6600825" y="1558925"/>
              <a:chExt cx="285751" cy="158750"/>
            </a:xfrm>
          </p:grpSpPr>
          <p:sp>
            <p:nvSpPr>
              <p:cNvPr id="26" name="Freeform 26"/>
              <p:cNvSpPr/>
              <p:nvPr/>
            </p:nvSpPr>
            <p:spPr>
              <a:xfrm>
                <a:off x="6600825" y="1558925"/>
                <a:ext cx="285751" cy="158750"/>
              </a:xfrm>
              <a:custGeom>
                <a:avLst/>
                <a:gdLst/>
                <a:ahLst/>
                <a:cxnLst/>
                <a:rect l="l" t="t" r="r" b="b"/>
                <a:pathLst>
                  <a:path w="285751" h="158750">
                    <a:moveTo>
                      <a:pt x="0" y="158750"/>
                    </a:moveTo>
                    <a:lnTo>
                      <a:pt x="95250" y="63500"/>
                    </a:lnTo>
                    <a:lnTo>
                      <a:pt x="158750" y="127000"/>
                    </a:lnTo>
                    <a:lnTo>
                      <a:pt x="285751" y="0"/>
                    </a:lnTo>
                  </a:path>
                </a:pathLst>
              </a:custGeom>
              <a:noFill/>
              <a:ln w="19050">
                <a:solidFill>
                  <a:srgbClr val="F59E0B"/>
                </a:solidFill>
              </a:ln>
              <a:effectLst>
                <a:outerShdw blurRad="114300" dist="38100" dir="5400000" algn="ctr" rotWithShape="0">
                  <a:srgbClr val="00E5FF">
                    <a:alpha val="4500"/>
                  </a:srgbClr>
                </a:outerShdw>
              </a:effectLst>
            </p:spPr>
          </p:sp>
          <p:sp>
            <p:nvSpPr>
              <p:cNvPr id="27" name="Freeform 27"/>
              <p:cNvSpPr/>
              <p:nvPr/>
            </p:nvSpPr>
            <p:spPr>
              <a:xfrm>
                <a:off x="6775450" y="1558925"/>
                <a:ext cx="111125" cy="111125"/>
              </a:xfrm>
              <a:custGeom>
                <a:avLst/>
                <a:gdLst/>
                <a:ahLst/>
                <a:cxnLst/>
                <a:rect l="l" t="t" r="r" b="b"/>
                <a:pathLst>
                  <a:path w="111125" h="111125">
                    <a:moveTo>
                      <a:pt x="0" y="0"/>
                    </a:moveTo>
                    <a:lnTo>
                      <a:pt x="111125" y="0"/>
                    </a:lnTo>
                    <a:lnTo>
                      <a:pt x="111125" y="111125"/>
                    </a:lnTo>
                  </a:path>
                </a:pathLst>
              </a:custGeom>
              <a:noFill/>
              <a:ln w="19050">
                <a:solidFill>
                  <a:srgbClr val="F59E0B"/>
                </a:solidFill>
              </a:ln>
              <a:effectLst>
                <a:outerShdw blurRad="114300" dist="38100" dir="5400000" algn="ctr" rotWithShape="0">
                  <a:srgbClr val="00E5FF">
                    <a:alpha val="4500"/>
                  </a:srgbClr>
                </a:outerShdw>
              </a:effectLst>
            </p:spPr>
          </p:sp>
        </p:grpSp>
        <p:sp>
          <p:nvSpPr>
            <p:cNvPr id="29" name="TextBox 29"/>
            <p:cNvSpPr txBox="1"/>
            <p:nvPr/>
          </p:nvSpPr>
          <p:spPr>
            <a:xfrm>
              <a:off x="7078218" y="1517332"/>
              <a:ext cx="1651822"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b="1" dirty="0">
                  <a:solidFill>
                    <a:srgbClr val="E8F5E9"/>
                  </a:solidFill>
                  <a:latin typeface="Arial"/>
                  <a:ea typeface="Arial"/>
                  <a:cs typeface="Arial"/>
                </a:rPr>
                <a:t>Cost Explosion</a:t>
              </a:r>
            </a:p>
          </p:txBody>
        </p:sp>
        <p:sp>
          <p:nvSpPr>
            <p:cNvPr id="30" name="TextBox 30"/>
            <p:cNvSpPr txBox="1"/>
            <p:nvPr/>
          </p:nvSpPr>
          <p:spPr>
            <a:xfrm>
              <a:off x="6534150" y="1756410"/>
              <a:ext cx="1198565" cy="819150"/>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4200" b="1" dirty="0">
                  <a:solidFill>
                    <a:srgbClr val="F59E0B"/>
                  </a:solidFill>
                  <a:latin typeface="Georgia"/>
                  <a:ea typeface="Georgia"/>
                  <a:cs typeface="Georgia"/>
                </a:rPr>
                <a:t>40%</a:t>
              </a:r>
            </a:p>
          </p:txBody>
        </p:sp>
        <p:sp>
          <p:nvSpPr>
            <p:cNvPr id="31" name="TextBox 31"/>
            <p:cNvSpPr txBox="1"/>
            <p:nvPr/>
          </p:nvSpPr>
          <p:spPr>
            <a:xfrm>
              <a:off x="7611618" y="2031682"/>
              <a:ext cx="2291220"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CAGR in healthcare AI</a:t>
              </a:r>
            </a:p>
          </p:txBody>
        </p:sp>
        <p:sp>
          <p:nvSpPr>
            <p:cNvPr id="32" name="TextBox 32"/>
            <p:cNvSpPr txBox="1"/>
            <p:nvPr/>
          </p:nvSpPr>
          <p:spPr>
            <a:xfrm>
              <a:off x="6544818" y="2374582"/>
              <a:ext cx="4777095"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Chronic disease burden drives unsustainable</a:t>
              </a:r>
            </a:p>
          </p:txBody>
        </p:sp>
        <p:sp>
          <p:nvSpPr>
            <p:cNvPr id="33" name="TextBox 33"/>
            <p:cNvSpPr txBox="1"/>
            <p:nvPr/>
          </p:nvSpPr>
          <p:spPr>
            <a:xfrm>
              <a:off x="6544818" y="2641282"/>
              <a:ext cx="4881258"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cost trajectories across all health systems.</a:t>
              </a:r>
            </a:p>
          </p:txBody>
        </p:sp>
        <p:sp>
          <p:nvSpPr>
            <p:cNvPr id="34" name="TextBox 34"/>
            <p:cNvSpPr txBox="1"/>
            <p:nvPr/>
          </p:nvSpPr>
          <p:spPr>
            <a:xfrm>
              <a:off x="6546342" y="3245168"/>
              <a:ext cx="3546251" cy="264033"/>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350" dirty="0">
                  <a:solidFill>
                    <a:srgbClr val="546E7A"/>
                  </a:solidFill>
                  <a:latin typeface="Arial"/>
                  <a:ea typeface="Arial"/>
                  <a:cs typeface="Arial"/>
                </a:rPr>
                <a:t>Market projected to reach $45B by 2026</a:t>
              </a:r>
            </a:p>
          </p:txBody>
        </p:sp>
      </p:grpSp>
      <p:grpSp>
        <p:nvGrpSpPr>
          <p:cNvPr id="47" name="Group 47"/>
          <p:cNvGrpSpPr/>
          <p:nvPr/>
        </p:nvGrpSpPr>
        <p:grpSpPr>
          <a:xfrm>
            <a:off x="609600" y="3810000"/>
            <a:ext cx="5334000" cy="2438400"/>
            <a:chOff x="609600" y="3810000"/>
            <a:chExt cx="5334000" cy="2438400"/>
          </a:xfrm>
          <a:effectLst>
            <a:outerShdw blurRad="114300" dist="38100" dir="5400000" algn="ctr" rotWithShape="0">
              <a:srgbClr val="00E5FF">
                <a:alpha val="4500"/>
              </a:srgbClr>
            </a:outerShdw>
          </a:effectLst>
        </p:grpSpPr>
        <p:sp>
          <p:nvSpPr>
            <p:cNvPr id="36" name="Rectangle 36"/>
            <p:cNvSpPr/>
            <p:nvPr/>
          </p:nvSpPr>
          <p:spPr>
            <a:xfrm>
              <a:off x="609600" y="3810000"/>
              <a:ext cx="5334000" cy="2438400"/>
            </a:xfrm>
            <a:prstGeom prst="roundRect">
              <a:avLst>
                <a:gd name="adj" fmla="val 3125"/>
              </a:avLst>
            </a:prstGeom>
            <a:solidFill>
              <a:srgbClr val="161B22"/>
            </a:solidFill>
            <a:ln>
              <a:noFill/>
            </a:ln>
            <a:effectLst>
              <a:outerShdw blurRad="114300" dist="38100" dir="5400000" algn="ctr" rotWithShape="0">
                <a:srgbClr val="00E5FF">
                  <a:alpha val="4500"/>
                </a:srgbClr>
              </a:outerShdw>
            </a:effectLst>
          </p:spPr>
        </p:sp>
        <p:sp>
          <p:nvSpPr>
            <p:cNvPr id="37" name="Rectangle 37"/>
            <p:cNvSpPr/>
            <p:nvPr/>
          </p:nvSpPr>
          <p:spPr>
            <a:xfrm>
              <a:off x="609600" y="3810000"/>
              <a:ext cx="5334000" cy="38100"/>
            </a:xfrm>
            <a:prstGeom prst="roundRect">
              <a:avLst>
                <a:gd name="adj" fmla="val 50000"/>
              </a:avLst>
            </a:prstGeom>
            <a:solidFill>
              <a:srgbClr val="26A69A"/>
            </a:solidFill>
            <a:ln>
              <a:noFill/>
            </a:ln>
            <a:effectLst>
              <a:outerShdw blurRad="114300" dist="38100" dir="5400000" algn="ctr" rotWithShape="0">
                <a:srgbClr val="00E5FF">
                  <a:alpha val="4500"/>
                </a:srgbClr>
              </a:outerShdw>
            </a:effectLst>
          </p:spPr>
        </p:sp>
        <p:grpSp>
          <p:nvGrpSpPr>
            <p:cNvPr id="40" name="Group 40"/>
            <p:cNvGrpSpPr/>
            <p:nvPr/>
          </p:nvGrpSpPr>
          <p:grpSpPr>
            <a:xfrm>
              <a:off x="940601" y="4162425"/>
              <a:ext cx="310011" cy="285751"/>
              <a:chOff x="940601" y="4162425"/>
              <a:chExt cx="310011" cy="285751"/>
            </a:xfrm>
          </p:grpSpPr>
          <p:sp>
            <p:nvSpPr>
              <p:cNvPr id="38" name="Freeform 38"/>
              <p:cNvSpPr/>
              <p:nvPr/>
            </p:nvSpPr>
            <p:spPr>
              <a:xfrm>
                <a:off x="940601" y="416242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19050">
                <a:solidFill>
                  <a:srgbClr val="26A69A"/>
                </a:solidFill>
              </a:ln>
              <a:effectLst>
                <a:outerShdw blurRad="114300" dist="38100" dir="5400000" algn="ctr" rotWithShape="0">
                  <a:srgbClr val="00E5FF">
                    <a:alpha val="4500"/>
                  </a:srgbClr>
                </a:outerShdw>
              </a:effectLst>
            </p:spPr>
          </p:sp>
          <p:sp>
            <p:nvSpPr>
              <p:cNvPr id="39" name="Freeform 39"/>
              <p:cNvSpPr/>
              <p:nvPr/>
            </p:nvSpPr>
            <p:spPr>
              <a:xfrm>
                <a:off x="1152525" y="4384676"/>
                <a:ext cx="95250" cy="63500"/>
              </a:xfrm>
              <a:custGeom>
                <a:avLst/>
                <a:gdLst/>
                <a:ahLst/>
                <a:cxnLst/>
                <a:rect l="l" t="t" r="r" b="b"/>
                <a:pathLst>
                  <a:path w="95250" h="63500">
                    <a:moveTo>
                      <a:pt x="0" y="31750"/>
                    </a:moveTo>
                    <a:lnTo>
                      <a:pt x="31750" y="63500"/>
                    </a:lnTo>
                    <a:lnTo>
                      <a:pt x="95250" y="0"/>
                    </a:lnTo>
                  </a:path>
                </a:pathLst>
              </a:custGeom>
              <a:noFill/>
              <a:ln w="19050">
                <a:solidFill>
                  <a:srgbClr val="26A69A"/>
                </a:solidFill>
              </a:ln>
              <a:effectLst>
                <a:outerShdw blurRad="114300" dist="38100" dir="5400000" algn="ctr" rotWithShape="0">
                  <a:srgbClr val="00E5FF">
                    <a:alpha val="4500"/>
                  </a:srgbClr>
                </a:outerShdw>
              </a:effectLst>
            </p:spPr>
          </p:sp>
        </p:grpSp>
        <p:sp>
          <p:nvSpPr>
            <p:cNvPr id="41" name="TextBox 41"/>
            <p:cNvSpPr txBox="1"/>
            <p:nvPr/>
          </p:nvSpPr>
          <p:spPr>
            <a:xfrm>
              <a:off x="1439418" y="4184332"/>
              <a:ext cx="1780127"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b="1" dirty="0">
                  <a:solidFill>
                    <a:srgbClr val="E8F5E9"/>
                  </a:solidFill>
                  <a:latin typeface="Arial"/>
                  <a:ea typeface="Arial"/>
                  <a:cs typeface="Arial"/>
                </a:rPr>
                <a:t>Access Inequity</a:t>
              </a:r>
            </a:p>
          </p:txBody>
        </p:sp>
        <p:sp>
          <p:nvSpPr>
            <p:cNvPr id="42" name="TextBox 42"/>
            <p:cNvSpPr txBox="1"/>
            <p:nvPr/>
          </p:nvSpPr>
          <p:spPr>
            <a:xfrm>
              <a:off x="895350" y="4423410"/>
              <a:ext cx="1713829" cy="819150"/>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4200" b="1" dirty="0">
                  <a:solidFill>
                    <a:srgbClr val="26A69A"/>
                  </a:solidFill>
                  <a:latin typeface="Georgia"/>
                  <a:ea typeface="Georgia"/>
                  <a:cs typeface="Georgia"/>
                </a:rPr>
                <a:t>2.4B</a:t>
              </a:r>
            </a:p>
          </p:txBody>
        </p:sp>
        <p:sp>
          <p:nvSpPr>
            <p:cNvPr id="43" name="TextBox 43"/>
            <p:cNvSpPr txBox="1"/>
            <p:nvPr/>
          </p:nvSpPr>
          <p:spPr>
            <a:xfrm>
              <a:off x="1991868" y="4698682"/>
              <a:ext cx="2782195"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without specialist access</a:t>
              </a:r>
            </a:p>
          </p:txBody>
        </p:sp>
        <p:sp>
          <p:nvSpPr>
            <p:cNvPr id="44" name="TextBox 44"/>
            <p:cNvSpPr txBox="1"/>
            <p:nvPr/>
          </p:nvSpPr>
          <p:spPr>
            <a:xfrm>
              <a:off x="906018" y="5041582"/>
              <a:ext cx="4431288"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COVID-19 exposed deep inequities in care</a:t>
              </a:r>
            </a:p>
          </p:txBody>
        </p:sp>
        <p:sp>
          <p:nvSpPr>
            <p:cNvPr id="45" name="TextBox 45"/>
            <p:cNvSpPr txBox="1"/>
            <p:nvPr/>
          </p:nvSpPr>
          <p:spPr>
            <a:xfrm>
              <a:off x="906018" y="5308282"/>
              <a:ext cx="4114933"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 specialist care unavailable at scale.</a:t>
              </a:r>
            </a:p>
          </p:txBody>
        </p:sp>
        <p:sp>
          <p:nvSpPr>
            <p:cNvPr id="46" name="TextBox 46"/>
            <p:cNvSpPr txBox="1"/>
            <p:nvPr/>
          </p:nvSpPr>
          <p:spPr>
            <a:xfrm>
              <a:off x="907542" y="5912168"/>
              <a:ext cx="3624640" cy="264033"/>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350" dirty="0">
                  <a:solidFill>
                    <a:srgbClr val="546E7A"/>
                  </a:solidFill>
                  <a:latin typeface="Arial"/>
                  <a:ea typeface="Arial"/>
                  <a:cs typeface="Arial"/>
                </a:rPr>
                <a:t>Source: WHO Global Health Equity Report</a:t>
              </a:r>
            </a:p>
          </p:txBody>
        </p:sp>
      </p:grpSp>
      <p:grpSp>
        <p:nvGrpSpPr>
          <p:cNvPr id="59" name="Group 59"/>
          <p:cNvGrpSpPr/>
          <p:nvPr/>
        </p:nvGrpSpPr>
        <p:grpSpPr>
          <a:xfrm>
            <a:off x="6248400" y="3810000"/>
            <a:ext cx="5334000" cy="2438400"/>
            <a:chOff x="6248400" y="3810000"/>
            <a:chExt cx="5334000" cy="2438400"/>
          </a:xfrm>
          <a:effectLst>
            <a:outerShdw blurRad="114300" dist="38100" dir="5400000" algn="ctr" rotWithShape="0">
              <a:srgbClr val="00E5FF">
                <a:alpha val="4500"/>
              </a:srgbClr>
            </a:outerShdw>
          </a:effectLst>
        </p:grpSpPr>
        <p:sp>
          <p:nvSpPr>
            <p:cNvPr id="48" name="Rectangle 48"/>
            <p:cNvSpPr/>
            <p:nvPr/>
          </p:nvSpPr>
          <p:spPr>
            <a:xfrm>
              <a:off x="6248400" y="3810000"/>
              <a:ext cx="5334000" cy="2438400"/>
            </a:xfrm>
            <a:prstGeom prst="roundRect">
              <a:avLst>
                <a:gd name="adj" fmla="val 3125"/>
              </a:avLst>
            </a:prstGeom>
            <a:solidFill>
              <a:srgbClr val="161B22"/>
            </a:solidFill>
            <a:ln>
              <a:noFill/>
            </a:ln>
            <a:effectLst>
              <a:outerShdw blurRad="114300" dist="38100" dir="5400000" algn="ctr" rotWithShape="0">
                <a:srgbClr val="00E5FF">
                  <a:alpha val="4500"/>
                </a:srgbClr>
              </a:outerShdw>
            </a:effectLst>
          </p:spPr>
        </p:sp>
        <p:sp>
          <p:nvSpPr>
            <p:cNvPr id="49" name="Rectangle 49"/>
            <p:cNvSpPr/>
            <p:nvPr/>
          </p:nvSpPr>
          <p:spPr>
            <a:xfrm>
              <a:off x="6248400" y="3810000"/>
              <a:ext cx="5334000" cy="38100"/>
            </a:xfrm>
            <a:prstGeom prst="roundRect">
              <a:avLst>
                <a:gd name="adj" fmla="val 50000"/>
              </a:avLst>
            </a:prstGeom>
            <a:solidFill>
              <a:srgbClr val="00E5FF"/>
            </a:solidFill>
            <a:ln>
              <a:noFill/>
            </a:ln>
            <a:effectLst>
              <a:outerShdw blurRad="114300" dist="38100" dir="5400000" algn="ctr" rotWithShape="0">
                <a:srgbClr val="00E5FF">
                  <a:alpha val="4500"/>
                </a:srgbClr>
              </a:outerShdw>
            </a:effectLst>
          </p:spPr>
        </p:sp>
        <p:grpSp>
          <p:nvGrpSpPr>
            <p:cNvPr id="52" name="Group 52"/>
            <p:cNvGrpSpPr/>
            <p:nvPr/>
          </p:nvGrpSpPr>
          <p:grpSpPr>
            <a:xfrm>
              <a:off x="6600825" y="4162425"/>
              <a:ext cx="285751" cy="285751"/>
              <a:chOff x="6600825" y="4162425"/>
              <a:chExt cx="285751" cy="285751"/>
            </a:xfrm>
          </p:grpSpPr>
          <p:sp>
            <p:nvSpPr>
              <p:cNvPr id="50" name="Freeform 50"/>
              <p:cNvSpPr/>
              <p:nvPr/>
            </p:nvSpPr>
            <p:spPr>
              <a:xfrm>
                <a:off x="6600825" y="4162425"/>
                <a:ext cx="285751" cy="285751"/>
              </a:xfrm>
              <a:custGeom>
                <a:avLst/>
                <a:gdLst/>
                <a:ahLst/>
                <a:cxnLst/>
                <a:rect l="l" t="t" r="r" b="b"/>
                <a:pathLst>
                  <a:path w="285751" h="285751">
                    <a:moveTo>
                      <a:pt x="0" y="142875"/>
                    </a:moveTo>
                    <a:cubicBezTo>
                      <a:pt x="0" y="221783"/>
                      <a:pt x="63967" y="285751"/>
                      <a:pt x="142875" y="285751"/>
                    </a:cubicBezTo>
                    <a:cubicBezTo>
                      <a:pt x="221783" y="285751"/>
                      <a:pt x="285751" y="221783"/>
                      <a:pt x="285751" y="142875"/>
                    </a:cubicBezTo>
                    <a:cubicBezTo>
                      <a:pt x="285751" y="63967"/>
                      <a:pt x="221783" y="0"/>
                      <a:pt x="142875" y="0"/>
                    </a:cubicBezTo>
                    <a:cubicBezTo>
                      <a:pt x="63967" y="0"/>
                      <a:pt x="0" y="63967"/>
                      <a:pt x="0" y="142875"/>
                    </a:cubicBezTo>
                  </a:path>
                </a:pathLst>
              </a:custGeom>
              <a:noFill/>
              <a:ln w="19050">
                <a:solidFill>
                  <a:srgbClr val="00E5FF"/>
                </a:solidFill>
              </a:ln>
              <a:effectLst>
                <a:outerShdw blurRad="114300" dist="38100" dir="5400000" algn="ctr" rotWithShape="0">
                  <a:srgbClr val="00E5FF">
                    <a:alpha val="4500"/>
                  </a:srgbClr>
                </a:outerShdw>
              </a:effectLst>
            </p:spPr>
          </p:sp>
          <p:sp>
            <p:nvSpPr>
              <p:cNvPr id="51" name="Freeform 51"/>
              <p:cNvSpPr/>
              <p:nvPr/>
            </p:nvSpPr>
            <p:spPr>
              <a:xfrm>
                <a:off x="6743700" y="4225925"/>
                <a:ext cx="47625" cy="127000"/>
              </a:xfrm>
              <a:custGeom>
                <a:avLst/>
                <a:gdLst/>
                <a:ahLst/>
                <a:cxnLst/>
                <a:rect l="l" t="t" r="r" b="b"/>
                <a:pathLst>
                  <a:path w="47625" h="127000">
                    <a:moveTo>
                      <a:pt x="0" y="0"/>
                    </a:moveTo>
                    <a:lnTo>
                      <a:pt x="0" y="79375"/>
                    </a:lnTo>
                    <a:lnTo>
                      <a:pt x="47625" y="127000"/>
                    </a:lnTo>
                  </a:path>
                </a:pathLst>
              </a:custGeom>
              <a:noFill/>
              <a:ln w="19050">
                <a:solidFill>
                  <a:srgbClr val="00E5FF"/>
                </a:solidFill>
              </a:ln>
              <a:effectLst>
                <a:outerShdw blurRad="114300" dist="38100" dir="5400000" algn="ctr" rotWithShape="0">
                  <a:srgbClr val="00E5FF">
                    <a:alpha val="4500"/>
                  </a:srgbClr>
                </a:outerShdw>
              </a:effectLst>
            </p:spPr>
          </p:sp>
        </p:grpSp>
        <p:sp>
          <p:nvSpPr>
            <p:cNvPr id="53" name="TextBox 53"/>
            <p:cNvSpPr txBox="1"/>
            <p:nvPr/>
          </p:nvSpPr>
          <p:spPr>
            <a:xfrm>
              <a:off x="7078218" y="4184332"/>
              <a:ext cx="1978007"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b="1" dirty="0">
                  <a:solidFill>
                    <a:srgbClr val="E8F5E9"/>
                  </a:solidFill>
                  <a:latin typeface="Arial"/>
                  <a:ea typeface="Arial"/>
                  <a:cs typeface="Arial"/>
                </a:rPr>
                <a:t>Diagnostic Delays</a:t>
              </a:r>
            </a:p>
          </p:txBody>
        </p:sp>
        <p:sp>
          <p:nvSpPr>
            <p:cNvPr id="54" name="TextBox 54"/>
            <p:cNvSpPr txBox="1"/>
            <p:nvPr/>
          </p:nvSpPr>
          <p:spPr>
            <a:xfrm>
              <a:off x="6534150" y="4423410"/>
              <a:ext cx="1763116" cy="819150"/>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4200" b="1" dirty="0">
                  <a:solidFill>
                    <a:srgbClr val="00E5FF"/>
                  </a:solidFill>
                  <a:latin typeface="Georgia"/>
                  <a:ea typeface="Georgia"/>
                  <a:cs typeface="Georgia"/>
                </a:rPr>
                <a:t>6–12h</a:t>
              </a:r>
            </a:p>
          </p:txBody>
        </p:sp>
        <p:sp>
          <p:nvSpPr>
            <p:cNvPr id="55" name="TextBox 55"/>
            <p:cNvSpPr txBox="1"/>
            <p:nvPr/>
          </p:nvSpPr>
          <p:spPr>
            <a:xfrm>
              <a:off x="8487918" y="4698682"/>
              <a:ext cx="1871491"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avg. sepsis delay</a:t>
              </a:r>
            </a:p>
          </p:txBody>
        </p:sp>
        <p:sp>
          <p:nvSpPr>
            <p:cNvPr id="56" name="TextBox 56"/>
            <p:cNvSpPr txBox="1"/>
            <p:nvPr/>
          </p:nvSpPr>
          <p:spPr>
            <a:xfrm>
              <a:off x="6544818" y="5041582"/>
              <a:ext cx="4466620"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Overloaded systems create delays where</a:t>
              </a:r>
            </a:p>
          </p:txBody>
        </p:sp>
        <p:sp>
          <p:nvSpPr>
            <p:cNvPr id="57" name="TextBox 57"/>
            <p:cNvSpPr txBox="1"/>
            <p:nvPr/>
          </p:nvSpPr>
          <p:spPr>
            <a:xfrm>
              <a:off x="6544818" y="5308282"/>
              <a:ext cx="4481436" cy="322707"/>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650" dirty="0">
                  <a:solidFill>
                    <a:srgbClr val="90A4AE"/>
                  </a:solidFill>
                  <a:latin typeface="Arial"/>
                  <a:ea typeface="Arial"/>
                  <a:cs typeface="Arial"/>
                </a:rPr>
                <a:t>speed of diagnosis determines outcomes.</a:t>
              </a:r>
            </a:p>
          </p:txBody>
        </p:sp>
        <p:sp>
          <p:nvSpPr>
            <p:cNvPr id="58" name="TextBox 58"/>
            <p:cNvSpPr txBox="1"/>
            <p:nvPr/>
          </p:nvSpPr>
          <p:spPr>
            <a:xfrm>
              <a:off x="6546342" y="5912168"/>
              <a:ext cx="3616566" cy="264033"/>
            </a:xfrm>
            <a:prstGeom prst="rect">
              <a:avLst/>
            </a:prstGeom>
            <a:noFill/>
            <a:ln>
              <a:noFill/>
            </a:ln>
            <a:effectLst>
              <a:outerShdw blurRad="114300" dist="38100" dir="5400000" algn="ctr" rotWithShape="0">
                <a:srgbClr val="00E5FF">
                  <a:alpha val="4500"/>
                </a:srgbClr>
              </a:outerShdw>
            </a:effectLst>
          </p:spPr>
          <p:txBody>
            <a:bodyPr wrap="none" lIns="0" tIns="0" rIns="0" bIns="0" anchor="t" anchorCtr="0">
              <a:spAutoFit/>
            </a:bodyPr>
            <a:lstStyle/>
            <a:p>
              <a:pPr algn="l"/>
              <a:r>
                <a:rPr lang="en-US" sz="1350" dirty="0">
                  <a:solidFill>
                    <a:srgbClr val="546E7A"/>
                  </a:solidFill>
                  <a:latin typeface="Arial"/>
                  <a:ea typeface="Arial"/>
                  <a:cs typeface="Arial"/>
                </a:rPr>
                <a:t>AI can predict sepsis 6-12h before onset</a:t>
              </a:r>
            </a:p>
          </p:txBody>
        </p:sp>
      </p:grpSp>
      <p:grpSp>
        <p:nvGrpSpPr>
          <p:cNvPr id="63" name="Group 63"/>
          <p:cNvGrpSpPr/>
          <p:nvPr/>
        </p:nvGrpSpPr>
        <p:grpSpPr>
          <a:xfrm>
            <a:off x="603504" y="6591300"/>
            <a:ext cx="10984992" cy="276606"/>
            <a:chOff x="603504" y="6591300"/>
            <a:chExt cx="10984992" cy="276606"/>
          </a:xfrm>
        </p:grpSpPr>
        <p:sp>
          <p:nvSpPr>
            <p:cNvPr id="60" name="Line 60"/>
            <p:cNvSpPr/>
            <p:nvPr/>
          </p:nvSpPr>
          <p:spPr>
            <a:xfrm>
              <a:off x="609600" y="659130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61" name="TextBox 61"/>
            <p:cNvSpPr txBox="1"/>
            <p:nvPr/>
          </p:nvSpPr>
          <p:spPr>
            <a:xfrm>
              <a:off x="603504" y="66332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62" name="TextBox 62"/>
            <p:cNvSpPr txBox="1"/>
            <p:nvPr/>
          </p:nvSpPr>
          <p:spPr>
            <a:xfrm>
              <a:off x="11035132" y="66332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02 / 14</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190500"/>
            <a:ext cx="12192000" cy="7239000"/>
            <a:chOff x="0" y="-190500"/>
            <a:chExt cx="12192000" cy="7239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sp>
          <p:nvSpPr>
            <p:cNvPr id="4" name="Ellipse 4"/>
            <p:cNvSpPr/>
            <p:nvPr/>
          </p:nvSpPr>
          <p:spPr>
            <a:xfrm>
              <a:off x="2476500" y="-190500"/>
              <a:ext cx="7239000" cy="7239000"/>
            </a:xfrm>
            <a:prstGeom prst="ellipse">
              <a:avLst/>
            </a:prstGeom>
            <a:gradFill>
              <a:gsLst>
                <a:gs pos="0">
                  <a:srgbClr val="00796B">
                    <a:alpha val="12000"/>
                  </a:srgbClr>
                </a:gs>
                <a:gs pos="100000">
                  <a:srgbClr val="00796B">
                    <a:alpha val="0"/>
                  </a:srgbClr>
                </a:gs>
              </a:gsLst>
              <a:path path="circle">
                <a:fillToRect l="50000" t="50000" r="50000" b="50000"/>
              </a:path>
            </a:gradFill>
            <a:ln>
              <a:noFill/>
            </a:ln>
          </p:spPr>
        </p:sp>
      </p:grpSp>
      <p:grpSp>
        <p:nvGrpSpPr>
          <p:cNvPr id="16" name="Group 16"/>
          <p:cNvGrpSpPr/>
          <p:nvPr/>
        </p:nvGrpSpPr>
        <p:grpSpPr>
          <a:xfrm>
            <a:off x="0" y="0"/>
            <a:ext cx="12192000" cy="6858000"/>
            <a:chOff x="0" y="0"/>
            <a:chExt cx="12192000" cy="6858000"/>
          </a:xfrm>
        </p:grpSpPr>
        <p:sp>
          <p:nvSpPr>
            <p:cNvPr id="6" name="Line 6"/>
            <p:cNvSpPr/>
            <p:nvPr/>
          </p:nvSpPr>
          <p:spPr>
            <a:xfrm>
              <a:off x="0" y="1143000"/>
              <a:ext cx="1905000" cy="9525"/>
            </a:xfrm>
            <a:custGeom>
              <a:avLst/>
              <a:gdLst/>
              <a:ahLst/>
              <a:cxnLst/>
              <a:rect l="l" t="t" r="r" b="b"/>
              <a:pathLst>
                <a:path w="1905000" h="9525">
                  <a:moveTo>
                    <a:pt x="0" y="0"/>
                  </a:moveTo>
                  <a:lnTo>
                    <a:pt x="1905000" y="0"/>
                  </a:lnTo>
                </a:path>
              </a:pathLst>
            </a:custGeom>
            <a:noFill/>
            <a:ln w="9525">
              <a:solidFill>
                <a:srgbClr val="00796B">
                  <a:alpha val="40000"/>
                </a:srgbClr>
              </a:solidFill>
            </a:ln>
          </p:spPr>
        </p:sp>
        <p:sp>
          <p:nvSpPr>
            <p:cNvPr id="7" name="Line 7"/>
            <p:cNvSpPr/>
            <p:nvPr/>
          </p:nvSpPr>
          <p:spPr>
            <a:xfrm>
              <a:off x="1143000" y="0"/>
              <a:ext cx="9525" cy="1905000"/>
            </a:xfrm>
            <a:custGeom>
              <a:avLst/>
              <a:gdLst/>
              <a:ahLst/>
              <a:cxnLst/>
              <a:rect l="l" t="t" r="r" b="b"/>
              <a:pathLst>
                <a:path w="9525" h="1905000">
                  <a:moveTo>
                    <a:pt x="0" y="0"/>
                  </a:moveTo>
                  <a:lnTo>
                    <a:pt x="0" y="1905000"/>
                  </a:lnTo>
                </a:path>
              </a:pathLst>
            </a:custGeom>
            <a:noFill/>
            <a:ln w="9525">
              <a:solidFill>
                <a:srgbClr val="00796B">
                  <a:alpha val="40000"/>
                </a:srgbClr>
              </a:solidFill>
            </a:ln>
          </p:spPr>
        </p:sp>
        <p:sp>
          <p:nvSpPr>
            <p:cNvPr id="8" name="Ellipse 8"/>
            <p:cNvSpPr/>
            <p:nvPr/>
          </p:nvSpPr>
          <p:spPr>
            <a:xfrm>
              <a:off x="1095375" y="1095375"/>
              <a:ext cx="95250" cy="95250"/>
            </a:xfrm>
            <a:prstGeom prst="ellipse">
              <a:avLst/>
            </a:prstGeom>
            <a:solidFill>
              <a:srgbClr val="00E5FF">
                <a:alpha val="50000"/>
              </a:srgbClr>
            </a:solidFill>
            <a:ln>
              <a:noFill/>
            </a:ln>
          </p:spPr>
        </p:sp>
        <p:sp>
          <p:nvSpPr>
            <p:cNvPr id="9" name="Line 9"/>
            <p:cNvSpPr/>
            <p:nvPr/>
          </p:nvSpPr>
          <p:spPr>
            <a:xfrm>
              <a:off x="10287000" y="5715000"/>
              <a:ext cx="1905000" cy="9525"/>
            </a:xfrm>
            <a:custGeom>
              <a:avLst/>
              <a:gdLst/>
              <a:ahLst/>
              <a:cxnLst/>
              <a:rect l="l" t="t" r="r" b="b"/>
              <a:pathLst>
                <a:path w="1905000" h="9525">
                  <a:moveTo>
                    <a:pt x="1905000" y="0"/>
                  </a:moveTo>
                  <a:lnTo>
                    <a:pt x="0" y="0"/>
                  </a:lnTo>
                </a:path>
              </a:pathLst>
            </a:custGeom>
            <a:noFill/>
            <a:ln w="9525">
              <a:solidFill>
                <a:srgbClr val="00796B">
                  <a:alpha val="40000"/>
                </a:srgbClr>
              </a:solidFill>
            </a:ln>
          </p:spPr>
        </p:sp>
        <p:sp>
          <p:nvSpPr>
            <p:cNvPr id="10" name="Line 10"/>
            <p:cNvSpPr/>
            <p:nvPr/>
          </p:nvSpPr>
          <p:spPr>
            <a:xfrm>
              <a:off x="11049000" y="4953000"/>
              <a:ext cx="9525" cy="1905000"/>
            </a:xfrm>
            <a:custGeom>
              <a:avLst/>
              <a:gdLst/>
              <a:ahLst/>
              <a:cxnLst/>
              <a:rect l="l" t="t" r="r" b="b"/>
              <a:pathLst>
                <a:path w="9525" h="1905000">
                  <a:moveTo>
                    <a:pt x="0" y="1905000"/>
                  </a:moveTo>
                  <a:lnTo>
                    <a:pt x="0" y="0"/>
                  </a:lnTo>
                </a:path>
              </a:pathLst>
            </a:custGeom>
            <a:noFill/>
            <a:ln w="9525">
              <a:solidFill>
                <a:srgbClr val="00796B">
                  <a:alpha val="40000"/>
                </a:srgbClr>
              </a:solidFill>
            </a:ln>
          </p:spPr>
        </p:sp>
        <p:sp>
          <p:nvSpPr>
            <p:cNvPr id="11" name="Ellipse 11"/>
            <p:cNvSpPr/>
            <p:nvPr/>
          </p:nvSpPr>
          <p:spPr>
            <a:xfrm>
              <a:off x="11001375" y="5667375"/>
              <a:ext cx="95250" cy="95250"/>
            </a:xfrm>
            <a:prstGeom prst="ellipse">
              <a:avLst/>
            </a:prstGeom>
            <a:solidFill>
              <a:srgbClr val="00E5FF">
                <a:alpha val="50000"/>
              </a:srgbClr>
            </a:solidFill>
            <a:ln>
              <a:noFill/>
            </a:ln>
          </p:spPr>
        </p:sp>
        <p:sp>
          <p:nvSpPr>
            <p:cNvPr id="12" name="Ellipse 12"/>
            <p:cNvSpPr/>
            <p:nvPr/>
          </p:nvSpPr>
          <p:spPr>
            <a:xfrm>
              <a:off x="1881188" y="3405188"/>
              <a:ext cx="47625" cy="47625"/>
            </a:xfrm>
            <a:prstGeom prst="ellipse">
              <a:avLst/>
            </a:prstGeom>
            <a:solidFill>
              <a:srgbClr val="00796B">
                <a:alpha val="40000"/>
              </a:srgbClr>
            </a:solidFill>
            <a:ln>
              <a:noFill/>
            </a:ln>
          </p:spPr>
        </p:sp>
        <p:sp>
          <p:nvSpPr>
            <p:cNvPr id="13" name="Ellipse 13"/>
            <p:cNvSpPr/>
            <p:nvPr/>
          </p:nvSpPr>
          <p:spPr>
            <a:xfrm>
              <a:off x="2081212" y="3605212"/>
              <a:ext cx="28575" cy="28575"/>
            </a:xfrm>
            <a:prstGeom prst="ellipse">
              <a:avLst/>
            </a:prstGeom>
            <a:solidFill>
              <a:srgbClr val="00796B">
                <a:alpha val="30000"/>
              </a:srgbClr>
            </a:solidFill>
            <a:ln>
              <a:noFill/>
            </a:ln>
          </p:spPr>
        </p:sp>
        <p:sp>
          <p:nvSpPr>
            <p:cNvPr id="14" name="Ellipse 14"/>
            <p:cNvSpPr/>
            <p:nvPr/>
          </p:nvSpPr>
          <p:spPr>
            <a:xfrm>
              <a:off x="10263188" y="3214688"/>
              <a:ext cx="47625" cy="47625"/>
            </a:xfrm>
            <a:prstGeom prst="ellipse">
              <a:avLst/>
            </a:prstGeom>
            <a:solidFill>
              <a:srgbClr val="00796B">
                <a:alpha val="40000"/>
              </a:srgbClr>
            </a:solidFill>
            <a:ln>
              <a:noFill/>
            </a:ln>
          </p:spPr>
        </p:sp>
        <p:sp>
          <p:nvSpPr>
            <p:cNvPr id="15" name="Ellipse 15"/>
            <p:cNvSpPr/>
            <p:nvPr/>
          </p:nvSpPr>
          <p:spPr>
            <a:xfrm>
              <a:off x="10082212" y="3414712"/>
              <a:ext cx="28575" cy="28575"/>
            </a:xfrm>
            <a:prstGeom prst="ellipse">
              <a:avLst/>
            </a:prstGeom>
            <a:solidFill>
              <a:srgbClr val="00796B">
                <a:alpha val="30000"/>
              </a:srgbClr>
            </a:solidFill>
            <a:ln>
              <a:noFill/>
            </a:ln>
          </p:spPr>
        </p:sp>
      </p:grpSp>
      <p:grpSp>
        <p:nvGrpSpPr>
          <p:cNvPr id="18" name="Group 18"/>
          <p:cNvGrpSpPr/>
          <p:nvPr/>
        </p:nvGrpSpPr>
        <p:grpSpPr>
          <a:xfrm>
            <a:off x="3859073" y="1276350"/>
            <a:ext cx="4473854" cy="5162550"/>
            <a:chOff x="3859073" y="1276350"/>
            <a:chExt cx="4473854" cy="5162550"/>
          </a:xfrm>
        </p:grpSpPr>
        <p:sp>
          <p:nvSpPr>
            <p:cNvPr id="17" name="TextBox 17"/>
            <p:cNvSpPr txBox="1"/>
            <p:nvPr/>
          </p:nvSpPr>
          <p:spPr>
            <a:xfrm>
              <a:off x="3859073" y="1276350"/>
              <a:ext cx="4473854" cy="5162550"/>
            </a:xfrm>
            <a:prstGeom prst="rect">
              <a:avLst/>
            </a:prstGeom>
            <a:noFill/>
            <a:ln>
              <a:noFill/>
            </a:ln>
          </p:spPr>
          <p:txBody>
            <a:bodyPr wrap="none" lIns="0" tIns="0" rIns="0" bIns="0" anchor="t" anchorCtr="0">
              <a:spAutoFit/>
            </a:bodyPr>
            <a:lstStyle/>
            <a:p>
              <a:pPr algn="ctr"/>
              <a:r>
                <a:rPr lang="en-US" sz="27000" b="1" dirty="0">
                  <a:solidFill>
                    <a:srgbClr val="00796B">
                      <a:alphaMod val="5000"/>
                    </a:srgbClr>
                  </a:solidFill>
                  <a:latin typeface="Georgia"/>
                  <a:ea typeface="Georgia"/>
                  <a:cs typeface="Georgia"/>
                </a:rPr>
                <a:t>01</a:t>
              </a:r>
            </a:p>
          </p:txBody>
        </p:sp>
      </p:grpSp>
      <p:grpSp>
        <p:nvGrpSpPr>
          <p:cNvPr id="33" name="Group 33"/>
          <p:cNvGrpSpPr/>
          <p:nvPr/>
        </p:nvGrpSpPr>
        <p:grpSpPr>
          <a:xfrm>
            <a:off x="2708677" y="2442210"/>
            <a:ext cx="6774645" cy="2472690"/>
            <a:chOff x="2708677" y="2442210"/>
            <a:chExt cx="6774645" cy="2472690"/>
          </a:xfrm>
        </p:grpSpPr>
        <p:sp>
          <p:nvSpPr>
            <p:cNvPr id="19" name="TextBox 19"/>
            <p:cNvSpPr txBox="1"/>
            <p:nvPr/>
          </p:nvSpPr>
          <p:spPr>
            <a:xfrm>
              <a:off x="5383682" y="2442210"/>
              <a:ext cx="1424635" cy="234696"/>
            </a:xfrm>
            <a:prstGeom prst="rect">
              <a:avLst/>
            </a:prstGeom>
            <a:noFill/>
            <a:ln>
              <a:noFill/>
            </a:ln>
          </p:spPr>
          <p:txBody>
            <a:bodyPr wrap="none" lIns="0" tIns="0" rIns="0" bIns="0" anchor="t" anchorCtr="0">
              <a:spAutoFit/>
            </a:bodyPr>
            <a:lstStyle/>
            <a:p>
              <a:pPr algn="ctr"/>
              <a:r>
                <a:rPr lang="en-US" sz="1200" b="1" spc="300" dirty="0">
                  <a:solidFill>
                    <a:srgbClr val="00E5FF">
                      <a:alphaMod val="80000"/>
                    </a:srgbClr>
                  </a:solidFill>
                  <a:latin typeface="Arial"/>
                  <a:ea typeface="Arial"/>
                  <a:cs typeface="Arial"/>
                </a:rPr>
                <a:t>PART 1 OF 4</a:t>
              </a:r>
            </a:p>
          </p:txBody>
        </p:sp>
        <p:sp>
          <p:nvSpPr>
            <p:cNvPr id="20" name="Rectangle 20"/>
            <p:cNvSpPr/>
            <p:nvPr/>
          </p:nvSpPr>
          <p:spPr>
            <a:xfrm>
              <a:off x="5143500" y="2705100"/>
              <a:ext cx="1905000" cy="19050"/>
            </a:xfrm>
            <a:prstGeom prst="roundRect">
              <a:avLst>
                <a:gd name="adj" fmla="val 50000"/>
              </a:avLst>
            </a:prstGeom>
            <a:gradFill>
              <a:gsLst>
                <a:gs pos="0">
                  <a:srgbClr val="00796B"/>
                </a:gs>
                <a:gs pos="100000">
                  <a:srgbClr val="00E5FF"/>
                </a:gs>
              </a:gsLst>
              <a:lin ang="0" scaled="1"/>
            </a:gradFill>
            <a:ln>
              <a:noFill/>
            </a:ln>
          </p:spPr>
        </p:sp>
        <p:sp>
          <p:nvSpPr>
            <p:cNvPr id="21" name="TextBox 21"/>
            <p:cNvSpPr txBox="1"/>
            <p:nvPr/>
          </p:nvSpPr>
          <p:spPr>
            <a:xfrm>
              <a:off x="2738037" y="2807970"/>
              <a:ext cx="6715927" cy="1047750"/>
            </a:xfrm>
            <a:prstGeom prst="rect">
              <a:avLst/>
            </a:prstGeom>
            <a:noFill/>
            <a:ln>
              <a:noFill/>
            </a:ln>
          </p:spPr>
          <p:txBody>
            <a:bodyPr wrap="none" lIns="0" tIns="0" rIns="0" bIns="0" anchor="t" anchorCtr="0">
              <a:spAutoFit/>
            </a:bodyPr>
            <a:lstStyle/>
            <a:p>
              <a:pPr algn="ctr"/>
              <a:r>
                <a:rPr lang="en-US" sz="5400" b="1" dirty="0">
                  <a:solidFill>
                    <a:srgbClr val="E8F5E9"/>
                  </a:solidFill>
                  <a:latin typeface="Georgia"/>
                  <a:ea typeface="Georgia"/>
                  <a:cs typeface="Georgia"/>
                </a:rPr>
                <a:t>The Technologies</a:t>
              </a:r>
            </a:p>
          </p:txBody>
        </p:sp>
        <p:sp>
          <p:nvSpPr>
            <p:cNvPr id="22" name="TextBox 22"/>
            <p:cNvSpPr txBox="1"/>
            <p:nvPr/>
          </p:nvSpPr>
          <p:spPr>
            <a:xfrm>
              <a:off x="2708677" y="3703320"/>
              <a:ext cx="6774645" cy="469392"/>
            </a:xfrm>
            <a:prstGeom prst="rect">
              <a:avLst/>
            </a:prstGeom>
            <a:noFill/>
            <a:ln>
              <a:noFill/>
            </a:ln>
          </p:spPr>
          <p:txBody>
            <a:bodyPr wrap="none" lIns="0" tIns="0" rIns="0" bIns="0" anchor="t" anchorCtr="0">
              <a:spAutoFit/>
            </a:bodyPr>
            <a:lstStyle/>
            <a:p>
              <a:pPr algn="ctr"/>
              <a:r>
                <a:rPr lang="en-US" sz="2400" dirty="0">
                  <a:solidFill>
                    <a:srgbClr val="90A4AE"/>
                  </a:solidFill>
                  <a:latin typeface="Arial"/>
                  <a:ea typeface="Arial"/>
                  <a:cs typeface="Arial"/>
                </a:rPr>
                <a:t>Three AI engine families reshaping medicine</a:t>
              </a:r>
            </a:p>
          </p:txBody>
        </p:sp>
        <p:sp>
          <p:nvSpPr>
            <p:cNvPr id="23" name="Rectangle 23"/>
            <p:cNvSpPr/>
            <p:nvPr/>
          </p:nvSpPr>
          <p:spPr>
            <a:xfrm>
              <a:off x="5143500" y="4152900"/>
              <a:ext cx="1905000" cy="19050"/>
            </a:xfrm>
            <a:prstGeom prst="roundRect">
              <a:avLst>
                <a:gd name="adj" fmla="val 50000"/>
              </a:avLst>
            </a:prstGeom>
            <a:gradFill>
              <a:gsLst>
                <a:gs pos="0">
                  <a:srgbClr val="00796B"/>
                </a:gs>
                <a:gs pos="100000">
                  <a:srgbClr val="00E5FF"/>
                </a:gs>
              </a:gsLst>
              <a:lin ang="0" scaled="1"/>
            </a:gradFill>
            <a:ln>
              <a:noFill/>
            </a:ln>
          </p:spPr>
        </p:sp>
        <p:sp>
          <p:nvSpPr>
            <p:cNvPr id="24" name="Rectangle 24"/>
            <p:cNvSpPr/>
            <p:nvPr/>
          </p:nvSpPr>
          <p:spPr>
            <a:xfrm>
              <a:off x="3238500" y="4495800"/>
              <a:ext cx="1676400" cy="419100"/>
            </a:xfrm>
            <a:prstGeom prst="roundRect">
              <a:avLst>
                <a:gd name="adj" fmla="val 50000"/>
              </a:avLst>
            </a:prstGeom>
            <a:solidFill>
              <a:srgbClr val="1C2333"/>
            </a:solidFill>
            <a:ln>
              <a:noFill/>
            </a:ln>
          </p:spPr>
        </p:sp>
        <p:sp>
          <p:nvSpPr>
            <p:cNvPr id="25" name="Rectangle 25"/>
            <p:cNvSpPr/>
            <p:nvPr/>
          </p:nvSpPr>
          <p:spPr>
            <a:xfrm>
              <a:off x="3238500" y="4495800"/>
              <a:ext cx="1676400" cy="419100"/>
            </a:xfrm>
            <a:prstGeom prst="roundRect">
              <a:avLst>
                <a:gd name="adj" fmla="val 50000"/>
              </a:avLst>
            </a:prstGeom>
            <a:noFill/>
            <a:ln w="9525">
              <a:solidFill>
                <a:srgbClr val="00796B"/>
              </a:solidFill>
            </a:ln>
          </p:spPr>
        </p:sp>
        <p:sp>
          <p:nvSpPr>
            <p:cNvPr id="26" name="TextBox 26"/>
            <p:cNvSpPr txBox="1"/>
            <p:nvPr/>
          </p:nvSpPr>
          <p:spPr>
            <a:xfrm>
              <a:off x="3459866" y="4607242"/>
              <a:ext cx="1233668" cy="264033"/>
            </a:xfrm>
            <a:prstGeom prst="rect">
              <a:avLst/>
            </a:prstGeom>
            <a:noFill/>
            <a:ln>
              <a:noFill/>
            </a:ln>
          </p:spPr>
          <p:txBody>
            <a:bodyPr wrap="none" lIns="0" tIns="0" rIns="0" bIns="0" anchor="t" anchorCtr="0">
              <a:spAutoFit/>
            </a:bodyPr>
            <a:lstStyle/>
            <a:p>
              <a:pPr algn="ctr"/>
              <a:r>
                <a:rPr lang="en-US" sz="1350" dirty="0">
                  <a:solidFill>
                    <a:srgbClr val="26A69A"/>
                  </a:solidFill>
                  <a:latin typeface="Arial"/>
                  <a:ea typeface="Arial"/>
                  <a:cs typeface="Arial"/>
                </a:rPr>
                <a:t>Deep Learning</a:t>
              </a:r>
            </a:p>
          </p:txBody>
        </p:sp>
        <p:sp>
          <p:nvSpPr>
            <p:cNvPr id="27" name="Rectangle 27"/>
            <p:cNvSpPr/>
            <p:nvPr/>
          </p:nvSpPr>
          <p:spPr>
            <a:xfrm>
              <a:off x="5143500" y="4495800"/>
              <a:ext cx="1905000" cy="419100"/>
            </a:xfrm>
            <a:prstGeom prst="roundRect">
              <a:avLst>
                <a:gd name="adj" fmla="val 50000"/>
              </a:avLst>
            </a:prstGeom>
            <a:solidFill>
              <a:srgbClr val="1C2333"/>
            </a:solidFill>
            <a:ln>
              <a:noFill/>
            </a:ln>
          </p:spPr>
        </p:sp>
        <p:sp>
          <p:nvSpPr>
            <p:cNvPr id="28" name="Rectangle 28"/>
            <p:cNvSpPr/>
            <p:nvPr/>
          </p:nvSpPr>
          <p:spPr>
            <a:xfrm>
              <a:off x="5143500" y="4495800"/>
              <a:ext cx="1905000" cy="419100"/>
            </a:xfrm>
            <a:prstGeom prst="roundRect">
              <a:avLst>
                <a:gd name="adj" fmla="val 50000"/>
              </a:avLst>
            </a:prstGeom>
            <a:noFill/>
            <a:ln w="9525">
              <a:solidFill>
                <a:srgbClr val="00796B"/>
              </a:solidFill>
            </a:ln>
          </p:spPr>
        </p:sp>
        <p:sp>
          <p:nvSpPr>
            <p:cNvPr id="29" name="TextBox 29"/>
            <p:cNvSpPr txBox="1"/>
            <p:nvPr/>
          </p:nvSpPr>
          <p:spPr>
            <a:xfrm>
              <a:off x="5383797" y="4607242"/>
              <a:ext cx="1424407" cy="264033"/>
            </a:xfrm>
            <a:prstGeom prst="rect">
              <a:avLst/>
            </a:prstGeom>
            <a:noFill/>
            <a:ln>
              <a:noFill/>
            </a:ln>
          </p:spPr>
          <p:txBody>
            <a:bodyPr wrap="none" lIns="0" tIns="0" rIns="0" bIns="0" anchor="t" anchorCtr="0">
              <a:spAutoFit/>
            </a:bodyPr>
            <a:lstStyle/>
            <a:p>
              <a:pPr algn="ctr"/>
              <a:r>
                <a:rPr lang="en-US" sz="1350" dirty="0">
                  <a:solidFill>
                    <a:srgbClr val="26A69A"/>
                  </a:solidFill>
                  <a:latin typeface="Arial"/>
                  <a:ea typeface="Arial"/>
                  <a:cs typeface="Arial"/>
                </a:rPr>
                <a:t>Computer Vision</a:t>
              </a:r>
            </a:p>
          </p:txBody>
        </p:sp>
        <p:sp>
          <p:nvSpPr>
            <p:cNvPr id="30" name="Rectangle 30"/>
            <p:cNvSpPr/>
            <p:nvPr/>
          </p:nvSpPr>
          <p:spPr>
            <a:xfrm>
              <a:off x="7277100" y="4495800"/>
              <a:ext cx="1676400" cy="419100"/>
            </a:xfrm>
            <a:prstGeom prst="roundRect">
              <a:avLst>
                <a:gd name="adj" fmla="val 50000"/>
              </a:avLst>
            </a:prstGeom>
            <a:solidFill>
              <a:srgbClr val="1C2333"/>
            </a:solidFill>
            <a:ln>
              <a:noFill/>
            </a:ln>
          </p:spPr>
        </p:sp>
        <p:sp>
          <p:nvSpPr>
            <p:cNvPr id="31" name="Rectangle 31"/>
            <p:cNvSpPr/>
            <p:nvPr/>
          </p:nvSpPr>
          <p:spPr>
            <a:xfrm>
              <a:off x="7277100" y="4495800"/>
              <a:ext cx="1676400" cy="419100"/>
            </a:xfrm>
            <a:prstGeom prst="roundRect">
              <a:avLst>
                <a:gd name="adj" fmla="val 50000"/>
              </a:avLst>
            </a:prstGeom>
            <a:noFill/>
            <a:ln w="9525">
              <a:solidFill>
                <a:srgbClr val="00796B"/>
              </a:solidFill>
            </a:ln>
          </p:spPr>
        </p:sp>
        <p:sp>
          <p:nvSpPr>
            <p:cNvPr id="32" name="TextBox 32"/>
            <p:cNvSpPr txBox="1"/>
            <p:nvPr/>
          </p:nvSpPr>
          <p:spPr>
            <a:xfrm>
              <a:off x="7613000" y="4607242"/>
              <a:ext cx="1004599" cy="264033"/>
            </a:xfrm>
            <a:prstGeom prst="rect">
              <a:avLst/>
            </a:prstGeom>
            <a:noFill/>
            <a:ln>
              <a:noFill/>
            </a:ln>
          </p:spPr>
          <p:txBody>
            <a:bodyPr wrap="none" lIns="0" tIns="0" rIns="0" bIns="0" anchor="t" anchorCtr="0">
              <a:spAutoFit/>
            </a:bodyPr>
            <a:lstStyle/>
            <a:p>
              <a:pPr algn="ctr"/>
              <a:r>
                <a:rPr lang="en-US" sz="1350" dirty="0">
                  <a:solidFill>
                    <a:srgbClr val="26A69A"/>
                  </a:solidFill>
                  <a:latin typeface="Arial"/>
                  <a:ea typeface="Arial"/>
                  <a:cs typeface="Arial"/>
                </a:rPr>
                <a:t>NLP &amp; LLMs</a:t>
              </a:r>
            </a:p>
          </p:txBody>
        </p:sp>
      </p:grpSp>
      <p:grpSp>
        <p:nvGrpSpPr>
          <p:cNvPr id="37" name="Group 37"/>
          <p:cNvGrpSpPr/>
          <p:nvPr/>
        </p:nvGrpSpPr>
        <p:grpSpPr>
          <a:xfrm>
            <a:off x="603504" y="6591300"/>
            <a:ext cx="10984992" cy="276606"/>
            <a:chOff x="603504" y="6591300"/>
            <a:chExt cx="10984992" cy="276606"/>
          </a:xfrm>
        </p:grpSpPr>
        <p:sp>
          <p:nvSpPr>
            <p:cNvPr id="34" name="Line 34"/>
            <p:cNvSpPr/>
            <p:nvPr/>
          </p:nvSpPr>
          <p:spPr>
            <a:xfrm>
              <a:off x="609600" y="659130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35" name="TextBox 35"/>
            <p:cNvSpPr txBox="1"/>
            <p:nvPr/>
          </p:nvSpPr>
          <p:spPr>
            <a:xfrm>
              <a:off x="603504" y="66332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36" name="TextBox 36"/>
            <p:cNvSpPr txBox="1"/>
            <p:nvPr/>
          </p:nvSpPr>
          <p:spPr>
            <a:xfrm>
              <a:off x="11035132" y="66332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03 / 14</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grpSp>
      <p:grpSp>
        <p:nvGrpSpPr>
          <p:cNvPr id="9" name="Group 9"/>
          <p:cNvGrpSpPr/>
          <p:nvPr/>
        </p:nvGrpSpPr>
        <p:grpSpPr>
          <a:xfrm>
            <a:off x="609600" y="201930"/>
            <a:ext cx="10972800" cy="817245"/>
            <a:chOff x="609600" y="201930"/>
            <a:chExt cx="10972800" cy="817245"/>
          </a:xfrm>
        </p:grpSpPr>
        <p:sp>
          <p:nvSpPr>
            <p:cNvPr id="5" name="Rectangle 5"/>
            <p:cNvSpPr/>
            <p:nvPr/>
          </p:nvSpPr>
          <p:spPr>
            <a:xfrm>
              <a:off x="609600" y="304800"/>
              <a:ext cx="38100" cy="457200"/>
            </a:xfrm>
            <a:prstGeom prst="roundRect">
              <a:avLst>
                <a:gd name="adj" fmla="val 50000"/>
              </a:avLst>
            </a:prstGeom>
            <a:gradFill>
              <a:gsLst>
                <a:gs pos="0">
                  <a:srgbClr val="00796B"/>
                </a:gs>
                <a:gs pos="100000">
                  <a:srgbClr val="00E5FF"/>
                </a:gs>
              </a:gsLst>
              <a:lin ang="0" scaled="1"/>
            </a:gradFill>
            <a:ln>
              <a:noFill/>
            </a:ln>
          </p:spPr>
        </p:sp>
        <p:sp>
          <p:nvSpPr>
            <p:cNvPr id="6" name="TextBox 6"/>
            <p:cNvSpPr txBox="1"/>
            <p:nvPr/>
          </p:nvSpPr>
          <p:spPr>
            <a:xfrm>
              <a:off x="781812" y="201930"/>
              <a:ext cx="9708825" cy="704088"/>
            </a:xfrm>
            <a:prstGeom prst="rect">
              <a:avLst/>
            </a:prstGeom>
            <a:noFill/>
            <a:ln>
              <a:noFill/>
            </a:ln>
          </p:spPr>
          <p:txBody>
            <a:bodyPr wrap="none" lIns="0" tIns="0" rIns="0" bIns="0" anchor="t" anchorCtr="0">
              <a:spAutoFit/>
            </a:bodyPr>
            <a:lstStyle/>
            <a:p>
              <a:pPr algn="l"/>
              <a:r>
                <a:rPr lang="en-US" sz="3600" b="1" dirty="0">
                  <a:solidFill>
                    <a:srgbClr val="E8F5E9"/>
                  </a:solidFill>
                  <a:latin typeface="Georgia"/>
                  <a:ea typeface="Georgia"/>
                  <a:cs typeface="Georgia"/>
                </a:rPr>
                <a:t>AI in Healthcare: Six Active Domains</a:t>
              </a:r>
            </a:p>
          </p:txBody>
        </p:sp>
        <p:sp>
          <p:nvSpPr>
            <p:cNvPr id="7" name="TextBox 7"/>
            <p:cNvSpPr txBox="1"/>
            <p:nvPr/>
          </p:nvSpPr>
          <p:spPr>
            <a:xfrm>
              <a:off x="791718" y="679132"/>
              <a:ext cx="9649404"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AI is not theoretical — actively deployed across every major dimension of medicine today.</a:t>
              </a:r>
            </a:p>
          </p:txBody>
        </p:sp>
        <p:sp>
          <p:nvSpPr>
            <p:cNvPr id="8" name="Line 8"/>
            <p:cNvSpPr/>
            <p:nvPr/>
          </p:nvSpPr>
          <p:spPr>
            <a:xfrm>
              <a:off x="609600" y="1009650"/>
              <a:ext cx="10972800" cy="9525"/>
            </a:xfrm>
            <a:custGeom>
              <a:avLst/>
              <a:gdLst/>
              <a:ahLst/>
              <a:cxnLst/>
              <a:rect l="l" t="t" r="r" b="b"/>
              <a:pathLst>
                <a:path w="10972800" h="9525">
                  <a:moveTo>
                    <a:pt x="0" y="0"/>
                  </a:moveTo>
                  <a:lnTo>
                    <a:pt x="10972800" y="0"/>
                  </a:lnTo>
                </a:path>
              </a:pathLst>
            </a:custGeom>
            <a:noFill/>
            <a:ln w="9525">
              <a:solidFill>
                <a:srgbClr val="263238"/>
              </a:solidFill>
            </a:ln>
          </p:spPr>
        </p:sp>
      </p:grpSp>
      <p:grpSp>
        <p:nvGrpSpPr>
          <p:cNvPr id="27" name="Group 27"/>
          <p:cNvGrpSpPr/>
          <p:nvPr/>
        </p:nvGrpSpPr>
        <p:grpSpPr>
          <a:xfrm>
            <a:off x="609600" y="1123950"/>
            <a:ext cx="3505200" cy="2457450"/>
            <a:chOff x="609600" y="1123950"/>
            <a:chExt cx="3505200" cy="2457450"/>
          </a:xfrm>
        </p:grpSpPr>
        <p:sp>
          <p:nvSpPr>
            <p:cNvPr id="10" name="Rectangle 10"/>
            <p:cNvSpPr/>
            <p:nvPr/>
          </p:nvSpPr>
          <p:spPr>
            <a:xfrm>
              <a:off x="609600" y="1123950"/>
              <a:ext cx="3505200" cy="2457450"/>
            </a:xfrm>
            <a:prstGeom prst="roundRect">
              <a:avLst>
                <a:gd name="adj" fmla="val 3101"/>
              </a:avLst>
            </a:prstGeom>
            <a:solidFill>
              <a:srgbClr val="161B22"/>
            </a:solidFill>
            <a:ln>
              <a:noFill/>
            </a:ln>
          </p:spPr>
        </p:sp>
        <p:sp>
          <p:nvSpPr>
            <p:cNvPr id="11" name="Rectangle 11"/>
            <p:cNvSpPr/>
            <p:nvPr/>
          </p:nvSpPr>
          <p:spPr>
            <a:xfrm>
              <a:off x="609600" y="1123950"/>
              <a:ext cx="3505200" cy="38100"/>
            </a:xfrm>
            <a:prstGeom prst="roundRect">
              <a:avLst>
                <a:gd name="adj" fmla="val 50000"/>
              </a:avLst>
            </a:prstGeom>
            <a:solidFill>
              <a:srgbClr val="00E5FF"/>
            </a:solidFill>
            <a:ln>
              <a:noFill/>
            </a:ln>
          </p:spPr>
        </p:sp>
        <p:sp>
          <p:nvSpPr>
            <p:cNvPr id="12" name="Rectangle 12"/>
            <p:cNvSpPr/>
            <p:nvPr/>
          </p:nvSpPr>
          <p:spPr>
            <a:xfrm>
              <a:off x="685800" y="1295400"/>
              <a:ext cx="419100" cy="419100"/>
            </a:xfrm>
            <a:prstGeom prst="roundRect">
              <a:avLst>
                <a:gd name="adj" fmla="val 18182"/>
              </a:avLst>
            </a:prstGeom>
            <a:solidFill>
              <a:srgbClr val="1C2333"/>
            </a:solidFill>
            <a:ln>
              <a:noFill/>
            </a:ln>
          </p:spPr>
        </p:sp>
        <p:grpSp>
          <p:nvGrpSpPr>
            <p:cNvPr id="20" name="Group 20"/>
            <p:cNvGrpSpPr/>
            <p:nvPr/>
          </p:nvGrpSpPr>
          <p:grpSpPr>
            <a:xfrm>
              <a:off x="773112" y="1347787"/>
              <a:ext cx="261937" cy="323850"/>
              <a:chOff x="773112" y="1347787"/>
              <a:chExt cx="261937" cy="323850"/>
            </a:xfrm>
          </p:grpSpPr>
          <p:sp>
            <p:nvSpPr>
              <p:cNvPr id="13" name="Freeform 13"/>
              <p:cNvSpPr/>
              <p:nvPr/>
            </p:nvSpPr>
            <p:spPr>
              <a:xfrm>
                <a:off x="773112" y="1662112"/>
                <a:ext cx="244475" cy="9525"/>
              </a:xfrm>
              <a:custGeom>
                <a:avLst/>
                <a:gdLst/>
                <a:ahLst/>
                <a:cxnLst/>
                <a:rect l="l" t="t" r="r" b="b"/>
                <a:pathLst>
                  <a:path w="244475" h="9525">
                    <a:moveTo>
                      <a:pt x="0" y="0"/>
                    </a:moveTo>
                    <a:lnTo>
                      <a:pt x="244475" y="0"/>
                    </a:lnTo>
                  </a:path>
                </a:pathLst>
              </a:custGeom>
              <a:noFill/>
              <a:ln w="19050">
                <a:solidFill>
                  <a:srgbClr val="00E5FF"/>
                </a:solidFill>
              </a:ln>
            </p:spPr>
          </p:sp>
          <p:sp>
            <p:nvSpPr>
              <p:cNvPr id="14" name="Freeform 14"/>
              <p:cNvSpPr/>
              <p:nvPr/>
            </p:nvSpPr>
            <p:spPr>
              <a:xfrm>
                <a:off x="790575" y="1609724"/>
                <a:ext cx="34925" cy="9525"/>
              </a:xfrm>
              <a:custGeom>
                <a:avLst/>
                <a:gdLst/>
                <a:ahLst/>
                <a:cxnLst/>
                <a:rect l="l" t="t" r="r" b="b"/>
                <a:pathLst>
                  <a:path w="34925" h="9525">
                    <a:moveTo>
                      <a:pt x="0" y="0"/>
                    </a:moveTo>
                    <a:lnTo>
                      <a:pt x="34925" y="0"/>
                    </a:lnTo>
                  </a:path>
                </a:pathLst>
              </a:custGeom>
              <a:noFill/>
              <a:ln w="19050">
                <a:solidFill>
                  <a:srgbClr val="00E5FF"/>
                </a:solidFill>
              </a:ln>
            </p:spPr>
          </p:sp>
          <p:sp>
            <p:nvSpPr>
              <p:cNvPr id="15" name="Freeform 15"/>
              <p:cNvSpPr/>
              <p:nvPr/>
            </p:nvSpPr>
            <p:spPr>
              <a:xfrm>
                <a:off x="808037" y="1609724"/>
                <a:ext cx="9525" cy="52387"/>
              </a:xfrm>
              <a:custGeom>
                <a:avLst/>
                <a:gdLst/>
                <a:ahLst/>
                <a:cxnLst/>
                <a:rect l="l" t="t" r="r" b="b"/>
                <a:pathLst>
                  <a:path w="9525" h="52387">
                    <a:moveTo>
                      <a:pt x="0" y="0"/>
                    </a:moveTo>
                    <a:lnTo>
                      <a:pt x="0" y="52387"/>
                    </a:lnTo>
                  </a:path>
                </a:pathLst>
              </a:custGeom>
              <a:noFill/>
              <a:ln w="19050">
                <a:solidFill>
                  <a:srgbClr val="00E5FF"/>
                </a:solidFill>
              </a:ln>
            </p:spPr>
          </p:sp>
          <p:sp>
            <p:nvSpPr>
              <p:cNvPr id="16" name="Freeform 16"/>
              <p:cNvSpPr/>
              <p:nvPr/>
            </p:nvSpPr>
            <p:spPr>
              <a:xfrm>
                <a:off x="842962" y="1382712"/>
                <a:ext cx="157162" cy="157162"/>
              </a:xfrm>
              <a:custGeom>
                <a:avLst/>
                <a:gdLst/>
                <a:ahLst/>
                <a:cxnLst/>
                <a:rect l="l" t="t" r="r" b="b"/>
                <a:pathLst>
                  <a:path w="157162" h="157162">
                    <a:moveTo>
                      <a:pt x="0" y="104775"/>
                    </a:moveTo>
                    <a:lnTo>
                      <a:pt x="52387" y="157162"/>
                    </a:lnTo>
                    <a:lnTo>
                      <a:pt x="157162" y="52387"/>
                    </a:lnTo>
                    <a:lnTo>
                      <a:pt x="104775" y="0"/>
                    </a:lnTo>
                    <a:lnTo>
                      <a:pt x="0" y="104775"/>
                    </a:lnTo>
                  </a:path>
                </a:pathLst>
              </a:custGeom>
              <a:noFill/>
              <a:ln w="19050">
                <a:solidFill>
                  <a:srgbClr val="00E5FF"/>
                </a:solidFill>
              </a:ln>
            </p:spPr>
          </p:sp>
          <p:sp>
            <p:nvSpPr>
              <p:cNvPr id="17" name="Freeform 17"/>
              <p:cNvSpPr/>
              <p:nvPr/>
            </p:nvSpPr>
            <p:spPr>
              <a:xfrm>
                <a:off x="842962" y="1513681"/>
                <a:ext cx="26194" cy="26194"/>
              </a:xfrm>
              <a:custGeom>
                <a:avLst/>
                <a:gdLst/>
                <a:ahLst/>
                <a:cxnLst/>
                <a:rect l="l" t="t" r="r" b="b"/>
                <a:pathLst>
                  <a:path w="26194" h="26194">
                    <a:moveTo>
                      <a:pt x="26194" y="0"/>
                    </a:moveTo>
                    <a:lnTo>
                      <a:pt x="0" y="26194"/>
                    </a:lnTo>
                  </a:path>
                </a:pathLst>
              </a:custGeom>
              <a:noFill/>
              <a:ln w="19050">
                <a:solidFill>
                  <a:srgbClr val="00E5FF"/>
                </a:solidFill>
              </a:ln>
            </p:spPr>
          </p:sp>
          <p:sp>
            <p:nvSpPr>
              <p:cNvPr id="18" name="Freeform 18"/>
              <p:cNvSpPr/>
              <p:nvPr/>
            </p:nvSpPr>
            <p:spPr>
              <a:xfrm>
                <a:off x="982662" y="1347787"/>
                <a:ext cx="52387" cy="52387"/>
              </a:xfrm>
              <a:custGeom>
                <a:avLst/>
                <a:gdLst/>
                <a:ahLst/>
                <a:cxnLst/>
                <a:rect l="l" t="t" r="r" b="b"/>
                <a:pathLst>
                  <a:path w="52387" h="52387">
                    <a:moveTo>
                      <a:pt x="0" y="0"/>
                    </a:moveTo>
                    <a:lnTo>
                      <a:pt x="52387" y="52387"/>
                    </a:lnTo>
                  </a:path>
                </a:pathLst>
              </a:custGeom>
              <a:noFill/>
              <a:ln w="19050">
                <a:solidFill>
                  <a:srgbClr val="00E5FF"/>
                </a:solidFill>
              </a:ln>
            </p:spPr>
          </p:sp>
          <p:sp>
            <p:nvSpPr>
              <p:cNvPr id="19" name="Freeform 19"/>
              <p:cNvSpPr/>
              <p:nvPr/>
            </p:nvSpPr>
            <p:spPr>
              <a:xfrm>
                <a:off x="895350" y="1475054"/>
                <a:ext cx="113626" cy="187062"/>
              </a:xfrm>
              <a:custGeom>
                <a:avLst/>
                <a:gdLst/>
                <a:ahLst/>
                <a:cxnLst/>
                <a:rect l="l" t="t" r="r" b="b"/>
                <a:pathLst>
                  <a:path w="113626" h="187062">
                    <a:moveTo>
                      <a:pt x="0" y="187058"/>
                    </a:moveTo>
                    <a:cubicBezTo>
                      <a:pt x="44637" y="187062"/>
                      <a:pt x="84375" y="158786"/>
                      <a:pt x="99001" y="116614"/>
                    </a:cubicBezTo>
                    <a:cubicBezTo>
                      <a:pt x="113626" y="74441"/>
                      <a:pt x="99928" y="27633"/>
                      <a:pt x="64873" y="0"/>
                    </a:cubicBezTo>
                  </a:path>
                </a:pathLst>
              </a:custGeom>
              <a:noFill/>
              <a:ln w="19050">
                <a:solidFill>
                  <a:srgbClr val="00E5FF"/>
                </a:solidFill>
              </a:ln>
            </p:spPr>
          </p:sp>
        </p:grpSp>
        <p:sp>
          <p:nvSpPr>
            <p:cNvPr id="21" name="TextBox 21"/>
            <p:cNvSpPr txBox="1"/>
            <p:nvPr/>
          </p:nvSpPr>
          <p:spPr>
            <a:xfrm>
              <a:off x="1173480" y="1343025"/>
              <a:ext cx="1596923" cy="293370"/>
            </a:xfrm>
            <a:prstGeom prst="rect">
              <a:avLst/>
            </a:prstGeom>
            <a:noFill/>
            <a:ln>
              <a:noFill/>
            </a:ln>
          </p:spPr>
          <p:txBody>
            <a:bodyPr wrap="none" lIns="0" tIns="0" rIns="0" bIns="0" anchor="t" anchorCtr="0">
              <a:spAutoFit/>
            </a:bodyPr>
            <a:lstStyle/>
            <a:p>
              <a:pPr algn="l"/>
              <a:r>
                <a:rPr lang="en-US" sz="1500" b="1" dirty="0">
                  <a:solidFill>
                    <a:srgbClr val="E8F5E9"/>
                  </a:solidFill>
                  <a:latin typeface="Arial"/>
                  <a:ea typeface="Arial"/>
                  <a:cs typeface="Arial"/>
                </a:rPr>
                <a:t>Medical Imaging</a:t>
              </a:r>
            </a:p>
          </p:txBody>
        </p:sp>
        <p:sp>
          <p:nvSpPr>
            <p:cNvPr id="22" name="TextBox 22"/>
            <p:cNvSpPr txBox="1"/>
            <p:nvPr/>
          </p:nvSpPr>
          <p:spPr>
            <a:xfrm>
              <a:off x="1175766" y="1582102"/>
              <a:ext cx="976122" cy="205359"/>
            </a:xfrm>
            <a:prstGeom prst="rect">
              <a:avLst/>
            </a:prstGeom>
            <a:noFill/>
            <a:ln>
              <a:noFill/>
            </a:ln>
          </p:spPr>
          <p:txBody>
            <a:bodyPr wrap="none" lIns="0" tIns="0" rIns="0" bIns="0" anchor="t" anchorCtr="0">
              <a:spAutoFit/>
            </a:bodyPr>
            <a:lstStyle/>
            <a:p>
              <a:pPr algn="l"/>
              <a:r>
                <a:rPr lang="en-US" sz="1050" spc="75" dirty="0">
                  <a:solidFill>
                    <a:srgbClr val="00E5FF"/>
                  </a:solidFill>
                  <a:latin typeface="Arial"/>
                  <a:ea typeface="Arial"/>
                  <a:cs typeface="Arial"/>
                </a:rPr>
                <a:t>DIAGNOSTICS</a:t>
              </a:r>
            </a:p>
          </p:txBody>
        </p:sp>
        <p:sp>
          <p:nvSpPr>
            <p:cNvPr id="23" name="TextBox 23"/>
            <p:cNvSpPr txBox="1"/>
            <p:nvPr/>
          </p:nvSpPr>
          <p:spPr>
            <a:xfrm>
              <a:off x="678180" y="1952625"/>
              <a:ext cx="2773924"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AI matches radiologist-level</a:t>
              </a:r>
            </a:p>
          </p:txBody>
        </p:sp>
        <p:sp>
          <p:nvSpPr>
            <p:cNvPr id="24" name="TextBox 24"/>
            <p:cNvSpPr txBox="1"/>
            <p:nvPr/>
          </p:nvSpPr>
          <p:spPr>
            <a:xfrm>
              <a:off x="678180" y="2181225"/>
              <a:ext cx="2851685"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accuracy on X-ray, CT, MRI,</a:t>
              </a:r>
            </a:p>
          </p:txBody>
        </p:sp>
        <p:sp>
          <p:nvSpPr>
            <p:cNvPr id="25" name="TextBox 25"/>
            <p:cNvSpPr txBox="1"/>
            <p:nvPr/>
          </p:nvSpPr>
          <p:spPr>
            <a:xfrm>
              <a:off x="678180" y="2409825"/>
              <a:ext cx="293312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retinal, and pathology scans.</a:t>
              </a:r>
            </a:p>
          </p:txBody>
        </p:sp>
        <p:sp>
          <p:nvSpPr>
            <p:cNvPr id="26" name="TextBox 26"/>
            <p:cNvSpPr txBox="1"/>
            <p:nvPr/>
          </p:nvSpPr>
          <p:spPr>
            <a:xfrm>
              <a:off x="679704" y="3280410"/>
              <a:ext cx="2604973" cy="234696"/>
            </a:xfrm>
            <a:prstGeom prst="rect">
              <a:avLst/>
            </a:prstGeom>
            <a:noFill/>
            <a:ln>
              <a:noFill/>
            </a:ln>
          </p:spPr>
          <p:txBody>
            <a:bodyPr wrap="none" lIns="0" tIns="0" rIns="0" bIns="0" anchor="t" anchorCtr="0">
              <a:spAutoFit/>
            </a:bodyPr>
            <a:lstStyle/>
            <a:p>
              <a:pPr algn="l"/>
              <a:r>
                <a:rPr lang="en-US" sz="1200" dirty="0">
                  <a:solidFill>
                    <a:srgbClr val="4CAF50"/>
                  </a:solidFill>
                  <a:latin typeface="Arial"/>
                  <a:ea typeface="Arial"/>
                  <a:cs typeface="Arial"/>
                </a:rPr>
                <a:t>91% sensitivity · 98% specificity</a:t>
              </a:r>
            </a:p>
          </p:txBody>
        </p:sp>
      </p:grpSp>
      <p:grpSp>
        <p:nvGrpSpPr>
          <p:cNvPr id="40" name="Group 40"/>
          <p:cNvGrpSpPr/>
          <p:nvPr/>
        </p:nvGrpSpPr>
        <p:grpSpPr>
          <a:xfrm>
            <a:off x="4343400" y="1123950"/>
            <a:ext cx="3505200" cy="2457450"/>
            <a:chOff x="4343400" y="1123950"/>
            <a:chExt cx="3505200" cy="2457450"/>
          </a:xfrm>
        </p:grpSpPr>
        <p:sp>
          <p:nvSpPr>
            <p:cNvPr id="28" name="Rectangle 28"/>
            <p:cNvSpPr/>
            <p:nvPr/>
          </p:nvSpPr>
          <p:spPr>
            <a:xfrm>
              <a:off x="4343400" y="1123950"/>
              <a:ext cx="3505200" cy="2457450"/>
            </a:xfrm>
            <a:prstGeom prst="roundRect">
              <a:avLst>
                <a:gd name="adj" fmla="val 3101"/>
              </a:avLst>
            </a:prstGeom>
            <a:solidFill>
              <a:srgbClr val="161B22"/>
            </a:solidFill>
            <a:ln>
              <a:noFill/>
            </a:ln>
          </p:spPr>
        </p:sp>
        <p:sp>
          <p:nvSpPr>
            <p:cNvPr id="29" name="Rectangle 29"/>
            <p:cNvSpPr/>
            <p:nvPr/>
          </p:nvSpPr>
          <p:spPr>
            <a:xfrm>
              <a:off x="4343400" y="1123950"/>
              <a:ext cx="3505200" cy="38100"/>
            </a:xfrm>
            <a:prstGeom prst="roundRect">
              <a:avLst>
                <a:gd name="adj" fmla="val 50000"/>
              </a:avLst>
            </a:prstGeom>
            <a:solidFill>
              <a:srgbClr val="26A69A"/>
            </a:solidFill>
            <a:ln>
              <a:noFill/>
            </a:ln>
          </p:spPr>
        </p:sp>
        <p:sp>
          <p:nvSpPr>
            <p:cNvPr id="30" name="Rectangle 30"/>
            <p:cNvSpPr/>
            <p:nvPr/>
          </p:nvSpPr>
          <p:spPr>
            <a:xfrm>
              <a:off x="4419600" y="1295400"/>
              <a:ext cx="419100" cy="419100"/>
            </a:xfrm>
            <a:prstGeom prst="roundRect">
              <a:avLst>
                <a:gd name="adj" fmla="val 18182"/>
              </a:avLst>
            </a:prstGeom>
            <a:solidFill>
              <a:srgbClr val="1C2333"/>
            </a:solidFill>
            <a:ln>
              <a:noFill/>
            </a:ln>
          </p:spPr>
        </p:sp>
        <p:grpSp>
          <p:nvGrpSpPr>
            <p:cNvPr id="33" name="Group 33"/>
            <p:cNvGrpSpPr/>
            <p:nvPr/>
          </p:nvGrpSpPr>
          <p:grpSpPr>
            <a:xfrm>
              <a:off x="4464426" y="1340226"/>
              <a:ext cx="329447" cy="329447"/>
              <a:chOff x="4464426" y="1340226"/>
              <a:chExt cx="329447" cy="329447"/>
            </a:xfrm>
          </p:grpSpPr>
          <p:sp>
            <p:nvSpPr>
              <p:cNvPr id="31" name="Freeform 31"/>
              <p:cNvSpPr/>
              <p:nvPr/>
            </p:nvSpPr>
            <p:spPr>
              <a:xfrm>
                <a:off x="4464426" y="1340226"/>
                <a:ext cx="329447" cy="329447"/>
              </a:xfrm>
              <a:custGeom>
                <a:avLst/>
                <a:gdLst/>
                <a:ahLst/>
                <a:cxnLst/>
                <a:rect l="l" t="t" r="r" b="b"/>
                <a:pathLst>
                  <a:path w="329447" h="329447">
                    <a:moveTo>
                      <a:pt x="33755" y="173455"/>
                    </a:moveTo>
                    <a:lnTo>
                      <a:pt x="173455" y="33755"/>
                    </a:lnTo>
                    <a:cubicBezTo>
                      <a:pt x="207210" y="0"/>
                      <a:pt x="261937" y="0"/>
                      <a:pt x="295692" y="33755"/>
                    </a:cubicBezTo>
                    <a:cubicBezTo>
                      <a:pt x="329447" y="67510"/>
                      <a:pt x="329447" y="122237"/>
                      <a:pt x="295692" y="155992"/>
                    </a:cubicBezTo>
                    <a:lnTo>
                      <a:pt x="155992" y="295692"/>
                    </a:lnTo>
                    <a:cubicBezTo>
                      <a:pt x="122237" y="329447"/>
                      <a:pt x="67510" y="329447"/>
                      <a:pt x="33755" y="295692"/>
                    </a:cubicBezTo>
                    <a:cubicBezTo>
                      <a:pt x="0" y="261937"/>
                      <a:pt x="0" y="207210"/>
                      <a:pt x="33755" y="173455"/>
                    </a:cubicBezTo>
                  </a:path>
                </a:pathLst>
              </a:custGeom>
              <a:noFill/>
              <a:ln w="19050">
                <a:solidFill>
                  <a:srgbClr val="26A69A"/>
                </a:solidFill>
              </a:ln>
            </p:spPr>
          </p:sp>
          <p:sp>
            <p:nvSpPr>
              <p:cNvPr id="32" name="Freeform 32"/>
              <p:cNvSpPr/>
              <p:nvPr/>
            </p:nvSpPr>
            <p:spPr>
              <a:xfrm>
                <a:off x="4568031" y="1443831"/>
                <a:ext cx="122237" cy="122237"/>
              </a:xfrm>
              <a:custGeom>
                <a:avLst/>
                <a:gdLst/>
                <a:ahLst/>
                <a:cxnLst/>
                <a:rect l="l" t="t" r="r" b="b"/>
                <a:pathLst>
                  <a:path w="122237" h="122237">
                    <a:moveTo>
                      <a:pt x="0" y="0"/>
                    </a:moveTo>
                    <a:lnTo>
                      <a:pt x="122237" y="122237"/>
                    </a:lnTo>
                  </a:path>
                </a:pathLst>
              </a:custGeom>
              <a:noFill/>
              <a:ln w="19050">
                <a:solidFill>
                  <a:srgbClr val="26A69A"/>
                </a:solidFill>
              </a:ln>
            </p:spPr>
          </p:sp>
        </p:grpSp>
        <p:sp>
          <p:nvSpPr>
            <p:cNvPr id="34" name="TextBox 34"/>
            <p:cNvSpPr txBox="1"/>
            <p:nvPr/>
          </p:nvSpPr>
          <p:spPr>
            <a:xfrm>
              <a:off x="4907280" y="1343025"/>
              <a:ext cx="1555125" cy="293370"/>
            </a:xfrm>
            <a:prstGeom prst="rect">
              <a:avLst/>
            </a:prstGeom>
            <a:noFill/>
            <a:ln>
              <a:noFill/>
            </a:ln>
          </p:spPr>
          <p:txBody>
            <a:bodyPr wrap="none" lIns="0" tIns="0" rIns="0" bIns="0" anchor="t" anchorCtr="0">
              <a:spAutoFit/>
            </a:bodyPr>
            <a:lstStyle/>
            <a:p>
              <a:pPr algn="l"/>
              <a:r>
                <a:rPr lang="en-US" sz="1500" b="1" dirty="0">
                  <a:solidFill>
                    <a:srgbClr val="E8F5E9"/>
                  </a:solidFill>
                  <a:latin typeface="Arial"/>
                  <a:ea typeface="Arial"/>
                  <a:cs typeface="Arial"/>
                </a:rPr>
                <a:t>Drug Discovery</a:t>
              </a:r>
            </a:p>
          </p:txBody>
        </p:sp>
        <p:sp>
          <p:nvSpPr>
            <p:cNvPr id="35" name="TextBox 35"/>
            <p:cNvSpPr txBox="1"/>
            <p:nvPr/>
          </p:nvSpPr>
          <p:spPr>
            <a:xfrm>
              <a:off x="4909566" y="1582102"/>
              <a:ext cx="920648" cy="205359"/>
            </a:xfrm>
            <a:prstGeom prst="rect">
              <a:avLst/>
            </a:prstGeom>
            <a:noFill/>
            <a:ln>
              <a:noFill/>
            </a:ln>
          </p:spPr>
          <p:txBody>
            <a:bodyPr wrap="none" lIns="0" tIns="0" rIns="0" bIns="0" anchor="t" anchorCtr="0">
              <a:spAutoFit/>
            </a:bodyPr>
            <a:lstStyle/>
            <a:p>
              <a:pPr algn="l"/>
              <a:r>
                <a:rPr lang="en-US" sz="1050" spc="75" dirty="0">
                  <a:solidFill>
                    <a:srgbClr val="26A69A"/>
                  </a:solidFill>
                  <a:latin typeface="Arial"/>
                  <a:ea typeface="Arial"/>
                  <a:cs typeface="Arial"/>
                </a:rPr>
                <a:t>PHARMA R&amp;D</a:t>
              </a:r>
            </a:p>
          </p:txBody>
        </p:sp>
        <p:sp>
          <p:nvSpPr>
            <p:cNvPr id="36" name="TextBox 36"/>
            <p:cNvSpPr txBox="1"/>
            <p:nvPr/>
          </p:nvSpPr>
          <p:spPr>
            <a:xfrm>
              <a:off x="4411980" y="1952625"/>
              <a:ext cx="261671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Reduces development from</a:t>
              </a:r>
            </a:p>
          </p:txBody>
        </p:sp>
        <p:sp>
          <p:nvSpPr>
            <p:cNvPr id="37" name="TextBox 37"/>
            <p:cNvSpPr txBox="1"/>
            <p:nvPr/>
          </p:nvSpPr>
          <p:spPr>
            <a:xfrm>
              <a:off x="4411980" y="2181225"/>
              <a:ext cx="293312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12 years to ~4 years and cuts</a:t>
              </a:r>
            </a:p>
          </p:txBody>
        </p:sp>
        <p:sp>
          <p:nvSpPr>
            <p:cNvPr id="38" name="TextBox 38"/>
            <p:cNvSpPr txBox="1"/>
            <p:nvPr/>
          </p:nvSpPr>
          <p:spPr>
            <a:xfrm>
              <a:off x="4411980" y="2409825"/>
              <a:ext cx="2941821"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costs by up to $26B per drug.</a:t>
              </a:r>
            </a:p>
          </p:txBody>
        </p:sp>
        <p:sp>
          <p:nvSpPr>
            <p:cNvPr id="39" name="TextBox 39"/>
            <p:cNvSpPr txBox="1"/>
            <p:nvPr/>
          </p:nvSpPr>
          <p:spPr>
            <a:xfrm>
              <a:off x="4413504" y="3280410"/>
              <a:ext cx="2533841" cy="234696"/>
            </a:xfrm>
            <a:prstGeom prst="rect">
              <a:avLst/>
            </a:prstGeom>
            <a:noFill/>
            <a:ln>
              <a:noFill/>
            </a:ln>
          </p:spPr>
          <p:txBody>
            <a:bodyPr wrap="none" lIns="0" tIns="0" rIns="0" bIns="0" anchor="t" anchorCtr="0">
              <a:spAutoFit/>
            </a:bodyPr>
            <a:lstStyle/>
            <a:p>
              <a:pPr algn="l"/>
              <a:r>
                <a:rPr lang="en-US" sz="1200" dirty="0">
                  <a:solidFill>
                    <a:srgbClr val="4CAF50"/>
                  </a:solidFill>
                  <a:latin typeface="Arial"/>
                  <a:ea typeface="Arial"/>
                  <a:cs typeface="Arial"/>
                </a:rPr>
                <a:t>AlphaFold solved 200M+ proteins</a:t>
              </a:r>
            </a:p>
          </p:txBody>
        </p:sp>
      </p:grpSp>
      <p:grpSp>
        <p:nvGrpSpPr>
          <p:cNvPr id="56" name="Group 56"/>
          <p:cNvGrpSpPr/>
          <p:nvPr/>
        </p:nvGrpSpPr>
        <p:grpSpPr>
          <a:xfrm>
            <a:off x="8077200" y="1123950"/>
            <a:ext cx="3505200" cy="2457450"/>
            <a:chOff x="8077200" y="1123950"/>
            <a:chExt cx="3505200" cy="2457450"/>
          </a:xfrm>
        </p:grpSpPr>
        <p:sp>
          <p:nvSpPr>
            <p:cNvPr id="41" name="Rectangle 41"/>
            <p:cNvSpPr/>
            <p:nvPr/>
          </p:nvSpPr>
          <p:spPr>
            <a:xfrm>
              <a:off x="8077200" y="1123950"/>
              <a:ext cx="3505200" cy="2457450"/>
            </a:xfrm>
            <a:prstGeom prst="roundRect">
              <a:avLst>
                <a:gd name="adj" fmla="val 3101"/>
              </a:avLst>
            </a:prstGeom>
            <a:solidFill>
              <a:srgbClr val="161B22"/>
            </a:solidFill>
            <a:ln>
              <a:noFill/>
            </a:ln>
          </p:spPr>
        </p:sp>
        <p:sp>
          <p:nvSpPr>
            <p:cNvPr id="42" name="Rectangle 42"/>
            <p:cNvSpPr/>
            <p:nvPr/>
          </p:nvSpPr>
          <p:spPr>
            <a:xfrm>
              <a:off x="8077200" y="1123950"/>
              <a:ext cx="3505200" cy="38100"/>
            </a:xfrm>
            <a:prstGeom prst="roundRect">
              <a:avLst>
                <a:gd name="adj" fmla="val 50000"/>
              </a:avLst>
            </a:prstGeom>
            <a:solidFill>
              <a:srgbClr val="00796B"/>
            </a:solidFill>
            <a:ln>
              <a:noFill/>
            </a:ln>
          </p:spPr>
        </p:sp>
        <p:sp>
          <p:nvSpPr>
            <p:cNvPr id="43" name="Rectangle 43"/>
            <p:cNvSpPr/>
            <p:nvPr/>
          </p:nvSpPr>
          <p:spPr>
            <a:xfrm>
              <a:off x="8153400" y="1295400"/>
              <a:ext cx="419100" cy="419100"/>
            </a:xfrm>
            <a:prstGeom prst="roundRect">
              <a:avLst>
                <a:gd name="adj" fmla="val 18182"/>
              </a:avLst>
            </a:prstGeom>
            <a:solidFill>
              <a:srgbClr val="1C2333"/>
            </a:solidFill>
            <a:ln>
              <a:noFill/>
            </a:ln>
          </p:spPr>
        </p:sp>
        <p:grpSp>
          <p:nvGrpSpPr>
            <p:cNvPr id="49" name="Group 49"/>
            <p:cNvGrpSpPr/>
            <p:nvPr/>
          </p:nvGrpSpPr>
          <p:grpSpPr>
            <a:xfrm>
              <a:off x="8205787" y="1347787"/>
              <a:ext cx="331787" cy="314325"/>
              <a:chOff x="8205787" y="1347787"/>
              <a:chExt cx="331787" cy="314325"/>
            </a:xfrm>
          </p:grpSpPr>
          <p:sp>
            <p:nvSpPr>
              <p:cNvPr id="44" name="Freeform 44"/>
              <p:cNvSpPr/>
              <p:nvPr/>
            </p:nvSpPr>
            <p:spPr>
              <a:xfrm>
                <a:off x="8205787" y="1365250"/>
                <a:ext cx="192087" cy="192087"/>
              </a:xfrm>
              <a:custGeom>
                <a:avLst/>
                <a:gdLst/>
                <a:ahLst/>
                <a:cxnLst/>
                <a:rect l="l" t="t" r="r" b="b"/>
                <a:pathLst>
                  <a:path w="192087" h="192087">
                    <a:moveTo>
                      <a:pt x="52387" y="0"/>
                    </a:moveTo>
                    <a:lnTo>
                      <a:pt x="34925" y="0"/>
                    </a:lnTo>
                    <a:cubicBezTo>
                      <a:pt x="15636" y="0"/>
                      <a:pt x="0" y="15636"/>
                      <a:pt x="0" y="34925"/>
                    </a:cubicBezTo>
                    <a:lnTo>
                      <a:pt x="0" y="96044"/>
                    </a:lnTo>
                    <a:cubicBezTo>
                      <a:pt x="0" y="149087"/>
                      <a:pt x="43000" y="192087"/>
                      <a:pt x="96044" y="192087"/>
                    </a:cubicBezTo>
                    <a:cubicBezTo>
                      <a:pt x="149087" y="192087"/>
                      <a:pt x="192087" y="149087"/>
                      <a:pt x="192087" y="96044"/>
                    </a:cubicBezTo>
                    <a:lnTo>
                      <a:pt x="192087" y="34925"/>
                    </a:lnTo>
                    <a:cubicBezTo>
                      <a:pt x="192087" y="15636"/>
                      <a:pt x="176451" y="0"/>
                      <a:pt x="157162" y="0"/>
                    </a:cubicBezTo>
                    <a:lnTo>
                      <a:pt x="139700" y="0"/>
                    </a:lnTo>
                  </a:path>
                </a:pathLst>
              </a:custGeom>
              <a:noFill/>
              <a:ln w="19050">
                <a:solidFill>
                  <a:srgbClr val="00796B"/>
                </a:solidFill>
              </a:ln>
            </p:spPr>
          </p:sp>
          <p:sp>
            <p:nvSpPr>
              <p:cNvPr id="45" name="Freeform 45"/>
              <p:cNvSpPr/>
              <p:nvPr/>
            </p:nvSpPr>
            <p:spPr>
              <a:xfrm>
                <a:off x="8293100" y="1504950"/>
                <a:ext cx="209550" cy="157162"/>
              </a:xfrm>
              <a:custGeom>
                <a:avLst/>
                <a:gdLst/>
                <a:ahLst/>
                <a:cxnLst/>
                <a:rect l="l" t="t" r="r" b="b"/>
                <a:pathLst>
                  <a:path w="209550" h="157162">
                    <a:moveTo>
                      <a:pt x="0" y="52387"/>
                    </a:moveTo>
                    <a:cubicBezTo>
                      <a:pt x="0" y="110253"/>
                      <a:pt x="46909" y="157162"/>
                      <a:pt x="104775" y="157162"/>
                    </a:cubicBezTo>
                    <a:cubicBezTo>
                      <a:pt x="162640" y="157162"/>
                      <a:pt x="209550" y="110253"/>
                      <a:pt x="209550" y="52387"/>
                    </a:cubicBezTo>
                    <a:lnTo>
                      <a:pt x="209550" y="0"/>
                    </a:lnTo>
                  </a:path>
                </a:pathLst>
              </a:custGeom>
              <a:noFill/>
              <a:ln w="19050">
                <a:solidFill>
                  <a:srgbClr val="00796B"/>
                </a:solidFill>
              </a:ln>
            </p:spPr>
          </p:sp>
          <p:sp>
            <p:nvSpPr>
              <p:cNvPr id="46" name="Freeform 46"/>
              <p:cNvSpPr/>
              <p:nvPr/>
            </p:nvSpPr>
            <p:spPr>
              <a:xfrm>
                <a:off x="8345487" y="1347787"/>
                <a:ext cx="9525" cy="34925"/>
              </a:xfrm>
              <a:custGeom>
                <a:avLst/>
                <a:gdLst/>
                <a:ahLst/>
                <a:cxnLst/>
                <a:rect l="l" t="t" r="r" b="b"/>
                <a:pathLst>
                  <a:path w="9525" h="34925">
                    <a:moveTo>
                      <a:pt x="0" y="0"/>
                    </a:moveTo>
                    <a:lnTo>
                      <a:pt x="0" y="34925"/>
                    </a:lnTo>
                  </a:path>
                </a:pathLst>
              </a:custGeom>
              <a:noFill/>
              <a:ln w="19050">
                <a:solidFill>
                  <a:srgbClr val="00796B"/>
                </a:solidFill>
              </a:ln>
            </p:spPr>
          </p:sp>
          <p:sp>
            <p:nvSpPr>
              <p:cNvPr id="47" name="Freeform 47"/>
              <p:cNvSpPr/>
              <p:nvPr/>
            </p:nvSpPr>
            <p:spPr>
              <a:xfrm>
                <a:off x="8258175" y="1347787"/>
                <a:ext cx="9525" cy="34925"/>
              </a:xfrm>
              <a:custGeom>
                <a:avLst/>
                <a:gdLst/>
                <a:ahLst/>
                <a:cxnLst/>
                <a:rect l="l" t="t" r="r" b="b"/>
                <a:pathLst>
                  <a:path w="9525" h="34925">
                    <a:moveTo>
                      <a:pt x="0" y="0"/>
                    </a:moveTo>
                    <a:lnTo>
                      <a:pt x="0" y="34925"/>
                    </a:lnTo>
                  </a:path>
                </a:pathLst>
              </a:custGeom>
              <a:noFill/>
              <a:ln w="19050">
                <a:solidFill>
                  <a:srgbClr val="00796B"/>
                </a:solidFill>
              </a:ln>
            </p:spPr>
          </p:sp>
          <p:sp>
            <p:nvSpPr>
              <p:cNvPr id="48" name="Freeform 48"/>
              <p:cNvSpPr/>
              <p:nvPr/>
            </p:nvSpPr>
            <p:spPr>
              <a:xfrm>
                <a:off x="8467724" y="1435100"/>
                <a:ext cx="69850" cy="69850"/>
              </a:xfrm>
              <a:custGeom>
                <a:avLst/>
                <a:gdLst/>
                <a:ahLst/>
                <a:cxnLst/>
                <a:rect l="l" t="t" r="r" b="b"/>
                <a:pathLst>
                  <a:path w="69850" h="69850">
                    <a:moveTo>
                      <a:pt x="0" y="34925"/>
                    </a:moveTo>
                    <a:cubicBezTo>
                      <a:pt x="0" y="54213"/>
                      <a:pt x="15636" y="69850"/>
                      <a:pt x="34925" y="69850"/>
                    </a:cubicBezTo>
                    <a:cubicBezTo>
                      <a:pt x="54213" y="69850"/>
                      <a:pt x="69850" y="54213"/>
                      <a:pt x="69850" y="34925"/>
                    </a:cubicBezTo>
                    <a:cubicBezTo>
                      <a:pt x="69850" y="15636"/>
                      <a:pt x="54213" y="0"/>
                      <a:pt x="34925" y="0"/>
                    </a:cubicBezTo>
                    <a:cubicBezTo>
                      <a:pt x="15636" y="0"/>
                      <a:pt x="0" y="15636"/>
                      <a:pt x="0" y="34925"/>
                    </a:cubicBezTo>
                  </a:path>
                </a:pathLst>
              </a:custGeom>
              <a:noFill/>
              <a:ln w="19050">
                <a:solidFill>
                  <a:srgbClr val="00796B"/>
                </a:solidFill>
              </a:ln>
            </p:spPr>
          </p:sp>
        </p:grpSp>
        <p:sp>
          <p:nvSpPr>
            <p:cNvPr id="50" name="TextBox 50"/>
            <p:cNvSpPr txBox="1"/>
            <p:nvPr/>
          </p:nvSpPr>
          <p:spPr>
            <a:xfrm>
              <a:off x="8641080" y="1343025"/>
              <a:ext cx="1638043" cy="293370"/>
            </a:xfrm>
            <a:prstGeom prst="rect">
              <a:avLst/>
            </a:prstGeom>
            <a:noFill/>
            <a:ln>
              <a:noFill/>
            </a:ln>
          </p:spPr>
          <p:txBody>
            <a:bodyPr wrap="none" lIns="0" tIns="0" rIns="0" bIns="0" anchor="t" anchorCtr="0">
              <a:spAutoFit/>
            </a:bodyPr>
            <a:lstStyle/>
            <a:p>
              <a:pPr algn="l"/>
              <a:r>
                <a:rPr lang="en-US" sz="1500" b="1" dirty="0">
                  <a:solidFill>
                    <a:srgbClr val="E8F5E9"/>
                  </a:solidFill>
                  <a:latin typeface="Arial"/>
                  <a:ea typeface="Arial"/>
                  <a:cs typeface="Arial"/>
                </a:rPr>
                <a:t>Clinical Decision</a:t>
              </a:r>
            </a:p>
          </p:txBody>
        </p:sp>
        <p:sp>
          <p:nvSpPr>
            <p:cNvPr id="51" name="TextBox 51"/>
            <p:cNvSpPr txBox="1"/>
            <p:nvPr/>
          </p:nvSpPr>
          <p:spPr>
            <a:xfrm>
              <a:off x="8643366" y="1582102"/>
              <a:ext cx="875843" cy="205359"/>
            </a:xfrm>
            <a:prstGeom prst="rect">
              <a:avLst/>
            </a:prstGeom>
            <a:noFill/>
            <a:ln>
              <a:noFill/>
            </a:ln>
          </p:spPr>
          <p:txBody>
            <a:bodyPr wrap="none" lIns="0" tIns="0" rIns="0" bIns="0" anchor="t" anchorCtr="0">
              <a:spAutoFit/>
            </a:bodyPr>
            <a:lstStyle/>
            <a:p>
              <a:pPr algn="l"/>
              <a:r>
                <a:rPr lang="en-US" sz="1050" spc="75" dirty="0">
                  <a:solidFill>
                    <a:srgbClr val="00796B"/>
                  </a:solidFill>
                  <a:latin typeface="Arial"/>
                  <a:ea typeface="Arial"/>
                  <a:cs typeface="Arial"/>
                </a:rPr>
                <a:t>AI COPILOT</a:t>
              </a:r>
            </a:p>
          </p:txBody>
        </p:sp>
        <p:sp>
          <p:nvSpPr>
            <p:cNvPr id="52" name="TextBox 52"/>
            <p:cNvSpPr txBox="1"/>
            <p:nvPr/>
          </p:nvSpPr>
          <p:spPr>
            <a:xfrm>
              <a:off x="8145780" y="1952625"/>
              <a:ext cx="3051644"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Sepsis prediction 6-12h before</a:t>
              </a:r>
            </a:p>
          </p:txBody>
        </p:sp>
        <p:sp>
          <p:nvSpPr>
            <p:cNvPr id="53" name="TextBox 53"/>
            <p:cNvSpPr txBox="1"/>
            <p:nvPr/>
          </p:nvSpPr>
          <p:spPr>
            <a:xfrm>
              <a:off x="8145780" y="2181225"/>
              <a:ext cx="2468690"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onset; 30%+ reduction in</a:t>
              </a:r>
            </a:p>
          </p:txBody>
        </p:sp>
        <p:sp>
          <p:nvSpPr>
            <p:cNvPr id="54" name="TextBox 54"/>
            <p:cNvSpPr txBox="1"/>
            <p:nvPr/>
          </p:nvSpPr>
          <p:spPr>
            <a:xfrm>
              <a:off x="8145780" y="2409825"/>
              <a:ext cx="2751392"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hospital readmission rates.</a:t>
              </a:r>
            </a:p>
          </p:txBody>
        </p:sp>
        <p:sp>
          <p:nvSpPr>
            <p:cNvPr id="55" name="TextBox 55"/>
            <p:cNvSpPr txBox="1"/>
            <p:nvPr/>
          </p:nvSpPr>
          <p:spPr>
            <a:xfrm>
              <a:off x="8147304" y="3280410"/>
              <a:ext cx="2020272" cy="234696"/>
            </a:xfrm>
            <a:prstGeom prst="rect">
              <a:avLst/>
            </a:prstGeom>
            <a:noFill/>
            <a:ln>
              <a:noFill/>
            </a:ln>
          </p:spPr>
          <p:txBody>
            <a:bodyPr wrap="none" lIns="0" tIns="0" rIns="0" bIns="0" anchor="t" anchorCtr="0">
              <a:spAutoFit/>
            </a:bodyPr>
            <a:lstStyle/>
            <a:p>
              <a:pPr algn="l"/>
              <a:r>
                <a:rPr lang="en-US" sz="1200" dirty="0">
                  <a:solidFill>
                    <a:srgbClr val="4CAF50"/>
                  </a:solidFill>
                  <a:latin typeface="Arial"/>
                  <a:ea typeface="Arial"/>
                  <a:cs typeface="Arial"/>
                </a:rPr>
                <a:t>ICU mortality down 18.2%</a:t>
              </a:r>
            </a:p>
          </p:txBody>
        </p:sp>
      </p:grpSp>
      <p:grpSp>
        <p:nvGrpSpPr>
          <p:cNvPr id="70" name="Group 70"/>
          <p:cNvGrpSpPr/>
          <p:nvPr/>
        </p:nvGrpSpPr>
        <p:grpSpPr>
          <a:xfrm>
            <a:off x="609600" y="3771900"/>
            <a:ext cx="3505200" cy="2457450"/>
            <a:chOff x="609600" y="3771900"/>
            <a:chExt cx="3505200" cy="2457450"/>
          </a:xfrm>
        </p:grpSpPr>
        <p:sp>
          <p:nvSpPr>
            <p:cNvPr id="57" name="Rectangle 57"/>
            <p:cNvSpPr/>
            <p:nvPr/>
          </p:nvSpPr>
          <p:spPr>
            <a:xfrm>
              <a:off x="609600" y="3771900"/>
              <a:ext cx="3505200" cy="2457450"/>
            </a:xfrm>
            <a:prstGeom prst="roundRect">
              <a:avLst>
                <a:gd name="adj" fmla="val 3101"/>
              </a:avLst>
            </a:prstGeom>
            <a:solidFill>
              <a:srgbClr val="161B22"/>
            </a:solidFill>
            <a:ln>
              <a:noFill/>
            </a:ln>
          </p:spPr>
        </p:sp>
        <p:sp>
          <p:nvSpPr>
            <p:cNvPr id="58" name="Rectangle 58"/>
            <p:cNvSpPr/>
            <p:nvPr/>
          </p:nvSpPr>
          <p:spPr>
            <a:xfrm>
              <a:off x="609600" y="3771900"/>
              <a:ext cx="3505200" cy="38100"/>
            </a:xfrm>
            <a:prstGeom prst="roundRect">
              <a:avLst>
                <a:gd name="adj" fmla="val 50000"/>
              </a:avLst>
            </a:prstGeom>
            <a:solidFill>
              <a:srgbClr val="F59E0B"/>
            </a:solidFill>
            <a:ln>
              <a:noFill/>
            </a:ln>
          </p:spPr>
        </p:sp>
        <p:sp>
          <p:nvSpPr>
            <p:cNvPr id="59" name="Rectangle 59"/>
            <p:cNvSpPr/>
            <p:nvPr/>
          </p:nvSpPr>
          <p:spPr>
            <a:xfrm>
              <a:off x="685800" y="3943350"/>
              <a:ext cx="419100" cy="419100"/>
            </a:xfrm>
            <a:prstGeom prst="roundRect">
              <a:avLst>
                <a:gd name="adj" fmla="val 18182"/>
              </a:avLst>
            </a:prstGeom>
            <a:solidFill>
              <a:srgbClr val="1C2333"/>
            </a:solidFill>
            <a:ln>
              <a:noFill/>
            </a:ln>
          </p:spPr>
        </p:sp>
        <p:grpSp>
          <p:nvGrpSpPr>
            <p:cNvPr id="63" name="Group 63"/>
            <p:cNvGrpSpPr/>
            <p:nvPr/>
          </p:nvGrpSpPr>
          <p:grpSpPr>
            <a:xfrm>
              <a:off x="747181" y="4004731"/>
              <a:ext cx="296338" cy="296338"/>
              <a:chOff x="747181" y="4004731"/>
              <a:chExt cx="296338" cy="296338"/>
            </a:xfrm>
          </p:grpSpPr>
          <p:sp>
            <p:nvSpPr>
              <p:cNvPr id="60" name="Freeform 60"/>
              <p:cNvSpPr/>
              <p:nvPr/>
            </p:nvSpPr>
            <p:spPr>
              <a:xfrm>
                <a:off x="819495" y="4078076"/>
                <a:ext cx="150679" cy="150679"/>
              </a:xfrm>
              <a:custGeom>
                <a:avLst/>
                <a:gdLst/>
                <a:ahLst/>
                <a:cxnLst/>
                <a:rect l="l" t="t" r="r" b="b"/>
                <a:pathLst>
                  <a:path w="150679" h="150679">
                    <a:moveTo>
                      <a:pt x="125239" y="124208"/>
                    </a:moveTo>
                    <a:cubicBezTo>
                      <a:pt x="143397" y="106670"/>
                      <a:pt x="150679" y="80700"/>
                      <a:pt x="144287" y="56278"/>
                    </a:cubicBezTo>
                    <a:cubicBezTo>
                      <a:pt x="137894" y="31857"/>
                      <a:pt x="118822" y="12785"/>
                      <a:pt x="94401" y="6392"/>
                    </a:cubicBezTo>
                    <a:cubicBezTo>
                      <a:pt x="69979" y="0"/>
                      <a:pt x="44009" y="7282"/>
                      <a:pt x="26471" y="25440"/>
                    </a:cubicBezTo>
                    <a:cubicBezTo>
                      <a:pt x="0" y="52848"/>
                      <a:pt x="379" y="96414"/>
                      <a:pt x="27322" y="123357"/>
                    </a:cubicBezTo>
                    <a:cubicBezTo>
                      <a:pt x="54265" y="150301"/>
                      <a:pt x="97831" y="150679"/>
                      <a:pt x="125239" y="124208"/>
                    </a:cubicBezTo>
                  </a:path>
                </a:pathLst>
              </a:custGeom>
              <a:noFill/>
              <a:ln w="19050">
                <a:solidFill>
                  <a:srgbClr val="F59E0B"/>
                </a:solidFill>
              </a:ln>
            </p:spPr>
          </p:sp>
          <p:sp>
            <p:nvSpPr>
              <p:cNvPr id="61" name="Freeform 61"/>
              <p:cNvSpPr/>
              <p:nvPr/>
            </p:nvSpPr>
            <p:spPr>
              <a:xfrm>
                <a:off x="747181" y="4175005"/>
                <a:ext cx="126064" cy="126064"/>
              </a:xfrm>
              <a:custGeom>
                <a:avLst/>
                <a:gdLst/>
                <a:ahLst/>
                <a:cxnLst/>
                <a:rect l="l" t="t" r="r" b="b"/>
                <a:pathLst>
                  <a:path w="126064" h="126064">
                    <a:moveTo>
                      <a:pt x="98785" y="126064"/>
                    </a:moveTo>
                    <a:cubicBezTo>
                      <a:pt x="126064" y="98785"/>
                      <a:pt x="126064" y="54558"/>
                      <a:pt x="98785" y="27279"/>
                    </a:cubicBezTo>
                    <a:cubicBezTo>
                      <a:pt x="71506" y="0"/>
                      <a:pt x="27279" y="0"/>
                      <a:pt x="0" y="27279"/>
                    </a:cubicBezTo>
                  </a:path>
                </a:pathLst>
              </a:custGeom>
              <a:noFill/>
              <a:ln w="19050">
                <a:solidFill>
                  <a:srgbClr val="F59E0B"/>
                </a:solidFill>
              </a:ln>
            </p:spPr>
          </p:sp>
          <p:sp>
            <p:nvSpPr>
              <p:cNvPr id="62" name="Freeform 62"/>
              <p:cNvSpPr/>
              <p:nvPr/>
            </p:nvSpPr>
            <p:spPr>
              <a:xfrm>
                <a:off x="917455" y="4004731"/>
                <a:ext cx="126064" cy="126064"/>
              </a:xfrm>
              <a:custGeom>
                <a:avLst/>
                <a:gdLst/>
                <a:ahLst/>
                <a:cxnLst/>
                <a:rect l="l" t="t" r="r" b="b"/>
                <a:pathLst>
                  <a:path w="126064" h="126064">
                    <a:moveTo>
                      <a:pt x="27279" y="0"/>
                    </a:moveTo>
                    <a:cubicBezTo>
                      <a:pt x="0" y="27279"/>
                      <a:pt x="0" y="71506"/>
                      <a:pt x="27279" y="98785"/>
                    </a:cubicBezTo>
                    <a:cubicBezTo>
                      <a:pt x="54558" y="126064"/>
                      <a:pt x="98785" y="126064"/>
                      <a:pt x="126064" y="98785"/>
                    </a:cubicBezTo>
                  </a:path>
                </a:pathLst>
              </a:custGeom>
              <a:noFill/>
              <a:ln w="19050">
                <a:solidFill>
                  <a:srgbClr val="F59E0B"/>
                </a:solidFill>
              </a:ln>
            </p:spPr>
          </p:sp>
        </p:grpSp>
        <p:sp>
          <p:nvSpPr>
            <p:cNvPr id="64" name="TextBox 64"/>
            <p:cNvSpPr txBox="1"/>
            <p:nvPr/>
          </p:nvSpPr>
          <p:spPr>
            <a:xfrm>
              <a:off x="1173480" y="3990975"/>
              <a:ext cx="2138952" cy="293370"/>
            </a:xfrm>
            <a:prstGeom prst="rect">
              <a:avLst/>
            </a:prstGeom>
            <a:noFill/>
            <a:ln>
              <a:noFill/>
            </a:ln>
          </p:spPr>
          <p:txBody>
            <a:bodyPr wrap="none" lIns="0" tIns="0" rIns="0" bIns="0" anchor="t" anchorCtr="0">
              <a:spAutoFit/>
            </a:bodyPr>
            <a:lstStyle/>
            <a:p>
              <a:pPr algn="l"/>
              <a:r>
                <a:rPr lang="en-US" sz="1500" b="1" dirty="0">
                  <a:solidFill>
                    <a:srgbClr val="E8F5E9"/>
                  </a:solidFill>
                  <a:latin typeface="Arial"/>
                  <a:ea typeface="Arial"/>
                  <a:cs typeface="Arial"/>
                </a:rPr>
                <a:t>Genomics &amp; Precision</a:t>
              </a:r>
            </a:p>
          </p:txBody>
        </p:sp>
        <p:sp>
          <p:nvSpPr>
            <p:cNvPr id="65" name="TextBox 65"/>
            <p:cNvSpPr txBox="1"/>
            <p:nvPr/>
          </p:nvSpPr>
          <p:spPr>
            <a:xfrm>
              <a:off x="1175766" y="4230052"/>
              <a:ext cx="1859432" cy="205359"/>
            </a:xfrm>
            <a:prstGeom prst="rect">
              <a:avLst/>
            </a:prstGeom>
            <a:noFill/>
            <a:ln>
              <a:noFill/>
            </a:ln>
          </p:spPr>
          <p:txBody>
            <a:bodyPr wrap="none" lIns="0" tIns="0" rIns="0" bIns="0" anchor="t" anchorCtr="0">
              <a:spAutoFit/>
            </a:bodyPr>
            <a:lstStyle/>
            <a:p>
              <a:pPr algn="l"/>
              <a:r>
                <a:rPr lang="en-US" sz="1050" spc="75" dirty="0">
                  <a:solidFill>
                    <a:srgbClr val="F59E0B"/>
                  </a:solidFill>
                  <a:latin typeface="Arial"/>
                  <a:ea typeface="Arial"/>
                  <a:cs typeface="Arial"/>
                </a:rPr>
                <a:t>PERSONALIZED MEDICINE</a:t>
              </a:r>
            </a:p>
          </p:txBody>
        </p:sp>
        <p:sp>
          <p:nvSpPr>
            <p:cNvPr id="66" name="TextBox 66"/>
            <p:cNvSpPr txBox="1"/>
            <p:nvPr/>
          </p:nvSpPr>
          <p:spPr>
            <a:xfrm>
              <a:off x="678180" y="4600575"/>
              <a:ext cx="319218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Analyzing genomic data to match</a:t>
              </a:r>
            </a:p>
          </p:txBody>
        </p:sp>
        <p:sp>
          <p:nvSpPr>
            <p:cNvPr id="67" name="TextBox 67"/>
            <p:cNvSpPr txBox="1"/>
            <p:nvPr/>
          </p:nvSpPr>
          <p:spPr>
            <a:xfrm>
              <a:off x="678180" y="4829175"/>
              <a:ext cx="3266313"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treatments to individual profiles</a:t>
              </a:r>
            </a:p>
          </p:txBody>
        </p:sp>
        <p:sp>
          <p:nvSpPr>
            <p:cNvPr id="68" name="TextBox 68"/>
            <p:cNvSpPr txBox="1"/>
            <p:nvPr/>
          </p:nvSpPr>
          <p:spPr>
            <a:xfrm>
              <a:off x="678180" y="5057775"/>
              <a:ext cx="2953322"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 pharmacogenomics at scale.</a:t>
              </a:r>
            </a:p>
          </p:txBody>
        </p:sp>
        <p:sp>
          <p:nvSpPr>
            <p:cNvPr id="69" name="TextBox 69"/>
            <p:cNvSpPr txBox="1"/>
            <p:nvPr/>
          </p:nvSpPr>
          <p:spPr>
            <a:xfrm>
              <a:off x="679704" y="5928360"/>
              <a:ext cx="3084786" cy="234696"/>
            </a:xfrm>
            <a:prstGeom prst="rect">
              <a:avLst/>
            </a:prstGeom>
            <a:noFill/>
            <a:ln>
              <a:noFill/>
            </a:ln>
          </p:spPr>
          <p:txBody>
            <a:bodyPr wrap="none" lIns="0" tIns="0" rIns="0" bIns="0" anchor="t" anchorCtr="0">
              <a:spAutoFit/>
            </a:bodyPr>
            <a:lstStyle/>
            <a:p>
              <a:pPr algn="l"/>
              <a:r>
                <a:rPr lang="en-US" sz="1200" dirty="0">
                  <a:solidFill>
                    <a:srgbClr val="4CAF50"/>
                  </a:solidFill>
                  <a:latin typeface="Arial"/>
                  <a:ea typeface="Arial"/>
                  <a:cs typeface="Arial"/>
                </a:rPr>
                <a:t>BRCA1/2 detection, cancer mutation ID</a:t>
              </a:r>
            </a:p>
          </p:txBody>
        </p:sp>
      </p:grpSp>
      <p:grpSp>
        <p:nvGrpSpPr>
          <p:cNvPr id="87" name="Group 87"/>
          <p:cNvGrpSpPr/>
          <p:nvPr/>
        </p:nvGrpSpPr>
        <p:grpSpPr>
          <a:xfrm>
            <a:off x="4343400" y="3771900"/>
            <a:ext cx="3505200" cy="2457450"/>
            <a:chOff x="4343400" y="3771900"/>
            <a:chExt cx="3505200" cy="2457450"/>
          </a:xfrm>
        </p:grpSpPr>
        <p:sp>
          <p:nvSpPr>
            <p:cNvPr id="71" name="Rectangle 71"/>
            <p:cNvSpPr/>
            <p:nvPr/>
          </p:nvSpPr>
          <p:spPr>
            <a:xfrm>
              <a:off x="4343400" y="3771900"/>
              <a:ext cx="3505200" cy="2457450"/>
            </a:xfrm>
            <a:prstGeom prst="roundRect">
              <a:avLst>
                <a:gd name="adj" fmla="val 3101"/>
              </a:avLst>
            </a:prstGeom>
            <a:solidFill>
              <a:srgbClr val="161B22"/>
            </a:solidFill>
            <a:ln>
              <a:noFill/>
            </a:ln>
          </p:spPr>
        </p:sp>
        <p:sp>
          <p:nvSpPr>
            <p:cNvPr id="72" name="Rectangle 72"/>
            <p:cNvSpPr/>
            <p:nvPr/>
          </p:nvSpPr>
          <p:spPr>
            <a:xfrm>
              <a:off x="4343400" y="3771900"/>
              <a:ext cx="3505200" cy="38100"/>
            </a:xfrm>
            <a:prstGeom prst="roundRect">
              <a:avLst>
                <a:gd name="adj" fmla="val 50000"/>
              </a:avLst>
            </a:prstGeom>
            <a:solidFill>
              <a:srgbClr val="8B5CF6"/>
            </a:solidFill>
            <a:ln>
              <a:noFill/>
            </a:ln>
          </p:spPr>
        </p:sp>
        <p:sp>
          <p:nvSpPr>
            <p:cNvPr id="73" name="Rectangle 73"/>
            <p:cNvSpPr/>
            <p:nvPr/>
          </p:nvSpPr>
          <p:spPr>
            <a:xfrm>
              <a:off x="4419600" y="3943350"/>
              <a:ext cx="419100" cy="419100"/>
            </a:xfrm>
            <a:prstGeom prst="roundRect">
              <a:avLst>
                <a:gd name="adj" fmla="val 18182"/>
              </a:avLst>
            </a:prstGeom>
            <a:solidFill>
              <a:srgbClr val="1C2333"/>
            </a:solidFill>
            <a:ln>
              <a:noFill/>
            </a:ln>
          </p:spPr>
        </p:sp>
        <p:grpSp>
          <p:nvGrpSpPr>
            <p:cNvPr id="80" name="Group 80"/>
            <p:cNvGrpSpPr/>
            <p:nvPr/>
          </p:nvGrpSpPr>
          <p:grpSpPr>
            <a:xfrm>
              <a:off x="4471987" y="3995737"/>
              <a:ext cx="314325" cy="314325"/>
              <a:chOff x="4471987" y="3995737"/>
              <a:chExt cx="314325" cy="314325"/>
            </a:xfrm>
          </p:grpSpPr>
          <p:sp>
            <p:nvSpPr>
              <p:cNvPr id="74" name="Freeform 74"/>
              <p:cNvSpPr/>
              <p:nvPr/>
            </p:nvSpPr>
            <p:spPr>
              <a:xfrm>
                <a:off x="4629150" y="4170362"/>
                <a:ext cx="122237" cy="139700"/>
              </a:xfrm>
              <a:custGeom>
                <a:avLst/>
                <a:gdLst/>
                <a:ahLst/>
                <a:cxnLst/>
                <a:rect l="l" t="t" r="r" b="b"/>
                <a:pathLst>
                  <a:path w="122237" h="139700">
                    <a:moveTo>
                      <a:pt x="61119" y="0"/>
                    </a:moveTo>
                    <a:cubicBezTo>
                      <a:pt x="27364" y="0"/>
                      <a:pt x="0" y="27364"/>
                      <a:pt x="0" y="61119"/>
                    </a:cubicBezTo>
                    <a:lnTo>
                      <a:pt x="0" y="78581"/>
                    </a:lnTo>
                    <a:cubicBezTo>
                      <a:pt x="0" y="112336"/>
                      <a:pt x="27364" y="139700"/>
                      <a:pt x="61119" y="139700"/>
                    </a:cubicBezTo>
                    <a:cubicBezTo>
                      <a:pt x="94874" y="139700"/>
                      <a:pt x="122237" y="112336"/>
                      <a:pt x="122237" y="78581"/>
                    </a:cubicBezTo>
                    <a:lnTo>
                      <a:pt x="122237" y="47149"/>
                    </a:lnTo>
                  </a:path>
                </a:pathLst>
              </a:custGeom>
              <a:noFill/>
              <a:ln w="19050">
                <a:solidFill>
                  <a:srgbClr val="8B5CF6"/>
                </a:solidFill>
              </a:ln>
            </p:spPr>
          </p:sp>
          <p:sp>
            <p:nvSpPr>
              <p:cNvPr id="75" name="Freeform 75"/>
              <p:cNvSpPr/>
              <p:nvPr/>
            </p:nvSpPr>
            <p:spPr>
              <a:xfrm>
                <a:off x="4506912" y="4170362"/>
                <a:ext cx="122237" cy="139700"/>
              </a:xfrm>
              <a:custGeom>
                <a:avLst/>
                <a:gdLst/>
                <a:ahLst/>
                <a:cxnLst/>
                <a:rect l="l" t="t" r="r" b="b"/>
                <a:pathLst>
                  <a:path w="122237" h="139700">
                    <a:moveTo>
                      <a:pt x="61119" y="0"/>
                    </a:moveTo>
                    <a:cubicBezTo>
                      <a:pt x="94874" y="0"/>
                      <a:pt x="122237" y="27364"/>
                      <a:pt x="122237" y="61119"/>
                    </a:cubicBezTo>
                    <a:lnTo>
                      <a:pt x="122237" y="78581"/>
                    </a:lnTo>
                    <a:cubicBezTo>
                      <a:pt x="122237" y="112336"/>
                      <a:pt x="94874" y="139700"/>
                      <a:pt x="61119" y="139700"/>
                    </a:cubicBezTo>
                    <a:cubicBezTo>
                      <a:pt x="27364" y="139700"/>
                      <a:pt x="0" y="112336"/>
                      <a:pt x="0" y="78581"/>
                    </a:cubicBezTo>
                    <a:lnTo>
                      <a:pt x="0" y="47149"/>
                    </a:lnTo>
                  </a:path>
                </a:pathLst>
              </a:custGeom>
              <a:noFill/>
              <a:ln w="19050">
                <a:solidFill>
                  <a:srgbClr val="8B5CF6"/>
                </a:solidFill>
              </a:ln>
            </p:spPr>
          </p:sp>
          <p:sp>
            <p:nvSpPr>
              <p:cNvPr id="76" name="Freeform 76"/>
              <p:cNvSpPr/>
              <p:nvPr/>
            </p:nvSpPr>
            <p:spPr>
              <a:xfrm>
                <a:off x="4716462" y="4100512"/>
                <a:ext cx="69850" cy="122237"/>
              </a:xfrm>
              <a:custGeom>
                <a:avLst/>
                <a:gdLst/>
                <a:ahLst/>
                <a:cxnLst/>
                <a:rect l="l" t="t" r="r" b="b"/>
                <a:pathLst>
                  <a:path w="69850" h="122237">
                    <a:moveTo>
                      <a:pt x="8731" y="122237"/>
                    </a:moveTo>
                    <a:cubicBezTo>
                      <a:pt x="42486" y="122237"/>
                      <a:pt x="69850" y="94874"/>
                      <a:pt x="69850" y="61119"/>
                    </a:cubicBezTo>
                    <a:cubicBezTo>
                      <a:pt x="69850" y="27364"/>
                      <a:pt x="42486" y="0"/>
                      <a:pt x="8731" y="0"/>
                    </a:cubicBezTo>
                    <a:lnTo>
                      <a:pt x="0" y="0"/>
                    </a:lnTo>
                  </a:path>
                </a:pathLst>
              </a:custGeom>
              <a:noFill/>
              <a:ln w="19050">
                <a:solidFill>
                  <a:srgbClr val="8B5CF6"/>
                </a:solidFill>
              </a:ln>
            </p:spPr>
          </p:sp>
          <p:sp>
            <p:nvSpPr>
              <p:cNvPr id="77" name="Freeform 77"/>
              <p:cNvSpPr/>
              <p:nvPr/>
            </p:nvSpPr>
            <p:spPr>
              <a:xfrm>
                <a:off x="4629150" y="3995737"/>
                <a:ext cx="122237" cy="110014"/>
              </a:xfrm>
              <a:custGeom>
                <a:avLst/>
                <a:gdLst/>
                <a:ahLst/>
                <a:cxnLst/>
                <a:rect l="l" t="t" r="r" b="b"/>
                <a:pathLst>
                  <a:path w="122237" h="110014">
                    <a:moveTo>
                      <a:pt x="122237" y="110014"/>
                    </a:moveTo>
                    <a:lnTo>
                      <a:pt x="122237" y="61119"/>
                    </a:lnTo>
                    <a:cubicBezTo>
                      <a:pt x="122237" y="27364"/>
                      <a:pt x="94874" y="0"/>
                      <a:pt x="61119" y="0"/>
                    </a:cubicBezTo>
                    <a:cubicBezTo>
                      <a:pt x="27364" y="0"/>
                      <a:pt x="0" y="27364"/>
                      <a:pt x="0" y="61119"/>
                    </a:cubicBezTo>
                  </a:path>
                </a:pathLst>
              </a:custGeom>
              <a:noFill/>
              <a:ln w="19050">
                <a:solidFill>
                  <a:srgbClr val="8B5CF6"/>
                </a:solidFill>
              </a:ln>
            </p:spPr>
          </p:sp>
          <p:sp>
            <p:nvSpPr>
              <p:cNvPr id="78" name="Freeform 78"/>
              <p:cNvSpPr/>
              <p:nvPr/>
            </p:nvSpPr>
            <p:spPr>
              <a:xfrm>
                <a:off x="4471987" y="4100512"/>
                <a:ext cx="69850" cy="122237"/>
              </a:xfrm>
              <a:custGeom>
                <a:avLst/>
                <a:gdLst/>
                <a:ahLst/>
                <a:cxnLst/>
                <a:rect l="l" t="t" r="r" b="b"/>
                <a:pathLst>
                  <a:path w="69850" h="122237">
                    <a:moveTo>
                      <a:pt x="61119" y="122237"/>
                    </a:moveTo>
                    <a:cubicBezTo>
                      <a:pt x="27364" y="122237"/>
                      <a:pt x="0" y="94874"/>
                      <a:pt x="0" y="61119"/>
                    </a:cubicBezTo>
                    <a:cubicBezTo>
                      <a:pt x="0" y="27364"/>
                      <a:pt x="27364" y="0"/>
                      <a:pt x="61119" y="0"/>
                    </a:cubicBezTo>
                    <a:lnTo>
                      <a:pt x="69850" y="0"/>
                    </a:lnTo>
                  </a:path>
                </a:pathLst>
              </a:custGeom>
              <a:noFill/>
              <a:ln w="19050">
                <a:solidFill>
                  <a:srgbClr val="8B5CF6"/>
                </a:solidFill>
              </a:ln>
            </p:spPr>
          </p:sp>
          <p:sp>
            <p:nvSpPr>
              <p:cNvPr id="79" name="Freeform 79"/>
              <p:cNvSpPr/>
              <p:nvPr/>
            </p:nvSpPr>
            <p:spPr>
              <a:xfrm>
                <a:off x="4506912" y="3995737"/>
                <a:ext cx="122237" cy="235743"/>
              </a:xfrm>
              <a:custGeom>
                <a:avLst/>
                <a:gdLst/>
                <a:ahLst/>
                <a:cxnLst/>
                <a:rect l="l" t="t" r="r" b="b"/>
                <a:pathLst>
                  <a:path w="122237" h="235743">
                    <a:moveTo>
                      <a:pt x="0" y="110014"/>
                    </a:moveTo>
                    <a:lnTo>
                      <a:pt x="0" y="61119"/>
                    </a:lnTo>
                    <a:cubicBezTo>
                      <a:pt x="0" y="27364"/>
                      <a:pt x="27364" y="0"/>
                      <a:pt x="61119" y="0"/>
                    </a:cubicBezTo>
                    <a:cubicBezTo>
                      <a:pt x="94874" y="0"/>
                      <a:pt x="122237" y="27364"/>
                      <a:pt x="122237" y="61119"/>
                    </a:cubicBezTo>
                    <a:lnTo>
                      <a:pt x="122237" y="235743"/>
                    </a:lnTo>
                  </a:path>
                </a:pathLst>
              </a:custGeom>
              <a:noFill/>
              <a:ln w="19050">
                <a:solidFill>
                  <a:srgbClr val="8B5CF6"/>
                </a:solidFill>
              </a:ln>
            </p:spPr>
          </p:sp>
        </p:grpSp>
        <p:sp>
          <p:nvSpPr>
            <p:cNvPr id="81" name="TextBox 81"/>
            <p:cNvSpPr txBox="1"/>
            <p:nvPr/>
          </p:nvSpPr>
          <p:spPr>
            <a:xfrm>
              <a:off x="4907280" y="3990975"/>
              <a:ext cx="1685020" cy="293370"/>
            </a:xfrm>
            <a:prstGeom prst="rect">
              <a:avLst/>
            </a:prstGeom>
            <a:noFill/>
            <a:ln>
              <a:noFill/>
            </a:ln>
          </p:spPr>
          <p:txBody>
            <a:bodyPr wrap="none" lIns="0" tIns="0" rIns="0" bIns="0" anchor="t" anchorCtr="0">
              <a:spAutoFit/>
            </a:bodyPr>
            <a:lstStyle/>
            <a:p>
              <a:pPr algn="l"/>
              <a:r>
                <a:rPr lang="en-US" sz="1500" b="1" dirty="0">
                  <a:solidFill>
                    <a:srgbClr val="E8F5E9"/>
                  </a:solidFill>
                  <a:latin typeface="Arial"/>
                  <a:ea typeface="Arial"/>
                  <a:cs typeface="Arial"/>
                </a:rPr>
                <a:t>Mental Health AI</a:t>
              </a:r>
            </a:p>
          </p:txBody>
        </p:sp>
        <p:sp>
          <p:nvSpPr>
            <p:cNvPr id="82" name="TextBox 82"/>
            <p:cNvSpPr txBox="1"/>
            <p:nvPr/>
          </p:nvSpPr>
          <p:spPr>
            <a:xfrm>
              <a:off x="4909566" y="4230052"/>
              <a:ext cx="1532992" cy="205359"/>
            </a:xfrm>
            <a:prstGeom prst="rect">
              <a:avLst/>
            </a:prstGeom>
            <a:noFill/>
            <a:ln>
              <a:noFill/>
            </a:ln>
          </p:spPr>
          <p:txBody>
            <a:bodyPr wrap="none" lIns="0" tIns="0" rIns="0" bIns="0" anchor="t" anchorCtr="0">
              <a:spAutoFit/>
            </a:bodyPr>
            <a:lstStyle/>
            <a:p>
              <a:pPr algn="l"/>
              <a:r>
                <a:rPr lang="en-US" sz="1050" spc="75" dirty="0">
                  <a:solidFill>
                    <a:srgbClr val="8B5CF6"/>
                  </a:solidFill>
                  <a:latin typeface="Arial"/>
                  <a:ea typeface="Arial"/>
                  <a:cs typeface="Arial"/>
                </a:rPr>
                <a:t>BEHAVIORAL HEALTH</a:t>
              </a:r>
            </a:p>
          </p:txBody>
        </p:sp>
        <p:sp>
          <p:nvSpPr>
            <p:cNvPr id="83" name="TextBox 83"/>
            <p:cNvSpPr txBox="1"/>
            <p:nvPr/>
          </p:nvSpPr>
          <p:spPr>
            <a:xfrm>
              <a:off x="4411980" y="4600575"/>
              <a:ext cx="3337560"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NLP detects depression, anxiety,</a:t>
              </a:r>
            </a:p>
          </p:txBody>
        </p:sp>
        <p:sp>
          <p:nvSpPr>
            <p:cNvPr id="84" name="TextBox 84"/>
            <p:cNvSpPr txBox="1"/>
            <p:nvPr/>
          </p:nvSpPr>
          <p:spPr>
            <a:xfrm>
              <a:off x="4411980" y="4829175"/>
              <a:ext cx="2770686"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PTSD from speech and text;</a:t>
              </a:r>
            </a:p>
          </p:txBody>
        </p:sp>
        <p:sp>
          <p:nvSpPr>
            <p:cNvPr id="85" name="TextBox 85"/>
            <p:cNvSpPr txBox="1"/>
            <p:nvPr/>
          </p:nvSpPr>
          <p:spPr>
            <a:xfrm>
              <a:off x="4411980" y="5057775"/>
              <a:ext cx="3000413"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AI chatbots for 24/7 support.</a:t>
              </a:r>
            </a:p>
          </p:txBody>
        </p:sp>
        <p:sp>
          <p:nvSpPr>
            <p:cNvPr id="86" name="TextBox 86"/>
            <p:cNvSpPr txBox="1"/>
            <p:nvPr/>
          </p:nvSpPr>
          <p:spPr>
            <a:xfrm>
              <a:off x="4413504" y="5928360"/>
              <a:ext cx="2826732" cy="234696"/>
            </a:xfrm>
            <a:prstGeom prst="rect">
              <a:avLst/>
            </a:prstGeom>
            <a:noFill/>
            <a:ln>
              <a:noFill/>
            </a:ln>
          </p:spPr>
          <p:txBody>
            <a:bodyPr wrap="none" lIns="0" tIns="0" rIns="0" bIns="0" anchor="t" anchorCtr="0">
              <a:spAutoFit/>
            </a:bodyPr>
            <a:lstStyle/>
            <a:p>
              <a:pPr algn="l"/>
              <a:r>
                <a:rPr lang="en-US" sz="1200" dirty="0">
                  <a:solidFill>
                    <a:srgbClr val="4CAF50"/>
                  </a:solidFill>
                  <a:latin typeface="Arial"/>
                  <a:ea typeface="Arial"/>
                  <a:cs typeface="Arial"/>
                </a:rPr>
                <a:t>Woebot · Wysa · suicide risk models</a:t>
              </a:r>
            </a:p>
          </p:txBody>
        </p:sp>
      </p:grpSp>
      <p:grpSp>
        <p:nvGrpSpPr>
          <p:cNvPr id="103" name="Group 103"/>
          <p:cNvGrpSpPr/>
          <p:nvPr/>
        </p:nvGrpSpPr>
        <p:grpSpPr>
          <a:xfrm>
            <a:off x="8077200" y="3771900"/>
            <a:ext cx="3505200" cy="2457450"/>
            <a:chOff x="8077200" y="3771900"/>
            <a:chExt cx="3505200" cy="2457450"/>
          </a:xfrm>
        </p:grpSpPr>
        <p:sp>
          <p:nvSpPr>
            <p:cNvPr id="88" name="Rectangle 88"/>
            <p:cNvSpPr/>
            <p:nvPr/>
          </p:nvSpPr>
          <p:spPr>
            <a:xfrm>
              <a:off x="8077200" y="3771900"/>
              <a:ext cx="3505200" cy="2457450"/>
            </a:xfrm>
            <a:prstGeom prst="roundRect">
              <a:avLst>
                <a:gd name="adj" fmla="val 3101"/>
              </a:avLst>
            </a:prstGeom>
            <a:solidFill>
              <a:srgbClr val="161B22"/>
            </a:solidFill>
            <a:ln>
              <a:noFill/>
            </a:ln>
          </p:spPr>
        </p:sp>
        <p:sp>
          <p:nvSpPr>
            <p:cNvPr id="89" name="Rectangle 89"/>
            <p:cNvSpPr/>
            <p:nvPr/>
          </p:nvSpPr>
          <p:spPr>
            <a:xfrm>
              <a:off x="8077200" y="3771900"/>
              <a:ext cx="3505200" cy="38100"/>
            </a:xfrm>
            <a:prstGeom prst="roundRect">
              <a:avLst>
                <a:gd name="adj" fmla="val 50000"/>
              </a:avLst>
            </a:prstGeom>
            <a:solidFill>
              <a:srgbClr val="FF5252"/>
            </a:solidFill>
            <a:ln>
              <a:noFill/>
            </a:ln>
          </p:spPr>
        </p:sp>
        <p:sp>
          <p:nvSpPr>
            <p:cNvPr id="90" name="Rectangle 90"/>
            <p:cNvSpPr/>
            <p:nvPr/>
          </p:nvSpPr>
          <p:spPr>
            <a:xfrm>
              <a:off x="8153400" y="3943350"/>
              <a:ext cx="419100" cy="419100"/>
            </a:xfrm>
            <a:prstGeom prst="roundRect">
              <a:avLst>
                <a:gd name="adj" fmla="val 18182"/>
              </a:avLst>
            </a:prstGeom>
            <a:solidFill>
              <a:srgbClr val="1C2333"/>
            </a:solidFill>
            <a:ln>
              <a:noFill/>
            </a:ln>
          </p:spPr>
        </p:sp>
        <p:grpSp>
          <p:nvGrpSpPr>
            <p:cNvPr id="96" name="Group 96"/>
            <p:cNvGrpSpPr/>
            <p:nvPr/>
          </p:nvGrpSpPr>
          <p:grpSpPr>
            <a:xfrm>
              <a:off x="8205787" y="4013200"/>
              <a:ext cx="314324" cy="288924"/>
              <a:chOff x="8205787" y="4013200"/>
              <a:chExt cx="314324" cy="288924"/>
            </a:xfrm>
          </p:grpSpPr>
          <p:sp>
            <p:nvSpPr>
              <p:cNvPr id="91" name="Freeform 91"/>
              <p:cNvSpPr/>
              <p:nvPr/>
            </p:nvSpPr>
            <p:spPr>
              <a:xfrm>
                <a:off x="8205787" y="4013200"/>
                <a:ext cx="314324" cy="209550"/>
              </a:xfrm>
              <a:custGeom>
                <a:avLst/>
                <a:gdLst/>
                <a:ahLst/>
                <a:cxnLst/>
                <a:rect l="l" t="t" r="r" b="b"/>
                <a:pathLst>
                  <a:path w="314324" h="209550">
                    <a:moveTo>
                      <a:pt x="0" y="17462"/>
                    </a:moveTo>
                    <a:cubicBezTo>
                      <a:pt x="0" y="7818"/>
                      <a:pt x="7818" y="0"/>
                      <a:pt x="17462" y="0"/>
                    </a:cubicBezTo>
                    <a:lnTo>
                      <a:pt x="296862" y="0"/>
                    </a:lnTo>
                    <a:cubicBezTo>
                      <a:pt x="306506" y="0"/>
                      <a:pt x="314324" y="7818"/>
                      <a:pt x="314324" y="17462"/>
                    </a:cubicBezTo>
                    <a:lnTo>
                      <a:pt x="314324" y="192087"/>
                    </a:lnTo>
                    <a:cubicBezTo>
                      <a:pt x="314324" y="201731"/>
                      <a:pt x="306506" y="209550"/>
                      <a:pt x="296862" y="209550"/>
                    </a:cubicBezTo>
                    <a:lnTo>
                      <a:pt x="17462" y="209550"/>
                    </a:lnTo>
                    <a:cubicBezTo>
                      <a:pt x="7818" y="209550"/>
                      <a:pt x="0" y="201731"/>
                      <a:pt x="0" y="192087"/>
                    </a:cubicBezTo>
                    <a:lnTo>
                      <a:pt x="0" y="17462"/>
                    </a:lnTo>
                  </a:path>
                </a:pathLst>
              </a:custGeom>
              <a:noFill/>
              <a:ln w="19050">
                <a:solidFill>
                  <a:srgbClr val="FF5252"/>
                </a:solidFill>
              </a:ln>
            </p:spPr>
          </p:sp>
          <p:sp>
            <p:nvSpPr>
              <p:cNvPr id="92" name="Freeform 92"/>
              <p:cNvSpPr/>
              <p:nvPr/>
            </p:nvSpPr>
            <p:spPr>
              <a:xfrm>
                <a:off x="8275637" y="4292599"/>
                <a:ext cx="174625" cy="9525"/>
              </a:xfrm>
              <a:custGeom>
                <a:avLst/>
                <a:gdLst/>
                <a:ahLst/>
                <a:cxnLst/>
                <a:rect l="l" t="t" r="r" b="b"/>
                <a:pathLst>
                  <a:path w="174625" h="9525">
                    <a:moveTo>
                      <a:pt x="0" y="0"/>
                    </a:moveTo>
                    <a:lnTo>
                      <a:pt x="174625" y="0"/>
                    </a:lnTo>
                  </a:path>
                </a:pathLst>
              </a:custGeom>
              <a:noFill/>
              <a:ln w="19050">
                <a:solidFill>
                  <a:srgbClr val="FF5252"/>
                </a:solidFill>
              </a:ln>
            </p:spPr>
          </p:sp>
          <p:sp>
            <p:nvSpPr>
              <p:cNvPr id="93" name="Freeform 93"/>
              <p:cNvSpPr/>
              <p:nvPr/>
            </p:nvSpPr>
            <p:spPr>
              <a:xfrm>
                <a:off x="8310562" y="4222749"/>
                <a:ext cx="9525" cy="69850"/>
              </a:xfrm>
              <a:custGeom>
                <a:avLst/>
                <a:gdLst/>
                <a:ahLst/>
                <a:cxnLst/>
                <a:rect l="l" t="t" r="r" b="b"/>
                <a:pathLst>
                  <a:path w="9525" h="69850">
                    <a:moveTo>
                      <a:pt x="0" y="0"/>
                    </a:moveTo>
                    <a:lnTo>
                      <a:pt x="0" y="69850"/>
                    </a:lnTo>
                  </a:path>
                </a:pathLst>
              </a:custGeom>
              <a:noFill/>
              <a:ln w="19050">
                <a:solidFill>
                  <a:srgbClr val="FF5252"/>
                </a:solidFill>
              </a:ln>
            </p:spPr>
          </p:sp>
          <p:sp>
            <p:nvSpPr>
              <p:cNvPr id="94" name="Freeform 94"/>
              <p:cNvSpPr/>
              <p:nvPr/>
            </p:nvSpPr>
            <p:spPr>
              <a:xfrm>
                <a:off x="8415337" y="4222749"/>
                <a:ext cx="9525" cy="69850"/>
              </a:xfrm>
              <a:custGeom>
                <a:avLst/>
                <a:gdLst/>
                <a:ahLst/>
                <a:cxnLst/>
                <a:rect l="l" t="t" r="r" b="b"/>
                <a:pathLst>
                  <a:path w="9525" h="69850">
                    <a:moveTo>
                      <a:pt x="0" y="0"/>
                    </a:moveTo>
                    <a:lnTo>
                      <a:pt x="0" y="69850"/>
                    </a:lnTo>
                  </a:path>
                </a:pathLst>
              </a:custGeom>
              <a:noFill/>
              <a:ln w="19050">
                <a:solidFill>
                  <a:srgbClr val="FF5252"/>
                </a:solidFill>
              </a:ln>
            </p:spPr>
          </p:sp>
          <p:sp>
            <p:nvSpPr>
              <p:cNvPr id="95" name="Freeform 95"/>
              <p:cNvSpPr/>
              <p:nvPr/>
            </p:nvSpPr>
            <p:spPr>
              <a:xfrm>
                <a:off x="8275637" y="4065587"/>
                <a:ext cx="174625" cy="104775"/>
              </a:xfrm>
              <a:custGeom>
                <a:avLst/>
                <a:gdLst/>
                <a:ahLst/>
                <a:cxnLst/>
                <a:rect l="l" t="t" r="r" b="b"/>
                <a:pathLst>
                  <a:path w="174625" h="104775">
                    <a:moveTo>
                      <a:pt x="0" y="52387"/>
                    </a:moveTo>
                    <a:lnTo>
                      <a:pt x="34925" y="52387"/>
                    </a:lnTo>
                    <a:lnTo>
                      <a:pt x="69850" y="104775"/>
                    </a:lnTo>
                    <a:lnTo>
                      <a:pt x="104775" y="0"/>
                    </a:lnTo>
                    <a:lnTo>
                      <a:pt x="122237" y="52387"/>
                    </a:lnTo>
                    <a:lnTo>
                      <a:pt x="174625" y="52387"/>
                    </a:lnTo>
                  </a:path>
                </a:pathLst>
              </a:custGeom>
              <a:noFill/>
              <a:ln w="19050">
                <a:solidFill>
                  <a:srgbClr val="FF5252"/>
                </a:solidFill>
              </a:ln>
            </p:spPr>
          </p:sp>
        </p:grpSp>
        <p:sp>
          <p:nvSpPr>
            <p:cNvPr id="97" name="TextBox 97"/>
            <p:cNvSpPr txBox="1"/>
            <p:nvPr/>
          </p:nvSpPr>
          <p:spPr>
            <a:xfrm>
              <a:off x="8641080" y="3990975"/>
              <a:ext cx="1936980" cy="293370"/>
            </a:xfrm>
            <a:prstGeom prst="rect">
              <a:avLst/>
            </a:prstGeom>
            <a:noFill/>
            <a:ln>
              <a:noFill/>
            </a:ln>
          </p:spPr>
          <p:txBody>
            <a:bodyPr wrap="none" lIns="0" tIns="0" rIns="0" bIns="0" anchor="t" anchorCtr="0">
              <a:spAutoFit/>
            </a:bodyPr>
            <a:lstStyle/>
            <a:p>
              <a:pPr algn="l"/>
              <a:r>
                <a:rPr lang="en-US" sz="1500" b="1" dirty="0">
                  <a:solidFill>
                    <a:srgbClr val="E8F5E9"/>
                  </a:solidFill>
                  <a:latin typeface="Arial"/>
                  <a:ea typeface="Arial"/>
                  <a:cs typeface="Arial"/>
                </a:rPr>
                <a:t>Remote Monitoring</a:t>
              </a:r>
            </a:p>
          </p:txBody>
        </p:sp>
        <p:sp>
          <p:nvSpPr>
            <p:cNvPr id="98" name="TextBox 98"/>
            <p:cNvSpPr txBox="1"/>
            <p:nvPr/>
          </p:nvSpPr>
          <p:spPr>
            <a:xfrm>
              <a:off x="8643366" y="4230052"/>
              <a:ext cx="1339901" cy="205359"/>
            </a:xfrm>
            <a:prstGeom prst="rect">
              <a:avLst/>
            </a:prstGeom>
            <a:noFill/>
            <a:ln>
              <a:noFill/>
            </a:ln>
          </p:spPr>
          <p:txBody>
            <a:bodyPr wrap="none" lIns="0" tIns="0" rIns="0" bIns="0" anchor="t" anchorCtr="0">
              <a:spAutoFit/>
            </a:bodyPr>
            <a:lstStyle/>
            <a:p>
              <a:pPr algn="l"/>
              <a:r>
                <a:rPr lang="en-US" sz="1050" spc="75" dirty="0">
                  <a:solidFill>
                    <a:srgbClr val="FF5252"/>
                  </a:solidFill>
                  <a:latin typeface="Arial"/>
                  <a:ea typeface="Arial"/>
                  <a:cs typeface="Arial"/>
                </a:rPr>
                <a:t>WEARABLES &amp; IOT</a:t>
              </a:r>
            </a:p>
          </p:txBody>
        </p:sp>
        <p:sp>
          <p:nvSpPr>
            <p:cNvPr id="99" name="TextBox 99"/>
            <p:cNvSpPr txBox="1"/>
            <p:nvPr/>
          </p:nvSpPr>
          <p:spPr>
            <a:xfrm>
              <a:off x="8145780" y="4600575"/>
              <a:ext cx="3091011"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Continuous glucose monitoring,</a:t>
              </a:r>
            </a:p>
          </p:txBody>
        </p:sp>
        <p:sp>
          <p:nvSpPr>
            <p:cNvPr id="100" name="TextBox 100"/>
            <p:cNvSpPr txBox="1"/>
            <p:nvPr/>
          </p:nvSpPr>
          <p:spPr>
            <a:xfrm>
              <a:off x="8145780" y="4829175"/>
              <a:ext cx="306702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AFib detection, fall prevention</a:t>
              </a:r>
            </a:p>
          </p:txBody>
        </p:sp>
        <p:sp>
          <p:nvSpPr>
            <p:cNvPr id="101" name="TextBox 101"/>
            <p:cNvSpPr txBox="1"/>
            <p:nvPr/>
          </p:nvSpPr>
          <p:spPr>
            <a:xfrm>
              <a:off x="8145780" y="5057775"/>
              <a:ext cx="305428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for high-risk elderly patients.</a:t>
              </a:r>
            </a:p>
          </p:txBody>
        </p:sp>
        <p:sp>
          <p:nvSpPr>
            <p:cNvPr id="102" name="TextBox 102"/>
            <p:cNvSpPr txBox="1"/>
            <p:nvPr/>
          </p:nvSpPr>
          <p:spPr>
            <a:xfrm>
              <a:off x="8147304" y="5928360"/>
              <a:ext cx="2787358" cy="234696"/>
            </a:xfrm>
            <a:prstGeom prst="rect">
              <a:avLst/>
            </a:prstGeom>
            <a:noFill/>
            <a:ln>
              <a:noFill/>
            </a:ln>
          </p:spPr>
          <p:txBody>
            <a:bodyPr wrap="none" lIns="0" tIns="0" rIns="0" bIns="0" anchor="t" anchorCtr="0">
              <a:spAutoFit/>
            </a:bodyPr>
            <a:lstStyle/>
            <a:p>
              <a:pPr algn="l"/>
              <a:r>
                <a:rPr lang="en-US" sz="1200" dirty="0">
                  <a:solidFill>
                    <a:srgbClr val="4CAF50"/>
                  </a:solidFill>
                  <a:latin typeface="Arial"/>
                  <a:ea typeface="Arial"/>
                  <a:cs typeface="Arial"/>
                </a:rPr>
                <a:t>Apple Watch AFib: FDA cleared 2018</a:t>
              </a:r>
            </a:p>
          </p:txBody>
        </p:sp>
      </p:grpSp>
      <p:grpSp>
        <p:nvGrpSpPr>
          <p:cNvPr id="107" name="Group 107"/>
          <p:cNvGrpSpPr/>
          <p:nvPr/>
        </p:nvGrpSpPr>
        <p:grpSpPr>
          <a:xfrm>
            <a:off x="603504" y="6362700"/>
            <a:ext cx="10984992" cy="276606"/>
            <a:chOff x="603504" y="6362700"/>
            <a:chExt cx="10984992" cy="276606"/>
          </a:xfrm>
        </p:grpSpPr>
        <p:sp>
          <p:nvSpPr>
            <p:cNvPr id="104" name="Line 104"/>
            <p:cNvSpPr/>
            <p:nvPr/>
          </p:nvSpPr>
          <p:spPr>
            <a:xfrm>
              <a:off x="609600" y="636270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105" name="TextBox 105"/>
            <p:cNvSpPr txBox="1"/>
            <p:nvPr/>
          </p:nvSpPr>
          <p:spPr>
            <a:xfrm>
              <a:off x="603504" y="64046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106" name="TextBox 106"/>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04 / 14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grpSp>
      <p:grpSp>
        <p:nvGrpSpPr>
          <p:cNvPr id="9" name="Group 9"/>
          <p:cNvGrpSpPr/>
          <p:nvPr/>
        </p:nvGrpSpPr>
        <p:grpSpPr>
          <a:xfrm>
            <a:off x="609600" y="201930"/>
            <a:ext cx="10972800" cy="817245"/>
            <a:chOff x="609600" y="201930"/>
            <a:chExt cx="10972800" cy="817245"/>
          </a:xfrm>
        </p:grpSpPr>
        <p:sp>
          <p:nvSpPr>
            <p:cNvPr id="5" name="Rectangle 5"/>
            <p:cNvSpPr/>
            <p:nvPr/>
          </p:nvSpPr>
          <p:spPr>
            <a:xfrm>
              <a:off x="609600" y="304800"/>
              <a:ext cx="38100" cy="457200"/>
            </a:xfrm>
            <a:prstGeom prst="roundRect">
              <a:avLst>
                <a:gd name="adj" fmla="val 50000"/>
              </a:avLst>
            </a:prstGeom>
            <a:gradFill>
              <a:gsLst>
                <a:gs pos="0">
                  <a:srgbClr val="00796B"/>
                </a:gs>
                <a:gs pos="100000">
                  <a:srgbClr val="00E5FF"/>
                </a:gs>
              </a:gsLst>
              <a:lin ang="0" scaled="1"/>
            </a:gradFill>
            <a:ln>
              <a:noFill/>
            </a:ln>
          </p:spPr>
        </p:sp>
        <p:sp>
          <p:nvSpPr>
            <p:cNvPr id="6" name="TextBox 6"/>
            <p:cNvSpPr txBox="1"/>
            <p:nvPr/>
          </p:nvSpPr>
          <p:spPr>
            <a:xfrm>
              <a:off x="781812" y="201930"/>
              <a:ext cx="9049739" cy="704088"/>
            </a:xfrm>
            <a:prstGeom prst="rect">
              <a:avLst/>
            </a:prstGeom>
            <a:noFill/>
            <a:ln>
              <a:noFill/>
            </a:ln>
          </p:spPr>
          <p:txBody>
            <a:bodyPr wrap="none" lIns="0" tIns="0" rIns="0" bIns="0" anchor="t" anchorCtr="0">
              <a:spAutoFit/>
            </a:bodyPr>
            <a:lstStyle/>
            <a:p>
              <a:pPr algn="l"/>
              <a:r>
                <a:rPr lang="en-US" sz="3600" b="1" dirty="0">
                  <a:solidFill>
                    <a:srgbClr val="E8F5E9"/>
                  </a:solidFill>
                  <a:latin typeface="Georgia"/>
                  <a:ea typeface="Georgia"/>
                  <a:cs typeface="Georgia"/>
                </a:rPr>
                <a:t>AI in Healthcare — By the Numbers</a:t>
              </a:r>
            </a:p>
          </p:txBody>
        </p:sp>
        <p:sp>
          <p:nvSpPr>
            <p:cNvPr id="7" name="TextBox 7"/>
            <p:cNvSpPr txBox="1"/>
            <p:nvPr/>
          </p:nvSpPr>
          <p:spPr>
            <a:xfrm>
              <a:off x="791718" y="679132"/>
              <a:ext cx="9209196"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The inflection point has already occurred — scale, speed, and investment confirm it.</a:t>
              </a:r>
            </a:p>
          </p:txBody>
        </p:sp>
        <p:sp>
          <p:nvSpPr>
            <p:cNvPr id="8" name="Line 8"/>
            <p:cNvSpPr/>
            <p:nvPr/>
          </p:nvSpPr>
          <p:spPr>
            <a:xfrm>
              <a:off x="609600" y="1009650"/>
              <a:ext cx="10972800" cy="9525"/>
            </a:xfrm>
            <a:custGeom>
              <a:avLst/>
              <a:gdLst/>
              <a:ahLst/>
              <a:cxnLst/>
              <a:rect l="l" t="t" r="r" b="b"/>
              <a:pathLst>
                <a:path w="10972800" h="9525">
                  <a:moveTo>
                    <a:pt x="0" y="0"/>
                  </a:moveTo>
                  <a:lnTo>
                    <a:pt x="10972800" y="0"/>
                  </a:lnTo>
                </a:path>
              </a:pathLst>
            </a:custGeom>
            <a:noFill/>
            <a:ln w="9525">
              <a:solidFill>
                <a:srgbClr val="263238"/>
              </a:solidFill>
            </a:ln>
          </p:spPr>
        </p:sp>
      </p:grpSp>
      <p:grpSp>
        <p:nvGrpSpPr>
          <p:cNvPr id="19" name="Group 19"/>
          <p:cNvGrpSpPr/>
          <p:nvPr/>
        </p:nvGrpSpPr>
        <p:grpSpPr>
          <a:xfrm>
            <a:off x="609600" y="1143000"/>
            <a:ext cx="5334000" cy="2514600"/>
            <a:chOff x="609600" y="1143000"/>
            <a:chExt cx="5334000" cy="2514600"/>
          </a:xfrm>
          <a:effectLst>
            <a:outerShdw blurRad="152400" dist="38100" dir="5400000" algn="ctr" rotWithShape="0">
              <a:srgbClr val="00E5FF">
                <a:alpha val="6000"/>
              </a:srgbClr>
            </a:outerShdw>
          </a:effectLst>
        </p:grpSpPr>
        <p:sp>
          <p:nvSpPr>
            <p:cNvPr id="10" name="Rectangle 10"/>
            <p:cNvSpPr/>
            <p:nvPr/>
          </p:nvSpPr>
          <p:spPr>
            <a:xfrm>
              <a:off x="609600" y="1143000"/>
              <a:ext cx="5334000" cy="2514600"/>
            </a:xfrm>
            <a:prstGeom prst="roundRect">
              <a:avLst>
                <a:gd name="adj" fmla="val 3030"/>
              </a:avLst>
            </a:prstGeom>
            <a:solidFill>
              <a:srgbClr val="161B22"/>
            </a:solidFill>
            <a:ln>
              <a:noFill/>
            </a:ln>
            <a:effectLst>
              <a:outerShdw blurRad="152400" dist="38100" dir="5400000" algn="ctr" rotWithShape="0">
                <a:srgbClr val="00E5FF">
                  <a:alpha val="6000"/>
                </a:srgbClr>
              </a:outerShdw>
            </a:effectLst>
          </p:spPr>
        </p:sp>
        <p:sp>
          <p:nvSpPr>
            <p:cNvPr id="11" name="Rectangle 11"/>
            <p:cNvSpPr/>
            <p:nvPr/>
          </p:nvSpPr>
          <p:spPr>
            <a:xfrm>
              <a:off x="609600" y="1143000"/>
              <a:ext cx="5334000" cy="38100"/>
            </a:xfrm>
            <a:prstGeom prst="roundRect">
              <a:avLst>
                <a:gd name="adj" fmla="val 50000"/>
              </a:avLst>
            </a:prstGeom>
            <a:solidFill>
              <a:srgbClr val="00E5FF"/>
            </a:solidFill>
            <a:ln>
              <a:noFill/>
            </a:ln>
            <a:effectLst>
              <a:outerShdw blurRad="152400" dist="38100" dir="5400000" algn="ctr" rotWithShape="0">
                <a:srgbClr val="00E5FF">
                  <a:alpha val="6000"/>
                </a:srgbClr>
              </a:outerShdw>
            </a:effectLst>
          </p:spPr>
        </p:sp>
        <p:sp>
          <p:nvSpPr>
            <p:cNvPr id="12" name="Rectangle 12"/>
            <p:cNvSpPr/>
            <p:nvPr/>
          </p:nvSpPr>
          <p:spPr>
            <a:xfrm>
              <a:off x="685800" y="1295400"/>
              <a:ext cx="57150" cy="838200"/>
            </a:xfrm>
            <a:prstGeom prst="roundRect">
              <a:avLst>
                <a:gd name="adj" fmla="val 50000"/>
              </a:avLst>
            </a:prstGeom>
            <a:solidFill>
              <a:srgbClr val="00E5FF"/>
            </a:solidFill>
            <a:ln>
              <a:noFill/>
            </a:ln>
            <a:effectLst>
              <a:outerShdw blurRad="152400" dist="38100" dir="5400000" algn="ctr" rotWithShape="0">
                <a:srgbClr val="00E5FF">
                  <a:alpha val="6000"/>
                </a:srgbClr>
              </a:outerShdw>
            </a:effectLst>
          </p:spPr>
        </p:sp>
        <p:sp>
          <p:nvSpPr>
            <p:cNvPr id="13" name="TextBox 13"/>
            <p:cNvSpPr txBox="1"/>
            <p:nvPr/>
          </p:nvSpPr>
          <p:spPr>
            <a:xfrm>
              <a:off x="906018" y="1479232"/>
              <a:ext cx="2425625" cy="322707"/>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650" b="1" dirty="0">
                  <a:solidFill>
                    <a:srgbClr val="90A4AE"/>
                  </a:solidFill>
                  <a:latin typeface="Arial"/>
                  <a:ea typeface="Arial"/>
                  <a:cs typeface="Arial"/>
                </a:rPr>
                <a:t>AI Healthcare Market</a:t>
              </a:r>
            </a:p>
          </p:txBody>
        </p:sp>
        <p:sp>
          <p:nvSpPr>
            <p:cNvPr id="14" name="TextBox 14"/>
            <p:cNvSpPr txBox="1"/>
            <p:nvPr/>
          </p:nvSpPr>
          <p:spPr>
            <a:xfrm>
              <a:off x="907542" y="1759268"/>
              <a:ext cx="2092847" cy="264033"/>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350" dirty="0">
                  <a:solidFill>
                    <a:srgbClr val="546E7A"/>
                  </a:solidFill>
                  <a:latin typeface="Arial"/>
                  <a:ea typeface="Arial"/>
                  <a:cs typeface="Arial"/>
                </a:rPr>
                <a:t>Projected value by 2026</a:t>
              </a:r>
            </a:p>
          </p:txBody>
        </p:sp>
        <p:sp>
          <p:nvSpPr>
            <p:cNvPr id="15" name="TextBox 15"/>
            <p:cNvSpPr txBox="1"/>
            <p:nvPr/>
          </p:nvSpPr>
          <p:spPr>
            <a:xfrm>
              <a:off x="895350" y="2038350"/>
              <a:ext cx="2354275" cy="116205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6000" b="1" spc="-150" dirty="0">
                  <a:solidFill>
                    <a:srgbClr val="00E5FF"/>
                  </a:solidFill>
                  <a:latin typeface="Georgia"/>
                  <a:ea typeface="Georgia"/>
                  <a:cs typeface="Georgia"/>
                </a:rPr>
                <a:t>$45B</a:t>
              </a:r>
            </a:p>
          </p:txBody>
        </p:sp>
        <p:sp>
          <p:nvSpPr>
            <p:cNvPr id="16" name="TextBox 16"/>
            <p:cNvSpPr txBox="1"/>
            <p:nvPr/>
          </p:nvSpPr>
          <p:spPr>
            <a:xfrm>
              <a:off x="906780" y="3171825"/>
              <a:ext cx="1928731" cy="29337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500" dirty="0">
                  <a:solidFill>
                    <a:srgbClr val="4CAF50"/>
                  </a:solidFill>
                  <a:latin typeface="Arial"/>
                  <a:ea typeface="Arial"/>
                  <a:cs typeface="Arial"/>
                </a:rPr>
                <a:t>▲ from $11B in 2021</a:t>
              </a:r>
            </a:p>
          </p:txBody>
        </p:sp>
        <p:sp>
          <p:nvSpPr>
            <p:cNvPr id="17" name="TextBox 17"/>
            <p:cNvSpPr txBox="1"/>
            <p:nvPr/>
          </p:nvSpPr>
          <p:spPr>
            <a:xfrm>
              <a:off x="2278380" y="3171825"/>
              <a:ext cx="1176338" cy="29337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500" dirty="0">
                  <a:solidFill>
                    <a:srgbClr val="546E7A"/>
                  </a:solidFill>
                  <a:latin typeface="Arial"/>
                  <a:ea typeface="Arial"/>
                  <a:cs typeface="Arial"/>
                </a:rPr>
                <a:t>· 4× growth</a:t>
              </a:r>
            </a:p>
          </p:txBody>
        </p:sp>
        <p:sp>
          <p:nvSpPr>
            <p:cNvPr id="18" name="TextBox 18"/>
            <p:cNvSpPr txBox="1"/>
            <p:nvPr/>
          </p:nvSpPr>
          <p:spPr>
            <a:xfrm>
              <a:off x="2957439" y="3394710"/>
              <a:ext cx="2611257" cy="234696"/>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r"/>
              <a:r>
                <a:rPr lang="en-US" sz="1200" dirty="0">
                  <a:solidFill>
                    <a:srgbClr val="546E7A"/>
                  </a:solidFill>
                  <a:latin typeface="Arial"/>
                  <a:ea typeface="Arial"/>
                  <a:cs typeface="Arial"/>
                </a:rPr>
                <a:t>Source: Market Research Future</a:t>
              </a:r>
            </a:p>
          </p:txBody>
        </p:sp>
      </p:grpSp>
      <p:grpSp>
        <p:nvGrpSpPr>
          <p:cNvPr id="29" name="Group 29"/>
          <p:cNvGrpSpPr/>
          <p:nvPr/>
        </p:nvGrpSpPr>
        <p:grpSpPr>
          <a:xfrm>
            <a:off x="6248400" y="1143000"/>
            <a:ext cx="5334000" cy="2514600"/>
            <a:chOff x="6248400" y="1143000"/>
            <a:chExt cx="5334000" cy="2514600"/>
          </a:xfrm>
          <a:effectLst>
            <a:outerShdw blurRad="152400" dist="38100" dir="5400000" algn="ctr" rotWithShape="0">
              <a:srgbClr val="00E5FF">
                <a:alpha val="6000"/>
              </a:srgbClr>
            </a:outerShdw>
          </a:effectLst>
        </p:grpSpPr>
        <p:sp>
          <p:nvSpPr>
            <p:cNvPr id="20" name="Rectangle 20"/>
            <p:cNvSpPr/>
            <p:nvPr/>
          </p:nvSpPr>
          <p:spPr>
            <a:xfrm>
              <a:off x="6248400" y="1143000"/>
              <a:ext cx="5334000" cy="2514600"/>
            </a:xfrm>
            <a:prstGeom prst="roundRect">
              <a:avLst>
                <a:gd name="adj" fmla="val 3030"/>
              </a:avLst>
            </a:prstGeom>
            <a:solidFill>
              <a:srgbClr val="161B22"/>
            </a:solidFill>
            <a:ln>
              <a:noFill/>
            </a:ln>
            <a:effectLst>
              <a:outerShdw blurRad="152400" dist="38100" dir="5400000" algn="ctr" rotWithShape="0">
                <a:srgbClr val="00E5FF">
                  <a:alpha val="6000"/>
                </a:srgbClr>
              </a:outerShdw>
            </a:effectLst>
          </p:spPr>
        </p:sp>
        <p:sp>
          <p:nvSpPr>
            <p:cNvPr id="21" name="Rectangle 21"/>
            <p:cNvSpPr/>
            <p:nvPr/>
          </p:nvSpPr>
          <p:spPr>
            <a:xfrm>
              <a:off x="6248400" y="1143000"/>
              <a:ext cx="5334000" cy="38100"/>
            </a:xfrm>
            <a:prstGeom prst="roundRect">
              <a:avLst>
                <a:gd name="adj" fmla="val 50000"/>
              </a:avLst>
            </a:prstGeom>
            <a:solidFill>
              <a:srgbClr val="26A69A"/>
            </a:solidFill>
            <a:ln>
              <a:noFill/>
            </a:ln>
            <a:effectLst>
              <a:outerShdw blurRad="152400" dist="38100" dir="5400000" algn="ctr" rotWithShape="0">
                <a:srgbClr val="00E5FF">
                  <a:alpha val="6000"/>
                </a:srgbClr>
              </a:outerShdw>
            </a:effectLst>
          </p:spPr>
        </p:sp>
        <p:sp>
          <p:nvSpPr>
            <p:cNvPr id="22" name="Rectangle 22"/>
            <p:cNvSpPr/>
            <p:nvPr/>
          </p:nvSpPr>
          <p:spPr>
            <a:xfrm>
              <a:off x="6324600" y="1295400"/>
              <a:ext cx="57150" cy="838200"/>
            </a:xfrm>
            <a:prstGeom prst="roundRect">
              <a:avLst>
                <a:gd name="adj" fmla="val 50000"/>
              </a:avLst>
            </a:prstGeom>
            <a:solidFill>
              <a:srgbClr val="26A69A"/>
            </a:solidFill>
            <a:ln>
              <a:noFill/>
            </a:ln>
            <a:effectLst>
              <a:outerShdw blurRad="152400" dist="38100" dir="5400000" algn="ctr" rotWithShape="0">
                <a:srgbClr val="00E5FF">
                  <a:alpha val="6000"/>
                </a:srgbClr>
              </a:outerShdw>
            </a:effectLst>
          </p:spPr>
        </p:sp>
        <p:sp>
          <p:nvSpPr>
            <p:cNvPr id="23" name="TextBox 23"/>
            <p:cNvSpPr txBox="1"/>
            <p:nvPr/>
          </p:nvSpPr>
          <p:spPr>
            <a:xfrm>
              <a:off x="6544818" y="1479232"/>
              <a:ext cx="2600072" cy="322707"/>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650" b="1" dirty="0">
                  <a:solidFill>
                    <a:srgbClr val="90A4AE"/>
                  </a:solidFill>
                  <a:latin typeface="Arial"/>
                  <a:ea typeface="Arial"/>
                  <a:cs typeface="Arial"/>
                </a:rPr>
                <a:t>FDA-Cleared AI Devices</a:t>
              </a:r>
            </a:p>
          </p:txBody>
        </p:sp>
        <p:sp>
          <p:nvSpPr>
            <p:cNvPr id="24" name="TextBox 24"/>
            <p:cNvSpPr txBox="1"/>
            <p:nvPr/>
          </p:nvSpPr>
          <p:spPr>
            <a:xfrm>
              <a:off x="6546342" y="1759268"/>
              <a:ext cx="3305439" cy="264033"/>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350" dirty="0">
                  <a:solidFill>
                    <a:srgbClr val="546E7A"/>
                  </a:solidFill>
                  <a:latin typeface="Arial"/>
                  <a:ea typeface="Arial"/>
                  <a:cs typeface="Arial"/>
                </a:rPr>
                <a:t>AI/ML medical devices cleared (2021)</a:t>
              </a:r>
            </a:p>
          </p:txBody>
        </p:sp>
        <p:sp>
          <p:nvSpPr>
            <p:cNvPr id="25" name="TextBox 25"/>
            <p:cNvSpPr txBox="1"/>
            <p:nvPr/>
          </p:nvSpPr>
          <p:spPr>
            <a:xfrm>
              <a:off x="6534150" y="2038350"/>
              <a:ext cx="1945538" cy="116205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6000" b="1" spc="-150" dirty="0">
                  <a:solidFill>
                    <a:srgbClr val="26A69A"/>
                  </a:solidFill>
                  <a:latin typeface="Georgia"/>
                  <a:ea typeface="Georgia"/>
                  <a:cs typeface="Georgia"/>
                </a:rPr>
                <a:t>521+</a:t>
              </a:r>
            </a:p>
          </p:txBody>
        </p:sp>
        <p:sp>
          <p:nvSpPr>
            <p:cNvPr id="26" name="TextBox 26"/>
            <p:cNvSpPr txBox="1"/>
            <p:nvPr/>
          </p:nvSpPr>
          <p:spPr>
            <a:xfrm>
              <a:off x="6545580" y="3171825"/>
              <a:ext cx="1307592" cy="29337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500" dirty="0">
                  <a:solidFill>
                    <a:srgbClr val="4CAF50"/>
                  </a:solidFill>
                  <a:latin typeface="Arial"/>
                  <a:ea typeface="Arial"/>
                  <a:cs typeface="Arial"/>
                </a:rPr>
                <a:t>▲ 5× increase</a:t>
              </a:r>
            </a:p>
          </p:txBody>
        </p:sp>
        <p:sp>
          <p:nvSpPr>
            <p:cNvPr id="27" name="TextBox 27"/>
            <p:cNvSpPr txBox="1"/>
            <p:nvPr/>
          </p:nvSpPr>
          <p:spPr>
            <a:xfrm>
              <a:off x="7707630" y="3171825"/>
              <a:ext cx="1741742" cy="29337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500" dirty="0">
                  <a:solidFill>
                    <a:srgbClr val="546E7A"/>
                  </a:solidFill>
                  <a:latin typeface="Arial"/>
                  <a:ea typeface="Arial"/>
                  <a:cs typeface="Arial"/>
                </a:rPr>
                <a:t>from ~100 in 2019</a:t>
              </a:r>
            </a:p>
          </p:txBody>
        </p:sp>
        <p:sp>
          <p:nvSpPr>
            <p:cNvPr id="28" name="TextBox 28"/>
            <p:cNvSpPr txBox="1"/>
            <p:nvPr/>
          </p:nvSpPr>
          <p:spPr>
            <a:xfrm>
              <a:off x="8811821" y="3394710"/>
              <a:ext cx="2395675" cy="234696"/>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r"/>
              <a:r>
                <a:rPr lang="en-US" sz="1200" dirty="0">
                  <a:solidFill>
                    <a:srgbClr val="546E7A"/>
                  </a:solidFill>
                  <a:latin typeface="Arial"/>
                  <a:ea typeface="Arial"/>
                  <a:cs typeface="Arial"/>
                </a:rPr>
                <a:t>Source: FDA AI/ML Action Plan</a:t>
              </a:r>
            </a:p>
          </p:txBody>
        </p:sp>
      </p:grpSp>
      <p:grpSp>
        <p:nvGrpSpPr>
          <p:cNvPr id="39" name="Group 39"/>
          <p:cNvGrpSpPr/>
          <p:nvPr/>
        </p:nvGrpSpPr>
        <p:grpSpPr>
          <a:xfrm>
            <a:off x="609600" y="3886200"/>
            <a:ext cx="5937580" cy="2514600"/>
            <a:chOff x="609600" y="3886200"/>
            <a:chExt cx="5937580" cy="2514600"/>
          </a:xfrm>
          <a:effectLst>
            <a:outerShdw blurRad="152400" dist="38100" dir="5400000" algn="ctr" rotWithShape="0">
              <a:srgbClr val="00E5FF">
                <a:alpha val="6000"/>
              </a:srgbClr>
            </a:outerShdw>
          </a:effectLst>
        </p:grpSpPr>
        <p:sp>
          <p:nvSpPr>
            <p:cNvPr id="30" name="Rectangle 30"/>
            <p:cNvSpPr/>
            <p:nvPr/>
          </p:nvSpPr>
          <p:spPr>
            <a:xfrm>
              <a:off x="609600" y="3886200"/>
              <a:ext cx="5334000" cy="2514600"/>
            </a:xfrm>
            <a:prstGeom prst="roundRect">
              <a:avLst>
                <a:gd name="adj" fmla="val 3030"/>
              </a:avLst>
            </a:prstGeom>
            <a:solidFill>
              <a:srgbClr val="161B22"/>
            </a:solidFill>
            <a:ln>
              <a:noFill/>
            </a:ln>
            <a:effectLst>
              <a:outerShdw blurRad="152400" dist="38100" dir="5400000" algn="ctr" rotWithShape="0">
                <a:srgbClr val="00E5FF">
                  <a:alpha val="6000"/>
                </a:srgbClr>
              </a:outerShdw>
            </a:effectLst>
          </p:spPr>
        </p:sp>
        <p:sp>
          <p:nvSpPr>
            <p:cNvPr id="31" name="Rectangle 31"/>
            <p:cNvSpPr/>
            <p:nvPr/>
          </p:nvSpPr>
          <p:spPr>
            <a:xfrm>
              <a:off x="609600" y="3886200"/>
              <a:ext cx="5334000" cy="38100"/>
            </a:xfrm>
            <a:prstGeom prst="roundRect">
              <a:avLst>
                <a:gd name="adj" fmla="val 50000"/>
              </a:avLst>
            </a:prstGeom>
            <a:solidFill>
              <a:srgbClr val="F59E0B"/>
            </a:solidFill>
            <a:ln>
              <a:noFill/>
            </a:ln>
            <a:effectLst>
              <a:outerShdw blurRad="152400" dist="38100" dir="5400000" algn="ctr" rotWithShape="0">
                <a:srgbClr val="00E5FF">
                  <a:alpha val="6000"/>
                </a:srgbClr>
              </a:outerShdw>
            </a:effectLst>
          </p:spPr>
        </p:sp>
        <p:sp>
          <p:nvSpPr>
            <p:cNvPr id="32" name="Rectangle 32"/>
            <p:cNvSpPr/>
            <p:nvPr/>
          </p:nvSpPr>
          <p:spPr>
            <a:xfrm>
              <a:off x="685800" y="4038600"/>
              <a:ext cx="57150" cy="838200"/>
            </a:xfrm>
            <a:prstGeom prst="roundRect">
              <a:avLst>
                <a:gd name="adj" fmla="val 50000"/>
              </a:avLst>
            </a:prstGeom>
            <a:solidFill>
              <a:srgbClr val="F59E0B"/>
            </a:solidFill>
            <a:ln>
              <a:noFill/>
            </a:ln>
            <a:effectLst>
              <a:outerShdw blurRad="152400" dist="38100" dir="5400000" algn="ctr" rotWithShape="0">
                <a:srgbClr val="00E5FF">
                  <a:alpha val="6000"/>
                </a:srgbClr>
              </a:outerShdw>
            </a:effectLst>
          </p:spPr>
        </p:sp>
        <p:sp>
          <p:nvSpPr>
            <p:cNvPr id="33" name="TextBox 33"/>
            <p:cNvSpPr txBox="1"/>
            <p:nvPr/>
          </p:nvSpPr>
          <p:spPr>
            <a:xfrm>
              <a:off x="906018" y="4222432"/>
              <a:ext cx="2326668" cy="322707"/>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650" b="1" dirty="0">
                  <a:solidFill>
                    <a:srgbClr val="90A4AE"/>
                  </a:solidFill>
                  <a:latin typeface="Arial"/>
                  <a:ea typeface="Arial"/>
                  <a:cs typeface="Arial"/>
                </a:rPr>
                <a:t>Market Growth Rate</a:t>
              </a:r>
            </a:p>
          </p:txBody>
        </p:sp>
        <p:sp>
          <p:nvSpPr>
            <p:cNvPr id="34" name="TextBox 34"/>
            <p:cNvSpPr txBox="1"/>
            <p:nvPr/>
          </p:nvSpPr>
          <p:spPr>
            <a:xfrm>
              <a:off x="907542" y="4502468"/>
              <a:ext cx="2627900" cy="264033"/>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350" dirty="0">
                  <a:solidFill>
                    <a:srgbClr val="546E7A"/>
                  </a:solidFill>
                  <a:latin typeface="Arial"/>
                  <a:ea typeface="Arial"/>
                  <a:cs typeface="Arial"/>
                </a:rPr>
                <a:t>Compound Annual Growth Rate</a:t>
              </a:r>
            </a:p>
          </p:txBody>
        </p:sp>
        <p:sp>
          <p:nvSpPr>
            <p:cNvPr id="35" name="TextBox 35"/>
            <p:cNvSpPr txBox="1"/>
            <p:nvPr/>
          </p:nvSpPr>
          <p:spPr>
            <a:xfrm>
              <a:off x="895350" y="4781550"/>
              <a:ext cx="1653235" cy="116205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6000" b="1" spc="-150" dirty="0">
                  <a:solidFill>
                    <a:srgbClr val="F59E0B"/>
                  </a:solidFill>
                  <a:latin typeface="Georgia"/>
                  <a:ea typeface="Georgia"/>
                  <a:cs typeface="Georgia"/>
                </a:rPr>
                <a:t>40%</a:t>
              </a:r>
            </a:p>
          </p:txBody>
        </p:sp>
        <p:sp>
          <p:nvSpPr>
            <p:cNvPr id="36" name="TextBox 36"/>
            <p:cNvSpPr txBox="1"/>
            <p:nvPr/>
          </p:nvSpPr>
          <p:spPr>
            <a:xfrm>
              <a:off x="906780" y="5838825"/>
              <a:ext cx="1604772" cy="29337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500" dirty="0">
                  <a:solidFill>
                    <a:srgbClr val="F59E0B"/>
                  </a:solidFill>
                  <a:latin typeface="Arial"/>
                  <a:ea typeface="Arial"/>
                  <a:cs typeface="Arial"/>
                </a:rPr>
                <a:t>CAGR 2021–2026</a:t>
              </a:r>
            </a:p>
          </p:txBody>
        </p:sp>
        <p:sp>
          <p:nvSpPr>
            <p:cNvPr id="37" name="TextBox 37"/>
            <p:cNvSpPr txBox="1"/>
            <p:nvPr/>
          </p:nvSpPr>
          <p:spPr>
            <a:xfrm>
              <a:off x="2849880" y="5838825"/>
              <a:ext cx="3697300" cy="29337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500" dirty="0">
                  <a:solidFill>
                    <a:srgbClr val="546E7A"/>
                  </a:solidFill>
                  <a:latin typeface="Arial"/>
                  <a:ea typeface="Arial"/>
                  <a:cs typeface="Arial"/>
                </a:rPr>
                <a:t>· Fastest-growing healthcare sector</a:t>
              </a:r>
            </a:p>
          </p:txBody>
        </p:sp>
        <p:sp>
          <p:nvSpPr>
            <p:cNvPr id="38" name="TextBox 38"/>
            <p:cNvSpPr txBox="1"/>
            <p:nvPr/>
          </p:nvSpPr>
          <p:spPr>
            <a:xfrm>
              <a:off x="3264468" y="6099810"/>
              <a:ext cx="2304228" cy="234696"/>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r"/>
              <a:r>
                <a:rPr lang="en-US" sz="1200" dirty="0">
                  <a:solidFill>
                    <a:srgbClr val="546E7A"/>
                  </a:solidFill>
                  <a:latin typeface="Arial"/>
                  <a:ea typeface="Arial"/>
                  <a:cs typeface="Arial"/>
                </a:rPr>
                <a:t>Source: Grand View Research</a:t>
              </a:r>
            </a:p>
          </p:txBody>
        </p:sp>
      </p:grpSp>
      <p:grpSp>
        <p:nvGrpSpPr>
          <p:cNvPr id="49" name="Group 49"/>
          <p:cNvGrpSpPr/>
          <p:nvPr/>
        </p:nvGrpSpPr>
        <p:grpSpPr>
          <a:xfrm>
            <a:off x="6248400" y="3886200"/>
            <a:ext cx="5334000" cy="2514600"/>
            <a:chOff x="6248400" y="3886200"/>
            <a:chExt cx="5334000" cy="2514600"/>
          </a:xfrm>
          <a:effectLst>
            <a:outerShdw blurRad="152400" dist="38100" dir="5400000" algn="ctr" rotWithShape="0">
              <a:srgbClr val="00E5FF">
                <a:alpha val="6000"/>
              </a:srgbClr>
            </a:outerShdw>
          </a:effectLst>
        </p:grpSpPr>
        <p:sp>
          <p:nvSpPr>
            <p:cNvPr id="40" name="Rectangle 40"/>
            <p:cNvSpPr/>
            <p:nvPr/>
          </p:nvSpPr>
          <p:spPr>
            <a:xfrm>
              <a:off x="6248400" y="3886200"/>
              <a:ext cx="5334000" cy="2514600"/>
            </a:xfrm>
            <a:prstGeom prst="roundRect">
              <a:avLst>
                <a:gd name="adj" fmla="val 3030"/>
              </a:avLst>
            </a:prstGeom>
            <a:solidFill>
              <a:srgbClr val="161B22"/>
            </a:solidFill>
            <a:ln>
              <a:noFill/>
            </a:ln>
            <a:effectLst>
              <a:outerShdw blurRad="152400" dist="38100" dir="5400000" algn="ctr" rotWithShape="0">
                <a:srgbClr val="00E5FF">
                  <a:alpha val="6000"/>
                </a:srgbClr>
              </a:outerShdw>
            </a:effectLst>
          </p:spPr>
        </p:sp>
        <p:sp>
          <p:nvSpPr>
            <p:cNvPr id="41" name="Rectangle 41"/>
            <p:cNvSpPr/>
            <p:nvPr/>
          </p:nvSpPr>
          <p:spPr>
            <a:xfrm>
              <a:off x="6248400" y="3886200"/>
              <a:ext cx="5334000" cy="38100"/>
            </a:xfrm>
            <a:prstGeom prst="roundRect">
              <a:avLst>
                <a:gd name="adj" fmla="val 50000"/>
              </a:avLst>
            </a:prstGeom>
            <a:solidFill>
              <a:srgbClr val="FF5252"/>
            </a:solidFill>
            <a:ln>
              <a:noFill/>
            </a:ln>
            <a:effectLst>
              <a:outerShdw blurRad="152400" dist="38100" dir="5400000" algn="ctr" rotWithShape="0">
                <a:srgbClr val="00E5FF">
                  <a:alpha val="6000"/>
                </a:srgbClr>
              </a:outerShdw>
            </a:effectLst>
          </p:spPr>
        </p:sp>
        <p:sp>
          <p:nvSpPr>
            <p:cNvPr id="42" name="Rectangle 42"/>
            <p:cNvSpPr/>
            <p:nvPr/>
          </p:nvSpPr>
          <p:spPr>
            <a:xfrm>
              <a:off x="6324600" y="4038600"/>
              <a:ext cx="57150" cy="838200"/>
            </a:xfrm>
            <a:prstGeom prst="roundRect">
              <a:avLst>
                <a:gd name="adj" fmla="val 50000"/>
              </a:avLst>
            </a:prstGeom>
            <a:solidFill>
              <a:srgbClr val="FF5252"/>
            </a:solidFill>
            <a:ln>
              <a:noFill/>
            </a:ln>
            <a:effectLst>
              <a:outerShdw blurRad="152400" dist="38100" dir="5400000" algn="ctr" rotWithShape="0">
                <a:srgbClr val="00E5FF">
                  <a:alpha val="6000"/>
                </a:srgbClr>
              </a:outerShdw>
            </a:effectLst>
          </p:spPr>
        </p:sp>
        <p:sp>
          <p:nvSpPr>
            <p:cNvPr id="43" name="TextBox 43"/>
            <p:cNvSpPr txBox="1"/>
            <p:nvPr/>
          </p:nvSpPr>
          <p:spPr>
            <a:xfrm>
              <a:off x="6544818" y="4222432"/>
              <a:ext cx="3246355" cy="322707"/>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650" b="1" dirty="0">
                  <a:solidFill>
                    <a:srgbClr val="90A4AE"/>
                  </a:solidFill>
                  <a:latin typeface="Arial"/>
                  <a:ea typeface="Arial"/>
                  <a:cs typeface="Arial"/>
                </a:rPr>
                <a:t>Healthcare Worker Shortage</a:t>
              </a:r>
            </a:p>
          </p:txBody>
        </p:sp>
        <p:sp>
          <p:nvSpPr>
            <p:cNvPr id="44" name="TextBox 44"/>
            <p:cNvSpPr txBox="1"/>
            <p:nvPr/>
          </p:nvSpPr>
          <p:spPr>
            <a:xfrm>
              <a:off x="6546342" y="4502468"/>
              <a:ext cx="3009798" cy="264033"/>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350" dirty="0">
                  <a:solidFill>
                    <a:srgbClr val="546E7A"/>
                  </a:solidFill>
                  <a:latin typeface="Arial"/>
                  <a:ea typeface="Arial"/>
                  <a:cs typeface="Arial"/>
                </a:rPr>
                <a:t>Global shortfall projected by 2030</a:t>
              </a:r>
            </a:p>
          </p:txBody>
        </p:sp>
        <p:sp>
          <p:nvSpPr>
            <p:cNvPr id="45" name="TextBox 45"/>
            <p:cNvSpPr txBox="1"/>
            <p:nvPr/>
          </p:nvSpPr>
          <p:spPr>
            <a:xfrm>
              <a:off x="6534150" y="4781550"/>
              <a:ext cx="1999336" cy="116205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6000" b="1" spc="-150" dirty="0">
                  <a:solidFill>
                    <a:srgbClr val="FF5252"/>
                  </a:solidFill>
                  <a:latin typeface="Georgia"/>
                  <a:ea typeface="Georgia"/>
                  <a:cs typeface="Georgia"/>
                </a:rPr>
                <a:t>18M</a:t>
              </a:r>
            </a:p>
          </p:txBody>
        </p:sp>
        <p:sp>
          <p:nvSpPr>
            <p:cNvPr id="46" name="TextBox 46"/>
            <p:cNvSpPr txBox="1"/>
            <p:nvPr/>
          </p:nvSpPr>
          <p:spPr>
            <a:xfrm>
              <a:off x="6545580" y="5838825"/>
              <a:ext cx="2694432" cy="29337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500" dirty="0">
                  <a:solidFill>
                    <a:srgbClr val="FF5252"/>
                  </a:solidFill>
                  <a:latin typeface="Arial"/>
                  <a:ea typeface="Arial"/>
                  <a:cs typeface="Arial"/>
                </a:rPr>
                <a:t>Including 5M fewer doctors</a:t>
              </a:r>
            </a:p>
          </p:txBody>
        </p:sp>
        <p:sp>
          <p:nvSpPr>
            <p:cNvPr id="47" name="TextBox 47"/>
            <p:cNvSpPr txBox="1"/>
            <p:nvPr/>
          </p:nvSpPr>
          <p:spPr>
            <a:xfrm>
              <a:off x="8374380" y="5838825"/>
              <a:ext cx="1358075" cy="293370"/>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l"/>
              <a:r>
                <a:rPr lang="en-US" sz="1500" dirty="0">
                  <a:solidFill>
                    <a:srgbClr val="546E7A"/>
                  </a:solidFill>
                  <a:latin typeface="Arial"/>
                  <a:ea typeface="Arial"/>
                  <a:cs typeface="Arial"/>
                </a:rPr>
                <a:t>than required</a:t>
              </a:r>
            </a:p>
          </p:txBody>
        </p:sp>
        <p:sp>
          <p:nvSpPr>
            <p:cNvPr id="48" name="TextBox 48"/>
            <p:cNvSpPr txBox="1"/>
            <p:nvPr/>
          </p:nvSpPr>
          <p:spPr>
            <a:xfrm>
              <a:off x="9663430" y="6099810"/>
              <a:ext cx="1544066" cy="234696"/>
            </a:xfrm>
            <a:prstGeom prst="rect">
              <a:avLst/>
            </a:prstGeom>
            <a:noFill/>
            <a:ln>
              <a:noFill/>
            </a:ln>
            <a:effectLst>
              <a:outerShdw blurRad="152400" dist="38100" dir="5400000" algn="ctr" rotWithShape="0">
                <a:srgbClr val="00E5FF">
                  <a:alpha val="6000"/>
                </a:srgbClr>
              </a:outerShdw>
            </a:effectLst>
          </p:spPr>
          <p:txBody>
            <a:bodyPr wrap="none" lIns="0" tIns="0" rIns="0" bIns="0" anchor="t" anchorCtr="0">
              <a:spAutoFit/>
            </a:bodyPr>
            <a:lstStyle/>
            <a:p>
              <a:pPr algn="r"/>
              <a:r>
                <a:rPr lang="en-US" sz="1200" dirty="0">
                  <a:solidFill>
                    <a:srgbClr val="546E7A"/>
                  </a:solidFill>
                  <a:latin typeface="Arial"/>
                  <a:ea typeface="Arial"/>
                  <a:cs typeface="Arial"/>
                </a:rPr>
                <a:t>Source: WHO, 2021</a:t>
              </a:r>
            </a:p>
          </p:txBody>
        </p:sp>
      </p:grpSp>
      <p:grpSp>
        <p:nvGrpSpPr>
          <p:cNvPr id="53" name="Group 53"/>
          <p:cNvGrpSpPr/>
          <p:nvPr/>
        </p:nvGrpSpPr>
        <p:grpSpPr>
          <a:xfrm>
            <a:off x="603504" y="6572250"/>
            <a:ext cx="10984992" cy="276606"/>
            <a:chOff x="603504" y="6572250"/>
            <a:chExt cx="10984992" cy="276606"/>
          </a:xfrm>
        </p:grpSpPr>
        <p:sp>
          <p:nvSpPr>
            <p:cNvPr id="50" name="Line 50"/>
            <p:cNvSpPr/>
            <p:nvPr/>
          </p:nvSpPr>
          <p:spPr>
            <a:xfrm>
              <a:off x="609600" y="657225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51" name="TextBox 51"/>
            <p:cNvSpPr txBox="1"/>
            <p:nvPr/>
          </p:nvSpPr>
          <p:spPr>
            <a:xfrm>
              <a:off x="603504" y="661416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52" name="TextBox 52"/>
            <p:cNvSpPr txBox="1"/>
            <p:nvPr/>
          </p:nvSpPr>
          <p:spPr>
            <a:xfrm>
              <a:off x="11035132" y="661416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05 / 14</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grpSp>
      <p:grpSp>
        <p:nvGrpSpPr>
          <p:cNvPr id="9" name="Group 9"/>
          <p:cNvGrpSpPr/>
          <p:nvPr/>
        </p:nvGrpSpPr>
        <p:grpSpPr>
          <a:xfrm>
            <a:off x="609600" y="201930"/>
            <a:ext cx="10972800" cy="817245"/>
            <a:chOff x="609600" y="201930"/>
            <a:chExt cx="10972800" cy="817245"/>
          </a:xfrm>
        </p:grpSpPr>
        <p:sp>
          <p:nvSpPr>
            <p:cNvPr id="5" name="Rectangle 5"/>
            <p:cNvSpPr/>
            <p:nvPr/>
          </p:nvSpPr>
          <p:spPr>
            <a:xfrm>
              <a:off x="609600" y="304800"/>
              <a:ext cx="38100" cy="457200"/>
            </a:xfrm>
            <a:prstGeom prst="roundRect">
              <a:avLst>
                <a:gd name="adj" fmla="val 50000"/>
              </a:avLst>
            </a:prstGeom>
            <a:gradFill>
              <a:gsLst>
                <a:gs pos="0">
                  <a:srgbClr val="00796B"/>
                </a:gs>
                <a:gs pos="100000">
                  <a:srgbClr val="00E5FF"/>
                </a:gs>
              </a:gsLst>
              <a:lin ang="0" scaled="1"/>
            </a:gradFill>
            <a:ln>
              <a:noFill/>
            </a:ln>
          </p:spPr>
        </p:sp>
        <p:sp>
          <p:nvSpPr>
            <p:cNvPr id="6" name="TextBox 6"/>
            <p:cNvSpPr txBox="1"/>
            <p:nvPr/>
          </p:nvSpPr>
          <p:spPr>
            <a:xfrm>
              <a:off x="781812" y="201930"/>
              <a:ext cx="8500403" cy="704088"/>
            </a:xfrm>
            <a:prstGeom prst="rect">
              <a:avLst/>
            </a:prstGeom>
            <a:noFill/>
            <a:ln>
              <a:noFill/>
            </a:ln>
          </p:spPr>
          <p:txBody>
            <a:bodyPr wrap="none" lIns="0" tIns="0" rIns="0" bIns="0" anchor="t" anchorCtr="0">
              <a:spAutoFit/>
            </a:bodyPr>
            <a:lstStyle/>
            <a:p>
              <a:pPr algn="l"/>
              <a:r>
                <a:rPr lang="en-US" sz="3600" b="1" dirty="0">
                  <a:solidFill>
                    <a:srgbClr val="E8F5E9"/>
                  </a:solidFill>
                  <a:latin typeface="Georgia"/>
                  <a:ea typeface="Georgia"/>
                  <a:cs typeface="Georgia"/>
                </a:rPr>
                <a:t>The Three Engines of Medical AI</a:t>
              </a:r>
            </a:p>
          </p:txBody>
        </p:sp>
        <p:sp>
          <p:nvSpPr>
            <p:cNvPr id="7" name="TextBox 7"/>
            <p:cNvSpPr txBox="1"/>
            <p:nvPr/>
          </p:nvSpPr>
          <p:spPr>
            <a:xfrm>
              <a:off x="791718" y="679132"/>
              <a:ext cx="9882309"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Each AI family solves a distinct class of clinical problem — together they make AI universal.</a:t>
              </a:r>
            </a:p>
          </p:txBody>
        </p:sp>
        <p:sp>
          <p:nvSpPr>
            <p:cNvPr id="8" name="Line 8"/>
            <p:cNvSpPr/>
            <p:nvPr/>
          </p:nvSpPr>
          <p:spPr>
            <a:xfrm>
              <a:off x="609600" y="1009650"/>
              <a:ext cx="10972800" cy="9525"/>
            </a:xfrm>
            <a:custGeom>
              <a:avLst/>
              <a:gdLst/>
              <a:ahLst/>
              <a:cxnLst/>
              <a:rect l="l" t="t" r="r" b="b"/>
              <a:pathLst>
                <a:path w="10972800" h="9525">
                  <a:moveTo>
                    <a:pt x="0" y="0"/>
                  </a:moveTo>
                  <a:lnTo>
                    <a:pt x="10972800" y="0"/>
                  </a:lnTo>
                </a:path>
              </a:pathLst>
            </a:custGeom>
            <a:noFill/>
            <a:ln w="9525">
              <a:solidFill>
                <a:srgbClr val="263238"/>
              </a:solidFill>
            </a:ln>
          </p:spPr>
        </p:sp>
      </p:grpSp>
      <p:grpSp>
        <p:nvGrpSpPr>
          <p:cNvPr id="14" name="Group 14"/>
          <p:cNvGrpSpPr/>
          <p:nvPr/>
        </p:nvGrpSpPr>
        <p:grpSpPr>
          <a:xfrm>
            <a:off x="4229100" y="3181350"/>
            <a:ext cx="3924300" cy="114300"/>
            <a:chOff x="4229100" y="3181350"/>
            <a:chExt cx="3924300" cy="114300"/>
          </a:xfrm>
        </p:grpSpPr>
        <p:sp>
          <p:nvSpPr>
            <p:cNvPr id="10" name="Line 10"/>
            <p:cNvSpPr/>
            <p:nvPr/>
          </p:nvSpPr>
          <p:spPr>
            <a:xfrm>
              <a:off x="4229100" y="3238500"/>
              <a:ext cx="190500" cy="9525"/>
            </a:xfrm>
            <a:custGeom>
              <a:avLst/>
              <a:gdLst/>
              <a:ahLst/>
              <a:cxnLst/>
              <a:rect l="l" t="t" r="r" b="b"/>
              <a:pathLst>
                <a:path w="190500" h="9525">
                  <a:moveTo>
                    <a:pt x="0" y="0"/>
                  </a:moveTo>
                  <a:lnTo>
                    <a:pt x="190500" y="0"/>
                  </a:lnTo>
                </a:path>
              </a:pathLst>
            </a:custGeom>
            <a:noFill/>
            <a:ln w="19050">
              <a:solidFill>
                <a:srgbClr val="263238"/>
              </a:solidFill>
              <a:prstDash val="dash"/>
            </a:ln>
          </p:spPr>
        </p:sp>
        <p:sp>
          <p:nvSpPr>
            <p:cNvPr id="11" name="Line 11"/>
            <p:cNvSpPr/>
            <p:nvPr/>
          </p:nvSpPr>
          <p:spPr>
            <a:xfrm>
              <a:off x="7962900" y="3238500"/>
              <a:ext cx="190500" cy="9525"/>
            </a:xfrm>
            <a:custGeom>
              <a:avLst/>
              <a:gdLst/>
              <a:ahLst/>
              <a:cxnLst/>
              <a:rect l="l" t="t" r="r" b="b"/>
              <a:pathLst>
                <a:path w="190500" h="9525">
                  <a:moveTo>
                    <a:pt x="0" y="0"/>
                  </a:moveTo>
                  <a:lnTo>
                    <a:pt x="190500" y="0"/>
                  </a:lnTo>
                </a:path>
              </a:pathLst>
            </a:custGeom>
            <a:noFill/>
            <a:ln w="19050">
              <a:solidFill>
                <a:srgbClr val="263238"/>
              </a:solidFill>
              <a:prstDash val="dash"/>
            </a:ln>
          </p:spPr>
        </p:sp>
        <p:sp>
          <p:nvSpPr>
            <p:cNvPr id="12" name="Polygon 12"/>
            <p:cNvSpPr/>
            <p:nvPr/>
          </p:nvSpPr>
          <p:spPr>
            <a:xfrm>
              <a:off x="4381500" y="3181350"/>
              <a:ext cx="38100" cy="114300"/>
            </a:xfrm>
            <a:custGeom>
              <a:avLst/>
              <a:gdLst/>
              <a:ahLst/>
              <a:cxnLst/>
              <a:rect l="l" t="t" r="r" b="b"/>
              <a:pathLst>
                <a:path w="38100" h="114300">
                  <a:moveTo>
                    <a:pt x="0" y="0"/>
                  </a:moveTo>
                  <a:lnTo>
                    <a:pt x="38100" y="57150"/>
                  </a:lnTo>
                  <a:lnTo>
                    <a:pt x="0" y="114300"/>
                  </a:lnTo>
                  <a:close/>
                </a:path>
              </a:pathLst>
            </a:custGeom>
            <a:solidFill>
              <a:srgbClr val="263238"/>
            </a:solidFill>
            <a:ln>
              <a:noFill/>
            </a:ln>
          </p:spPr>
        </p:sp>
        <p:sp>
          <p:nvSpPr>
            <p:cNvPr id="13" name="Polygon 13"/>
            <p:cNvSpPr/>
            <p:nvPr/>
          </p:nvSpPr>
          <p:spPr>
            <a:xfrm>
              <a:off x="8115300" y="3181350"/>
              <a:ext cx="38100" cy="114300"/>
            </a:xfrm>
            <a:custGeom>
              <a:avLst/>
              <a:gdLst/>
              <a:ahLst/>
              <a:cxnLst/>
              <a:rect l="l" t="t" r="r" b="b"/>
              <a:pathLst>
                <a:path w="38100" h="114300">
                  <a:moveTo>
                    <a:pt x="0" y="0"/>
                  </a:moveTo>
                  <a:lnTo>
                    <a:pt x="38100" y="57150"/>
                  </a:lnTo>
                  <a:lnTo>
                    <a:pt x="0" y="114300"/>
                  </a:lnTo>
                  <a:close/>
                </a:path>
              </a:pathLst>
            </a:custGeom>
            <a:solidFill>
              <a:srgbClr val="263238"/>
            </a:solidFill>
            <a:ln>
              <a:noFill/>
            </a:ln>
          </p:spPr>
        </p:sp>
      </p:grpSp>
      <p:grpSp>
        <p:nvGrpSpPr>
          <p:cNvPr id="37" name="Group 37"/>
          <p:cNvGrpSpPr/>
          <p:nvPr/>
        </p:nvGrpSpPr>
        <p:grpSpPr>
          <a:xfrm>
            <a:off x="609600" y="1219200"/>
            <a:ext cx="3904442" cy="4972050"/>
            <a:chOff x="609600" y="1219200"/>
            <a:chExt cx="3904442" cy="4972050"/>
          </a:xfrm>
        </p:grpSpPr>
        <p:sp>
          <p:nvSpPr>
            <p:cNvPr id="15" name="Rectangle 15"/>
            <p:cNvSpPr/>
            <p:nvPr/>
          </p:nvSpPr>
          <p:spPr>
            <a:xfrm>
              <a:off x="609600" y="1238250"/>
              <a:ext cx="3619500" cy="4953000"/>
            </a:xfrm>
            <a:prstGeom prst="roundRect">
              <a:avLst>
                <a:gd name="adj" fmla="val 2105"/>
              </a:avLst>
            </a:prstGeom>
            <a:solidFill>
              <a:srgbClr val="161B22"/>
            </a:solidFill>
            <a:ln>
              <a:noFill/>
            </a:ln>
          </p:spPr>
        </p:sp>
        <p:sp>
          <p:nvSpPr>
            <p:cNvPr id="16" name="Rectangle 16"/>
            <p:cNvSpPr/>
            <p:nvPr/>
          </p:nvSpPr>
          <p:spPr>
            <a:xfrm>
              <a:off x="609600" y="1238250"/>
              <a:ext cx="3619500" cy="4953000"/>
            </a:xfrm>
            <a:prstGeom prst="roundRect">
              <a:avLst>
                <a:gd name="adj" fmla="val 2105"/>
              </a:avLst>
            </a:prstGeom>
            <a:gradFill>
              <a:gsLst>
                <a:gs pos="0">
                  <a:srgbClr val="00E5FF">
                    <a:alpha val="15000"/>
                  </a:srgbClr>
                </a:gs>
                <a:gs pos="100000">
                  <a:srgbClr val="00E5FF">
                    <a:alpha val="0"/>
                  </a:srgbClr>
                </a:gs>
              </a:gsLst>
              <a:lin ang="5400000" scaled="1"/>
            </a:gradFill>
            <a:ln>
              <a:noFill/>
            </a:ln>
          </p:spPr>
        </p:sp>
        <p:sp>
          <p:nvSpPr>
            <p:cNvPr id="17" name="Rectangle 17"/>
            <p:cNvSpPr/>
            <p:nvPr/>
          </p:nvSpPr>
          <p:spPr>
            <a:xfrm>
              <a:off x="609600" y="1238250"/>
              <a:ext cx="3619500" cy="38100"/>
            </a:xfrm>
            <a:prstGeom prst="roundRect">
              <a:avLst>
                <a:gd name="adj" fmla="val 50000"/>
              </a:avLst>
            </a:prstGeom>
            <a:solidFill>
              <a:srgbClr val="00E5FF"/>
            </a:solidFill>
            <a:ln>
              <a:noFill/>
            </a:ln>
          </p:spPr>
        </p:sp>
        <p:sp>
          <p:nvSpPr>
            <p:cNvPr id="18" name="TextBox 18"/>
            <p:cNvSpPr txBox="1"/>
            <p:nvPr/>
          </p:nvSpPr>
          <p:spPr>
            <a:xfrm>
              <a:off x="2540965" y="1219200"/>
              <a:ext cx="1516685" cy="1733550"/>
            </a:xfrm>
            <a:prstGeom prst="rect">
              <a:avLst/>
            </a:prstGeom>
            <a:noFill/>
            <a:ln>
              <a:noFill/>
            </a:ln>
          </p:spPr>
          <p:txBody>
            <a:bodyPr wrap="none" lIns="0" tIns="0" rIns="0" bIns="0" anchor="t" anchorCtr="0">
              <a:spAutoFit/>
            </a:bodyPr>
            <a:lstStyle/>
            <a:p>
              <a:pPr algn="r"/>
              <a:r>
                <a:rPr lang="en-US" sz="9000" b="1" dirty="0">
                  <a:solidFill>
                    <a:srgbClr val="00E5FF">
                      <a:alphaMod val="8000"/>
                    </a:srgbClr>
                  </a:solidFill>
                  <a:latin typeface="Georgia"/>
                  <a:ea typeface="Georgia"/>
                  <a:cs typeface="Georgia"/>
                </a:rPr>
                <a:t>01</a:t>
              </a:r>
            </a:p>
          </p:txBody>
        </p:sp>
        <p:sp>
          <p:nvSpPr>
            <p:cNvPr id="19" name="Rectangle 19"/>
            <p:cNvSpPr/>
            <p:nvPr/>
          </p:nvSpPr>
          <p:spPr>
            <a:xfrm>
              <a:off x="914400" y="1409700"/>
              <a:ext cx="533400" cy="533400"/>
            </a:xfrm>
            <a:prstGeom prst="roundRect">
              <a:avLst>
                <a:gd name="adj" fmla="val 17857"/>
              </a:avLst>
            </a:prstGeom>
            <a:solidFill>
              <a:srgbClr val="1C2333"/>
            </a:solidFill>
            <a:ln>
              <a:noFill/>
            </a:ln>
          </p:spPr>
        </p:sp>
        <p:grpSp>
          <p:nvGrpSpPr>
            <p:cNvPr id="26" name="Group 26"/>
            <p:cNvGrpSpPr/>
            <p:nvPr/>
          </p:nvGrpSpPr>
          <p:grpSpPr>
            <a:xfrm>
              <a:off x="981075" y="1476375"/>
              <a:ext cx="400049" cy="400050"/>
              <a:chOff x="981075" y="1476375"/>
              <a:chExt cx="400049" cy="400050"/>
            </a:xfrm>
          </p:grpSpPr>
          <p:sp>
            <p:nvSpPr>
              <p:cNvPr id="20" name="Freeform 20"/>
              <p:cNvSpPr/>
              <p:nvPr/>
            </p:nvSpPr>
            <p:spPr>
              <a:xfrm>
                <a:off x="1181100" y="1698625"/>
                <a:ext cx="155575" cy="177800"/>
              </a:xfrm>
              <a:custGeom>
                <a:avLst/>
                <a:gdLst/>
                <a:ahLst/>
                <a:cxnLst/>
                <a:rect l="l" t="t" r="r" b="b"/>
                <a:pathLst>
                  <a:path w="155575" h="177800">
                    <a:moveTo>
                      <a:pt x="77787" y="0"/>
                    </a:moveTo>
                    <a:cubicBezTo>
                      <a:pt x="34827" y="0"/>
                      <a:pt x="0" y="34827"/>
                      <a:pt x="0" y="77787"/>
                    </a:cubicBezTo>
                    <a:lnTo>
                      <a:pt x="0" y="100012"/>
                    </a:lnTo>
                    <a:cubicBezTo>
                      <a:pt x="0" y="142973"/>
                      <a:pt x="34827" y="177800"/>
                      <a:pt x="77787" y="177800"/>
                    </a:cubicBezTo>
                    <a:cubicBezTo>
                      <a:pt x="120748" y="177800"/>
                      <a:pt x="155575" y="142973"/>
                      <a:pt x="155575" y="100012"/>
                    </a:cubicBezTo>
                    <a:lnTo>
                      <a:pt x="155575" y="60007"/>
                    </a:lnTo>
                  </a:path>
                </a:pathLst>
              </a:custGeom>
              <a:noFill/>
              <a:ln w="19050">
                <a:solidFill>
                  <a:srgbClr val="00E5FF"/>
                </a:solidFill>
              </a:ln>
            </p:spPr>
          </p:sp>
          <p:sp>
            <p:nvSpPr>
              <p:cNvPr id="21" name="Freeform 21"/>
              <p:cNvSpPr/>
              <p:nvPr/>
            </p:nvSpPr>
            <p:spPr>
              <a:xfrm>
                <a:off x="1025525" y="1698625"/>
                <a:ext cx="155575" cy="177800"/>
              </a:xfrm>
              <a:custGeom>
                <a:avLst/>
                <a:gdLst/>
                <a:ahLst/>
                <a:cxnLst/>
                <a:rect l="l" t="t" r="r" b="b"/>
                <a:pathLst>
                  <a:path w="155575" h="177800">
                    <a:moveTo>
                      <a:pt x="77787" y="0"/>
                    </a:moveTo>
                    <a:cubicBezTo>
                      <a:pt x="120748" y="0"/>
                      <a:pt x="155575" y="34827"/>
                      <a:pt x="155575" y="77787"/>
                    </a:cubicBezTo>
                    <a:lnTo>
                      <a:pt x="155575" y="100012"/>
                    </a:lnTo>
                    <a:cubicBezTo>
                      <a:pt x="155575" y="142973"/>
                      <a:pt x="120748" y="177800"/>
                      <a:pt x="77787" y="177800"/>
                    </a:cubicBezTo>
                    <a:cubicBezTo>
                      <a:pt x="34827" y="177800"/>
                      <a:pt x="0" y="142973"/>
                      <a:pt x="0" y="100012"/>
                    </a:cubicBezTo>
                    <a:lnTo>
                      <a:pt x="0" y="60007"/>
                    </a:lnTo>
                  </a:path>
                </a:pathLst>
              </a:custGeom>
              <a:noFill/>
              <a:ln w="19050">
                <a:solidFill>
                  <a:srgbClr val="00E5FF"/>
                </a:solidFill>
              </a:ln>
            </p:spPr>
          </p:sp>
          <p:sp>
            <p:nvSpPr>
              <p:cNvPr id="22" name="Freeform 22"/>
              <p:cNvSpPr/>
              <p:nvPr/>
            </p:nvSpPr>
            <p:spPr>
              <a:xfrm>
                <a:off x="1292224" y="1609725"/>
                <a:ext cx="88900" cy="155575"/>
              </a:xfrm>
              <a:custGeom>
                <a:avLst/>
                <a:gdLst/>
                <a:ahLst/>
                <a:cxnLst/>
                <a:rect l="l" t="t" r="r" b="b"/>
                <a:pathLst>
                  <a:path w="88900" h="155575">
                    <a:moveTo>
                      <a:pt x="11112" y="155575"/>
                    </a:moveTo>
                    <a:cubicBezTo>
                      <a:pt x="54073" y="155575"/>
                      <a:pt x="88900" y="120748"/>
                      <a:pt x="88900" y="77787"/>
                    </a:cubicBezTo>
                    <a:cubicBezTo>
                      <a:pt x="88900" y="34827"/>
                      <a:pt x="54073" y="0"/>
                      <a:pt x="11112" y="0"/>
                    </a:cubicBezTo>
                    <a:lnTo>
                      <a:pt x="0" y="0"/>
                    </a:lnTo>
                  </a:path>
                </a:pathLst>
              </a:custGeom>
              <a:noFill/>
              <a:ln w="19050">
                <a:solidFill>
                  <a:srgbClr val="00E5FF"/>
                </a:solidFill>
              </a:ln>
            </p:spPr>
          </p:sp>
          <p:sp>
            <p:nvSpPr>
              <p:cNvPr id="23" name="Freeform 23"/>
              <p:cNvSpPr/>
              <p:nvPr/>
            </p:nvSpPr>
            <p:spPr>
              <a:xfrm>
                <a:off x="1181100" y="1476375"/>
                <a:ext cx="155575" cy="140017"/>
              </a:xfrm>
              <a:custGeom>
                <a:avLst/>
                <a:gdLst/>
                <a:ahLst/>
                <a:cxnLst/>
                <a:rect l="l" t="t" r="r" b="b"/>
                <a:pathLst>
                  <a:path w="155575" h="140017">
                    <a:moveTo>
                      <a:pt x="155575" y="140017"/>
                    </a:moveTo>
                    <a:lnTo>
                      <a:pt x="155575" y="77787"/>
                    </a:lnTo>
                    <a:cubicBezTo>
                      <a:pt x="155575" y="34827"/>
                      <a:pt x="120748" y="0"/>
                      <a:pt x="77787" y="0"/>
                    </a:cubicBezTo>
                    <a:cubicBezTo>
                      <a:pt x="34827" y="0"/>
                      <a:pt x="0" y="34827"/>
                      <a:pt x="0" y="77787"/>
                    </a:cubicBezTo>
                  </a:path>
                </a:pathLst>
              </a:custGeom>
              <a:noFill/>
              <a:ln w="19050">
                <a:solidFill>
                  <a:srgbClr val="00E5FF"/>
                </a:solidFill>
              </a:ln>
            </p:spPr>
          </p:sp>
          <p:sp>
            <p:nvSpPr>
              <p:cNvPr id="24" name="Freeform 24"/>
              <p:cNvSpPr/>
              <p:nvPr/>
            </p:nvSpPr>
            <p:spPr>
              <a:xfrm>
                <a:off x="981075" y="1609725"/>
                <a:ext cx="88900" cy="155575"/>
              </a:xfrm>
              <a:custGeom>
                <a:avLst/>
                <a:gdLst/>
                <a:ahLst/>
                <a:cxnLst/>
                <a:rect l="l" t="t" r="r" b="b"/>
                <a:pathLst>
                  <a:path w="88900" h="155575">
                    <a:moveTo>
                      <a:pt x="77787" y="155575"/>
                    </a:moveTo>
                    <a:cubicBezTo>
                      <a:pt x="34827" y="155575"/>
                      <a:pt x="0" y="120748"/>
                      <a:pt x="0" y="77787"/>
                    </a:cubicBezTo>
                    <a:cubicBezTo>
                      <a:pt x="0" y="34827"/>
                      <a:pt x="34827" y="0"/>
                      <a:pt x="77787" y="0"/>
                    </a:cubicBezTo>
                    <a:lnTo>
                      <a:pt x="88900" y="0"/>
                    </a:lnTo>
                  </a:path>
                </a:pathLst>
              </a:custGeom>
              <a:noFill/>
              <a:ln w="19050">
                <a:solidFill>
                  <a:srgbClr val="00E5FF"/>
                </a:solidFill>
              </a:ln>
            </p:spPr>
          </p:sp>
          <p:sp>
            <p:nvSpPr>
              <p:cNvPr id="25" name="Freeform 25"/>
              <p:cNvSpPr/>
              <p:nvPr/>
            </p:nvSpPr>
            <p:spPr>
              <a:xfrm>
                <a:off x="1025525" y="1476375"/>
                <a:ext cx="155575" cy="300037"/>
              </a:xfrm>
              <a:custGeom>
                <a:avLst/>
                <a:gdLst/>
                <a:ahLst/>
                <a:cxnLst/>
                <a:rect l="l" t="t" r="r" b="b"/>
                <a:pathLst>
                  <a:path w="155575" h="300037">
                    <a:moveTo>
                      <a:pt x="0" y="140017"/>
                    </a:moveTo>
                    <a:lnTo>
                      <a:pt x="0" y="77787"/>
                    </a:lnTo>
                    <a:cubicBezTo>
                      <a:pt x="0" y="34827"/>
                      <a:pt x="34827" y="0"/>
                      <a:pt x="77787" y="0"/>
                    </a:cubicBezTo>
                    <a:cubicBezTo>
                      <a:pt x="120748" y="0"/>
                      <a:pt x="155575" y="34827"/>
                      <a:pt x="155575" y="77787"/>
                    </a:cubicBezTo>
                    <a:lnTo>
                      <a:pt x="155575" y="300037"/>
                    </a:lnTo>
                  </a:path>
                </a:pathLst>
              </a:custGeom>
              <a:noFill/>
              <a:ln w="19050">
                <a:solidFill>
                  <a:srgbClr val="00E5FF"/>
                </a:solidFill>
              </a:ln>
            </p:spPr>
          </p:sp>
        </p:grpSp>
        <p:sp>
          <p:nvSpPr>
            <p:cNvPr id="27" name="TextBox 27"/>
            <p:cNvSpPr txBox="1"/>
            <p:nvPr/>
          </p:nvSpPr>
          <p:spPr>
            <a:xfrm>
              <a:off x="902208" y="2160270"/>
              <a:ext cx="2493173" cy="469392"/>
            </a:xfrm>
            <a:prstGeom prst="rect">
              <a:avLst/>
            </a:prstGeom>
            <a:noFill/>
            <a:ln>
              <a:noFill/>
            </a:ln>
          </p:spPr>
          <p:txBody>
            <a:bodyPr wrap="none" lIns="0" tIns="0" rIns="0" bIns="0" anchor="t" anchorCtr="0">
              <a:spAutoFit/>
            </a:bodyPr>
            <a:lstStyle/>
            <a:p>
              <a:pPr algn="l"/>
              <a:r>
                <a:rPr lang="en-US" sz="2400" b="1" dirty="0">
                  <a:solidFill>
                    <a:srgbClr val="E8F5E9"/>
                  </a:solidFill>
                  <a:latin typeface="Georgia"/>
                  <a:ea typeface="Georgia"/>
                  <a:cs typeface="Georgia"/>
                </a:rPr>
                <a:t>Deep Learning</a:t>
              </a:r>
            </a:p>
          </p:txBody>
        </p:sp>
        <p:sp>
          <p:nvSpPr>
            <p:cNvPr id="28" name="TextBox 28"/>
            <p:cNvSpPr txBox="1"/>
            <p:nvPr/>
          </p:nvSpPr>
          <p:spPr>
            <a:xfrm>
              <a:off x="907542" y="2578418"/>
              <a:ext cx="1837944" cy="264033"/>
            </a:xfrm>
            <a:prstGeom prst="rect">
              <a:avLst/>
            </a:prstGeom>
            <a:noFill/>
            <a:ln>
              <a:noFill/>
            </a:ln>
          </p:spPr>
          <p:txBody>
            <a:bodyPr wrap="none" lIns="0" tIns="0" rIns="0" bIns="0" anchor="t" anchorCtr="0">
              <a:spAutoFit/>
            </a:bodyPr>
            <a:lstStyle/>
            <a:p>
              <a:pPr algn="l"/>
              <a:r>
                <a:rPr lang="en-US" sz="1350" spc="112" dirty="0">
                  <a:solidFill>
                    <a:srgbClr val="00E5FF"/>
                  </a:solidFill>
                  <a:latin typeface="Arial"/>
                  <a:ea typeface="Arial"/>
                  <a:cs typeface="Arial"/>
                </a:rPr>
                <a:t>MACHINE LEARNING</a:t>
              </a:r>
            </a:p>
          </p:txBody>
        </p:sp>
        <p:sp>
          <p:nvSpPr>
            <p:cNvPr id="29" name="TextBox 29"/>
            <p:cNvSpPr txBox="1"/>
            <p:nvPr/>
          </p:nvSpPr>
          <p:spPr>
            <a:xfrm>
              <a:off x="906018" y="3060382"/>
              <a:ext cx="3133401"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Pattern recognition in EHRs,</a:t>
              </a:r>
            </a:p>
          </p:txBody>
        </p:sp>
        <p:sp>
          <p:nvSpPr>
            <p:cNvPr id="30" name="TextBox 30"/>
            <p:cNvSpPr txBox="1"/>
            <p:nvPr/>
          </p:nvSpPr>
          <p:spPr>
            <a:xfrm>
              <a:off x="906018" y="3327082"/>
              <a:ext cx="3337503"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genomic data, and lab results.</a:t>
              </a:r>
            </a:p>
          </p:txBody>
        </p:sp>
        <p:sp>
          <p:nvSpPr>
            <p:cNvPr id="31" name="TextBox 31"/>
            <p:cNvSpPr txBox="1"/>
            <p:nvPr/>
          </p:nvSpPr>
          <p:spPr>
            <a:xfrm>
              <a:off x="906018" y="3593782"/>
              <a:ext cx="3377368"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Detects subtle signals invisible</a:t>
              </a:r>
            </a:p>
          </p:txBody>
        </p:sp>
        <p:sp>
          <p:nvSpPr>
            <p:cNvPr id="32" name="TextBox 32"/>
            <p:cNvSpPr txBox="1"/>
            <p:nvPr/>
          </p:nvSpPr>
          <p:spPr>
            <a:xfrm>
              <a:off x="906018" y="3860482"/>
              <a:ext cx="3037637"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to the human eye — including</a:t>
              </a:r>
            </a:p>
          </p:txBody>
        </p:sp>
        <p:sp>
          <p:nvSpPr>
            <p:cNvPr id="33" name="TextBox 33"/>
            <p:cNvSpPr txBox="1"/>
            <p:nvPr/>
          </p:nvSpPr>
          <p:spPr>
            <a:xfrm>
              <a:off x="906018" y="4127182"/>
              <a:ext cx="3104274"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sepsis onset 12 hours early.</a:t>
              </a:r>
            </a:p>
          </p:txBody>
        </p:sp>
        <p:sp>
          <p:nvSpPr>
            <p:cNvPr id="34" name="Rectangle 34"/>
            <p:cNvSpPr/>
            <p:nvPr/>
          </p:nvSpPr>
          <p:spPr>
            <a:xfrm>
              <a:off x="914400" y="4648200"/>
              <a:ext cx="3143250" cy="571500"/>
            </a:xfrm>
            <a:prstGeom prst="roundRect">
              <a:avLst>
                <a:gd name="adj" fmla="val 10000"/>
              </a:avLst>
            </a:prstGeom>
            <a:solidFill>
              <a:srgbClr val="1C2333"/>
            </a:solidFill>
            <a:ln>
              <a:noFill/>
            </a:ln>
          </p:spPr>
        </p:sp>
        <p:sp>
          <p:nvSpPr>
            <p:cNvPr id="35" name="TextBox 35"/>
            <p:cNvSpPr txBox="1"/>
            <p:nvPr/>
          </p:nvSpPr>
          <p:spPr>
            <a:xfrm>
              <a:off x="1059942" y="4740592"/>
              <a:ext cx="2858414" cy="264033"/>
            </a:xfrm>
            <a:prstGeom prst="rect">
              <a:avLst/>
            </a:prstGeom>
            <a:noFill/>
            <a:ln>
              <a:noFill/>
            </a:ln>
          </p:spPr>
          <p:txBody>
            <a:bodyPr wrap="none" lIns="0" tIns="0" rIns="0" bIns="0" anchor="t" anchorCtr="0">
              <a:spAutoFit/>
            </a:bodyPr>
            <a:lstStyle/>
            <a:p>
              <a:pPr algn="l"/>
              <a:r>
                <a:rPr lang="en-US" sz="1350" dirty="0">
                  <a:solidFill>
                    <a:srgbClr val="00E5FF"/>
                  </a:solidFill>
                  <a:latin typeface="Arial"/>
                  <a:ea typeface="Arial"/>
                  <a:cs typeface="Arial"/>
                </a:rPr>
                <a:t>AlphaFold · GPT-4 (USMLE 90th)</a:t>
              </a:r>
            </a:p>
          </p:txBody>
        </p:sp>
        <p:sp>
          <p:nvSpPr>
            <p:cNvPr id="36" name="TextBox 36"/>
            <p:cNvSpPr txBox="1"/>
            <p:nvPr/>
          </p:nvSpPr>
          <p:spPr>
            <a:xfrm>
              <a:off x="1059942" y="4969192"/>
              <a:ext cx="3454100" cy="264033"/>
            </a:xfrm>
            <a:prstGeom prst="rect">
              <a:avLst/>
            </a:prstGeom>
            <a:noFill/>
            <a:ln>
              <a:noFill/>
            </a:ln>
          </p:spPr>
          <p:txBody>
            <a:bodyPr wrap="none" lIns="0" tIns="0" rIns="0" bIns="0" anchor="t" anchorCtr="0">
              <a:spAutoFit/>
            </a:bodyPr>
            <a:lstStyle/>
            <a:p>
              <a:pPr algn="l"/>
              <a:r>
                <a:rPr lang="en-US" sz="1350" dirty="0">
                  <a:solidFill>
                    <a:srgbClr val="546E7A"/>
                  </a:solidFill>
                  <a:latin typeface="Arial"/>
                  <a:ea typeface="Arial"/>
                  <a:cs typeface="Arial"/>
                </a:rPr>
                <a:t>Federated learning across institutions</a:t>
              </a:r>
            </a:p>
          </p:txBody>
        </p:sp>
      </p:grpSp>
      <p:grpSp>
        <p:nvGrpSpPr>
          <p:cNvPr id="61" name="Group 61"/>
          <p:cNvGrpSpPr/>
          <p:nvPr/>
        </p:nvGrpSpPr>
        <p:grpSpPr>
          <a:xfrm>
            <a:off x="4343400" y="1219200"/>
            <a:ext cx="3619500" cy="4972050"/>
            <a:chOff x="4343400" y="1219200"/>
            <a:chExt cx="3619500" cy="4972050"/>
          </a:xfrm>
        </p:grpSpPr>
        <p:sp>
          <p:nvSpPr>
            <p:cNvPr id="38" name="Rectangle 38"/>
            <p:cNvSpPr/>
            <p:nvPr/>
          </p:nvSpPr>
          <p:spPr>
            <a:xfrm>
              <a:off x="4343400" y="1238250"/>
              <a:ext cx="3619500" cy="4953000"/>
            </a:xfrm>
            <a:prstGeom prst="roundRect">
              <a:avLst>
                <a:gd name="adj" fmla="val 2105"/>
              </a:avLst>
            </a:prstGeom>
            <a:solidFill>
              <a:srgbClr val="161B22"/>
            </a:solidFill>
            <a:ln>
              <a:noFill/>
            </a:ln>
          </p:spPr>
        </p:sp>
        <p:sp>
          <p:nvSpPr>
            <p:cNvPr id="39" name="Rectangle 39"/>
            <p:cNvSpPr/>
            <p:nvPr/>
          </p:nvSpPr>
          <p:spPr>
            <a:xfrm>
              <a:off x="4343400" y="1238250"/>
              <a:ext cx="3619500" cy="4953000"/>
            </a:xfrm>
            <a:prstGeom prst="roundRect">
              <a:avLst>
                <a:gd name="adj" fmla="val 2105"/>
              </a:avLst>
            </a:prstGeom>
            <a:gradFill>
              <a:gsLst>
                <a:gs pos="0">
                  <a:srgbClr val="00796B">
                    <a:alpha val="15000"/>
                  </a:srgbClr>
                </a:gs>
                <a:gs pos="100000">
                  <a:srgbClr val="00796B">
                    <a:alpha val="0"/>
                  </a:srgbClr>
                </a:gs>
              </a:gsLst>
              <a:lin ang="5400000" scaled="1"/>
            </a:gradFill>
            <a:ln>
              <a:noFill/>
            </a:ln>
          </p:spPr>
        </p:sp>
        <p:sp>
          <p:nvSpPr>
            <p:cNvPr id="40" name="Rectangle 40"/>
            <p:cNvSpPr/>
            <p:nvPr/>
          </p:nvSpPr>
          <p:spPr>
            <a:xfrm>
              <a:off x="4343400" y="1238250"/>
              <a:ext cx="3619500" cy="38100"/>
            </a:xfrm>
            <a:prstGeom prst="roundRect">
              <a:avLst>
                <a:gd name="adj" fmla="val 50000"/>
              </a:avLst>
            </a:prstGeom>
            <a:solidFill>
              <a:srgbClr val="00796B"/>
            </a:solidFill>
            <a:ln>
              <a:noFill/>
            </a:ln>
          </p:spPr>
        </p:sp>
        <p:sp>
          <p:nvSpPr>
            <p:cNvPr id="41" name="TextBox 41"/>
            <p:cNvSpPr txBox="1"/>
            <p:nvPr/>
          </p:nvSpPr>
          <p:spPr>
            <a:xfrm>
              <a:off x="6274765" y="1219200"/>
              <a:ext cx="1516685" cy="1733550"/>
            </a:xfrm>
            <a:prstGeom prst="rect">
              <a:avLst/>
            </a:prstGeom>
            <a:noFill/>
            <a:ln>
              <a:noFill/>
            </a:ln>
          </p:spPr>
          <p:txBody>
            <a:bodyPr wrap="none" lIns="0" tIns="0" rIns="0" bIns="0" anchor="t" anchorCtr="0">
              <a:spAutoFit/>
            </a:bodyPr>
            <a:lstStyle/>
            <a:p>
              <a:pPr algn="r"/>
              <a:r>
                <a:rPr lang="en-US" sz="9000" b="1" dirty="0">
                  <a:solidFill>
                    <a:srgbClr val="00796B">
                      <a:alphaMod val="8000"/>
                    </a:srgbClr>
                  </a:solidFill>
                  <a:latin typeface="Georgia"/>
                  <a:ea typeface="Georgia"/>
                  <a:cs typeface="Georgia"/>
                </a:rPr>
                <a:t>02</a:t>
              </a:r>
            </a:p>
          </p:txBody>
        </p:sp>
        <p:sp>
          <p:nvSpPr>
            <p:cNvPr id="42" name="Rectangle 42"/>
            <p:cNvSpPr/>
            <p:nvPr/>
          </p:nvSpPr>
          <p:spPr>
            <a:xfrm>
              <a:off x="4648200" y="1409700"/>
              <a:ext cx="533400" cy="533400"/>
            </a:xfrm>
            <a:prstGeom prst="roundRect">
              <a:avLst>
                <a:gd name="adj" fmla="val 17857"/>
              </a:avLst>
            </a:prstGeom>
            <a:solidFill>
              <a:srgbClr val="1C2333"/>
            </a:solidFill>
            <a:ln>
              <a:noFill/>
            </a:ln>
          </p:spPr>
        </p:sp>
        <p:grpSp>
          <p:nvGrpSpPr>
            <p:cNvPr id="50" name="Group 50"/>
            <p:cNvGrpSpPr/>
            <p:nvPr/>
          </p:nvGrpSpPr>
          <p:grpSpPr>
            <a:xfrm>
              <a:off x="4759325" y="1476375"/>
              <a:ext cx="333374" cy="409574"/>
              <a:chOff x="4759325" y="1476375"/>
              <a:chExt cx="333374" cy="409574"/>
            </a:xfrm>
          </p:grpSpPr>
          <p:sp>
            <p:nvSpPr>
              <p:cNvPr id="43" name="Freeform 43"/>
              <p:cNvSpPr/>
              <p:nvPr/>
            </p:nvSpPr>
            <p:spPr>
              <a:xfrm>
                <a:off x="4759325" y="1876424"/>
                <a:ext cx="311150" cy="9525"/>
              </a:xfrm>
              <a:custGeom>
                <a:avLst/>
                <a:gdLst/>
                <a:ahLst/>
                <a:cxnLst/>
                <a:rect l="l" t="t" r="r" b="b"/>
                <a:pathLst>
                  <a:path w="311150" h="9525">
                    <a:moveTo>
                      <a:pt x="0" y="0"/>
                    </a:moveTo>
                    <a:lnTo>
                      <a:pt x="311150" y="0"/>
                    </a:lnTo>
                  </a:path>
                </a:pathLst>
              </a:custGeom>
              <a:noFill/>
              <a:ln w="19050">
                <a:solidFill>
                  <a:srgbClr val="00796B"/>
                </a:solidFill>
              </a:ln>
            </p:spPr>
          </p:sp>
          <p:sp>
            <p:nvSpPr>
              <p:cNvPr id="44" name="Freeform 44"/>
              <p:cNvSpPr/>
              <p:nvPr/>
            </p:nvSpPr>
            <p:spPr>
              <a:xfrm>
                <a:off x="4781550" y="1809749"/>
                <a:ext cx="44450" cy="9525"/>
              </a:xfrm>
              <a:custGeom>
                <a:avLst/>
                <a:gdLst/>
                <a:ahLst/>
                <a:cxnLst/>
                <a:rect l="l" t="t" r="r" b="b"/>
                <a:pathLst>
                  <a:path w="44450" h="9525">
                    <a:moveTo>
                      <a:pt x="0" y="0"/>
                    </a:moveTo>
                    <a:lnTo>
                      <a:pt x="44450" y="0"/>
                    </a:lnTo>
                  </a:path>
                </a:pathLst>
              </a:custGeom>
              <a:noFill/>
              <a:ln w="19050">
                <a:solidFill>
                  <a:srgbClr val="00796B"/>
                </a:solidFill>
              </a:ln>
            </p:spPr>
          </p:sp>
          <p:sp>
            <p:nvSpPr>
              <p:cNvPr id="45" name="Freeform 45"/>
              <p:cNvSpPr/>
              <p:nvPr/>
            </p:nvSpPr>
            <p:spPr>
              <a:xfrm>
                <a:off x="4803775" y="1809749"/>
                <a:ext cx="9525" cy="66675"/>
              </a:xfrm>
              <a:custGeom>
                <a:avLst/>
                <a:gdLst/>
                <a:ahLst/>
                <a:cxnLst/>
                <a:rect l="l" t="t" r="r" b="b"/>
                <a:pathLst>
                  <a:path w="9525" h="66675">
                    <a:moveTo>
                      <a:pt x="0" y="0"/>
                    </a:moveTo>
                    <a:lnTo>
                      <a:pt x="0" y="66675"/>
                    </a:lnTo>
                  </a:path>
                </a:pathLst>
              </a:custGeom>
              <a:noFill/>
              <a:ln w="19050">
                <a:solidFill>
                  <a:srgbClr val="00796B"/>
                </a:solidFill>
              </a:ln>
            </p:spPr>
          </p:sp>
          <p:sp>
            <p:nvSpPr>
              <p:cNvPr id="46" name="Freeform 46"/>
              <p:cNvSpPr/>
              <p:nvPr/>
            </p:nvSpPr>
            <p:spPr>
              <a:xfrm>
                <a:off x="4848225" y="1520825"/>
                <a:ext cx="200025" cy="200025"/>
              </a:xfrm>
              <a:custGeom>
                <a:avLst/>
                <a:gdLst/>
                <a:ahLst/>
                <a:cxnLst/>
                <a:rect l="l" t="t" r="r" b="b"/>
                <a:pathLst>
                  <a:path w="200025" h="200025">
                    <a:moveTo>
                      <a:pt x="0" y="133350"/>
                    </a:moveTo>
                    <a:lnTo>
                      <a:pt x="66675" y="200025"/>
                    </a:lnTo>
                    <a:lnTo>
                      <a:pt x="200025" y="66675"/>
                    </a:lnTo>
                    <a:lnTo>
                      <a:pt x="133350" y="0"/>
                    </a:lnTo>
                    <a:lnTo>
                      <a:pt x="0" y="133350"/>
                    </a:lnTo>
                  </a:path>
                </a:pathLst>
              </a:custGeom>
              <a:noFill/>
              <a:ln w="19050">
                <a:solidFill>
                  <a:srgbClr val="00796B"/>
                </a:solidFill>
              </a:ln>
            </p:spPr>
          </p:sp>
          <p:sp>
            <p:nvSpPr>
              <p:cNvPr id="47" name="Freeform 47"/>
              <p:cNvSpPr/>
              <p:nvPr/>
            </p:nvSpPr>
            <p:spPr>
              <a:xfrm>
                <a:off x="4848225" y="1687512"/>
                <a:ext cx="33337" cy="33337"/>
              </a:xfrm>
              <a:custGeom>
                <a:avLst/>
                <a:gdLst/>
                <a:ahLst/>
                <a:cxnLst/>
                <a:rect l="l" t="t" r="r" b="b"/>
                <a:pathLst>
                  <a:path w="33337" h="33337">
                    <a:moveTo>
                      <a:pt x="33337" y="0"/>
                    </a:moveTo>
                    <a:lnTo>
                      <a:pt x="0" y="33337"/>
                    </a:lnTo>
                  </a:path>
                </a:pathLst>
              </a:custGeom>
              <a:noFill/>
              <a:ln w="19050">
                <a:solidFill>
                  <a:srgbClr val="00796B"/>
                </a:solidFill>
              </a:ln>
            </p:spPr>
          </p:sp>
          <p:sp>
            <p:nvSpPr>
              <p:cNvPr id="48" name="Freeform 48"/>
              <p:cNvSpPr/>
              <p:nvPr/>
            </p:nvSpPr>
            <p:spPr>
              <a:xfrm>
                <a:off x="5026024" y="1476375"/>
                <a:ext cx="66675" cy="66675"/>
              </a:xfrm>
              <a:custGeom>
                <a:avLst/>
                <a:gdLst/>
                <a:ahLst/>
                <a:cxnLst/>
                <a:rect l="l" t="t" r="r" b="b"/>
                <a:pathLst>
                  <a:path w="66675" h="66675">
                    <a:moveTo>
                      <a:pt x="0" y="0"/>
                    </a:moveTo>
                    <a:lnTo>
                      <a:pt x="66675" y="66675"/>
                    </a:lnTo>
                  </a:path>
                </a:pathLst>
              </a:custGeom>
              <a:noFill/>
              <a:ln w="19050">
                <a:solidFill>
                  <a:srgbClr val="00796B"/>
                </a:solidFill>
              </a:ln>
            </p:spPr>
          </p:sp>
          <p:sp>
            <p:nvSpPr>
              <p:cNvPr id="49" name="Freeform 49"/>
              <p:cNvSpPr/>
              <p:nvPr/>
            </p:nvSpPr>
            <p:spPr>
              <a:xfrm>
                <a:off x="4914900" y="1638350"/>
                <a:ext cx="144615" cy="238079"/>
              </a:xfrm>
              <a:custGeom>
                <a:avLst/>
                <a:gdLst/>
                <a:ahLst/>
                <a:cxnLst/>
                <a:rect l="l" t="t" r="r" b="b"/>
                <a:pathLst>
                  <a:path w="144615" h="238079">
                    <a:moveTo>
                      <a:pt x="0" y="238074"/>
                    </a:moveTo>
                    <a:cubicBezTo>
                      <a:pt x="56810" y="238079"/>
                      <a:pt x="107386" y="202092"/>
                      <a:pt x="126001" y="148418"/>
                    </a:cubicBezTo>
                    <a:cubicBezTo>
                      <a:pt x="144615" y="94744"/>
                      <a:pt x="127181" y="35170"/>
                      <a:pt x="82566" y="0"/>
                    </a:cubicBezTo>
                  </a:path>
                </a:pathLst>
              </a:custGeom>
              <a:noFill/>
              <a:ln w="19050">
                <a:solidFill>
                  <a:srgbClr val="00796B"/>
                </a:solidFill>
              </a:ln>
            </p:spPr>
          </p:sp>
        </p:grpSp>
        <p:sp>
          <p:nvSpPr>
            <p:cNvPr id="51" name="TextBox 51"/>
            <p:cNvSpPr txBox="1"/>
            <p:nvPr/>
          </p:nvSpPr>
          <p:spPr>
            <a:xfrm>
              <a:off x="4636008" y="2160270"/>
              <a:ext cx="2868900" cy="469392"/>
            </a:xfrm>
            <a:prstGeom prst="rect">
              <a:avLst/>
            </a:prstGeom>
            <a:noFill/>
            <a:ln>
              <a:noFill/>
            </a:ln>
          </p:spPr>
          <p:txBody>
            <a:bodyPr wrap="none" lIns="0" tIns="0" rIns="0" bIns="0" anchor="t" anchorCtr="0">
              <a:spAutoFit/>
            </a:bodyPr>
            <a:lstStyle/>
            <a:p>
              <a:pPr algn="l"/>
              <a:r>
                <a:rPr lang="en-US" sz="2400" b="1" dirty="0">
                  <a:solidFill>
                    <a:srgbClr val="E8F5E9"/>
                  </a:solidFill>
                  <a:latin typeface="Georgia"/>
                  <a:ea typeface="Georgia"/>
                  <a:cs typeface="Georgia"/>
                </a:rPr>
                <a:t>Computer Vision</a:t>
              </a:r>
            </a:p>
          </p:txBody>
        </p:sp>
        <p:sp>
          <p:nvSpPr>
            <p:cNvPr id="52" name="TextBox 52"/>
            <p:cNvSpPr txBox="1"/>
            <p:nvPr/>
          </p:nvSpPr>
          <p:spPr>
            <a:xfrm>
              <a:off x="4641342" y="2578418"/>
              <a:ext cx="1706728" cy="264033"/>
            </a:xfrm>
            <a:prstGeom prst="rect">
              <a:avLst/>
            </a:prstGeom>
            <a:noFill/>
            <a:ln>
              <a:noFill/>
            </a:ln>
          </p:spPr>
          <p:txBody>
            <a:bodyPr wrap="none" lIns="0" tIns="0" rIns="0" bIns="0" anchor="t" anchorCtr="0">
              <a:spAutoFit/>
            </a:bodyPr>
            <a:lstStyle/>
            <a:p>
              <a:pPr algn="l"/>
              <a:r>
                <a:rPr lang="en-US" sz="1350" spc="112" dirty="0">
                  <a:solidFill>
                    <a:srgbClr val="00796B"/>
                  </a:solidFill>
                  <a:latin typeface="Arial"/>
                  <a:ea typeface="Arial"/>
                  <a:cs typeface="Arial"/>
                </a:rPr>
                <a:t>MEDICAL IMAGING</a:t>
              </a:r>
            </a:p>
          </p:txBody>
        </p:sp>
        <p:sp>
          <p:nvSpPr>
            <p:cNvPr id="53" name="TextBox 53"/>
            <p:cNvSpPr txBox="1"/>
            <p:nvPr/>
          </p:nvSpPr>
          <p:spPr>
            <a:xfrm>
              <a:off x="4639818" y="3060382"/>
              <a:ext cx="3283020"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Analyzes X-ray, CT, MRI, OCT</a:t>
              </a:r>
            </a:p>
          </p:txBody>
        </p:sp>
        <p:sp>
          <p:nvSpPr>
            <p:cNvPr id="54" name="TextBox 54"/>
            <p:cNvSpPr txBox="1"/>
            <p:nvPr/>
          </p:nvSpPr>
          <p:spPr>
            <a:xfrm>
              <a:off x="4639818" y="3327082"/>
              <a:ext cx="3215335"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fundus photos, and pathology</a:t>
              </a:r>
            </a:p>
          </p:txBody>
        </p:sp>
        <p:sp>
          <p:nvSpPr>
            <p:cNvPr id="55" name="TextBox 55"/>
            <p:cNvSpPr txBox="1"/>
            <p:nvPr/>
          </p:nvSpPr>
          <p:spPr>
            <a:xfrm>
              <a:off x="4639818" y="3593782"/>
              <a:ext cx="3248654"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slides — at or above specialist</a:t>
              </a:r>
            </a:p>
          </p:txBody>
        </p:sp>
        <p:sp>
          <p:nvSpPr>
            <p:cNvPr id="56" name="TextBox 56"/>
            <p:cNvSpPr txBox="1"/>
            <p:nvPr/>
          </p:nvSpPr>
          <p:spPr>
            <a:xfrm>
              <a:off x="4639818" y="3860482"/>
              <a:ext cx="3159804"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accuracy for key conditions.</a:t>
              </a:r>
            </a:p>
          </p:txBody>
        </p:sp>
        <p:sp>
          <p:nvSpPr>
            <p:cNvPr id="57" name="TextBox 57"/>
            <p:cNvSpPr txBox="1"/>
            <p:nvPr/>
          </p:nvSpPr>
          <p:spPr>
            <a:xfrm>
              <a:off x="4639818" y="4127182"/>
              <a:ext cx="2678720"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~75% of FDA clearances.</a:t>
              </a:r>
            </a:p>
          </p:txBody>
        </p:sp>
        <p:sp>
          <p:nvSpPr>
            <p:cNvPr id="58" name="Rectangle 58"/>
            <p:cNvSpPr/>
            <p:nvPr/>
          </p:nvSpPr>
          <p:spPr>
            <a:xfrm>
              <a:off x="4648200" y="4648200"/>
              <a:ext cx="3143250" cy="571500"/>
            </a:xfrm>
            <a:prstGeom prst="roundRect">
              <a:avLst>
                <a:gd name="adj" fmla="val 10000"/>
              </a:avLst>
            </a:prstGeom>
            <a:solidFill>
              <a:srgbClr val="1C2333"/>
            </a:solidFill>
            <a:ln>
              <a:noFill/>
            </a:ln>
          </p:spPr>
        </p:sp>
        <p:sp>
          <p:nvSpPr>
            <p:cNvPr id="59" name="TextBox 59"/>
            <p:cNvSpPr txBox="1"/>
            <p:nvPr/>
          </p:nvSpPr>
          <p:spPr>
            <a:xfrm>
              <a:off x="4793742" y="4740592"/>
              <a:ext cx="2839726" cy="264033"/>
            </a:xfrm>
            <a:prstGeom prst="rect">
              <a:avLst/>
            </a:prstGeom>
            <a:noFill/>
            <a:ln>
              <a:noFill/>
            </a:ln>
          </p:spPr>
          <p:txBody>
            <a:bodyPr wrap="none" lIns="0" tIns="0" rIns="0" bIns="0" anchor="t" anchorCtr="0">
              <a:spAutoFit/>
            </a:bodyPr>
            <a:lstStyle/>
            <a:p>
              <a:pPr algn="l"/>
              <a:r>
                <a:rPr lang="en-US" sz="1350" dirty="0">
                  <a:solidFill>
                    <a:srgbClr val="00796B"/>
                  </a:solidFill>
                  <a:latin typeface="Arial"/>
                  <a:ea typeface="Arial"/>
                  <a:cs typeface="Arial"/>
                </a:rPr>
                <a:t>91% sensitivity on retinal scans</a:t>
              </a:r>
            </a:p>
          </p:txBody>
        </p:sp>
        <p:sp>
          <p:nvSpPr>
            <p:cNvPr id="60" name="TextBox 60"/>
            <p:cNvSpPr txBox="1"/>
            <p:nvPr/>
          </p:nvSpPr>
          <p:spPr>
            <a:xfrm>
              <a:off x="4793742" y="4969192"/>
              <a:ext cx="2930595" cy="264033"/>
            </a:xfrm>
            <a:prstGeom prst="rect">
              <a:avLst/>
            </a:prstGeom>
            <a:noFill/>
            <a:ln>
              <a:noFill/>
            </a:ln>
          </p:spPr>
          <p:txBody>
            <a:bodyPr wrap="none" lIns="0" tIns="0" rIns="0" bIns="0" anchor="t" anchorCtr="0">
              <a:spAutoFit/>
            </a:bodyPr>
            <a:lstStyle/>
            <a:p>
              <a:pPr algn="l"/>
              <a:r>
                <a:rPr lang="en-US" sz="1350" dirty="0">
                  <a:solidFill>
                    <a:srgbClr val="546E7A"/>
                  </a:solidFill>
                  <a:latin typeface="Arial"/>
                  <a:ea typeface="Arial"/>
                  <a:cs typeface="Arial"/>
                </a:rPr>
                <a:t>35% less radiologist reading time</a:t>
              </a:r>
            </a:p>
          </p:txBody>
        </p:sp>
      </p:grpSp>
      <p:grpSp>
        <p:nvGrpSpPr>
          <p:cNvPr id="80" name="Group 80"/>
          <p:cNvGrpSpPr/>
          <p:nvPr/>
        </p:nvGrpSpPr>
        <p:grpSpPr>
          <a:xfrm>
            <a:off x="8077200" y="1219200"/>
            <a:ext cx="3999672" cy="4972050"/>
            <a:chOff x="8077200" y="1219200"/>
            <a:chExt cx="3999672" cy="4972050"/>
          </a:xfrm>
        </p:grpSpPr>
        <p:sp>
          <p:nvSpPr>
            <p:cNvPr id="62" name="Rectangle 62"/>
            <p:cNvSpPr/>
            <p:nvPr/>
          </p:nvSpPr>
          <p:spPr>
            <a:xfrm>
              <a:off x="8077200" y="1238250"/>
              <a:ext cx="3505200" cy="4953000"/>
            </a:xfrm>
            <a:prstGeom prst="roundRect">
              <a:avLst>
                <a:gd name="adj" fmla="val 2174"/>
              </a:avLst>
            </a:prstGeom>
            <a:solidFill>
              <a:srgbClr val="161B22"/>
            </a:solidFill>
            <a:ln>
              <a:noFill/>
            </a:ln>
          </p:spPr>
        </p:sp>
        <p:sp>
          <p:nvSpPr>
            <p:cNvPr id="63" name="Rectangle 63"/>
            <p:cNvSpPr/>
            <p:nvPr/>
          </p:nvSpPr>
          <p:spPr>
            <a:xfrm>
              <a:off x="8077200" y="1238250"/>
              <a:ext cx="3505200" cy="4953000"/>
            </a:xfrm>
            <a:prstGeom prst="roundRect">
              <a:avLst>
                <a:gd name="adj" fmla="val 2174"/>
              </a:avLst>
            </a:prstGeom>
            <a:gradFill>
              <a:gsLst>
                <a:gs pos="0">
                  <a:srgbClr val="26A69A">
                    <a:alpha val="15000"/>
                  </a:srgbClr>
                </a:gs>
                <a:gs pos="100000">
                  <a:srgbClr val="26A69A">
                    <a:alpha val="0"/>
                  </a:srgbClr>
                </a:gs>
              </a:gsLst>
              <a:lin ang="5400000" scaled="1"/>
            </a:gradFill>
            <a:ln>
              <a:noFill/>
            </a:ln>
          </p:spPr>
        </p:sp>
        <p:sp>
          <p:nvSpPr>
            <p:cNvPr id="64" name="Rectangle 64"/>
            <p:cNvSpPr/>
            <p:nvPr/>
          </p:nvSpPr>
          <p:spPr>
            <a:xfrm>
              <a:off x="8077200" y="1238250"/>
              <a:ext cx="3505200" cy="38100"/>
            </a:xfrm>
            <a:prstGeom prst="roundRect">
              <a:avLst>
                <a:gd name="adj" fmla="val 50000"/>
              </a:avLst>
            </a:prstGeom>
            <a:solidFill>
              <a:srgbClr val="26A69A"/>
            </a:solidFill>
            <a:ln>
              <a:noFill/>
            </a:ln>
          </p:spPr>
        </p:sp>
        <p:sp>
          <p:nvSpPr>
            <p:cNvPr id="65" name="TextBox 65"/>
            <p:cNvSpPr txBox="1"/>
            <p:nvPr/>
          </p:nvSpPr>
          <p:spPr>
            <a:xfrm>
              <a:off x="9894265" y="1219200"/>
              <a:ext cx="1516685" cy="1733550"/>
            </a:xfrm>
            <a:prstGeom prst="rect">
              <a:avLst/>
            </a:prstGeom>
            <a:noFill/>
            <a:ln>
              <a:noFill/>
            </a:ln>
          </p:spPr>
          <p:txBody>
            <a:bodyPr wrap="none" lIns="0" tIns="0" rIns="0" bIns="0" anchor="t" anchorCtr="0">
              <a:spAutoFit/>
            </a:bodyPr>
            <a:lstStyle/>
            <a:p>
              <a:pPr algn="r"/>
              <a:r>
                <a:rPr lang="en-US" sz="9000" b="1" dirty="0">
                  <a:solidFill>
                    <a:srgbClr val="26A69A">
                      <a:alphaMod val="8000"/>
                    </a:srgbClr>
                  </a:solidFill>
                  <a:latin typeface="Georgia"/>
                  <a:ea typeface="Georgia"/>
                  <a:cs typeface="Georgia"/>
                </a:rPr>
                <a:t>03</a:t>
              </a:r>
            </a:p>
          </p:txBody>
        </p:sp>
        <p:sp>
          <p:nvSpPr>
            <p:cNvPr id="66" name="Rectangle 66"/>
            <p:cNvSpPr/>
            <p:nvPr/>
          </p:nvSpPr>
          <p:spPr>
            <a:xfrm>
              <a:off x="8382000" y="1409700"/>
              <a:ext cx="533400" cy="533400"/>
            </a:xfrm>
            <a:prstGeom prst="roundRect">
              <a:avLst>
                <a:gd name="adj" fmla="val 17857"/>
              </a:avLst>
            </a:prstGeom>
            <a:solidFill>
              <a:srgbClr val="1C2333"/>
            </a:solidFill>
            <a:ln>
              <a:noFill/>
            </a:ln>
          </p:spPr>
        </p:sp>
        <p:grpSp>
          <p:nvGrpSpPr>
            <p:cNvPr id="69" name="Group 69"/>
            <p:cNvGrpSpPr/>
            <p:nvPr/>
          </p:nvGrpSpPr>
          <p:grpSpPr>
            <a:xfrm>
              <a:off x="8470900" y="1543050"/>
              <a:ext cx="355599" cy="298449"/>
              <a:chOff x="8470900" y="1543050"/>
              <a:chExt cx="355599" cy="298449"/>
            </a:xfrm>
          </p:grpSpPr>
          <p:sp>
            <p:nvSpPr>
              <p:cNvPr id="67" name="Freeform 67"/>
              <p:cNvSpPr/>
              <p:nvPr/>
            </p:nvSpPr>
            <p:spPr>
              <a:xfrm>
                <a:off x="8470900" y="1831974"/>
                <a:ext cx="355599" cy="9525"/>
              </a:xfrm>
              <a:custGeom>
                <a:avLst/>
                <a:gdLst/>
                <a:ahLst/>
                <a:cxnLst/>
                <a:rect l="l" t="t" r="r" b="b"/>
                <a:pathLst>
                  <a:path w="355599" h="9525">
                    <a:moveTo>
                      <a:pt x="0" y="0"/>
                    </a:moveTo>
                    <a:lnTo>
                      <a:pt x="355599" y="0"/>
                    </a:lnTo>
                  </a:path>
                </a:pathLst>
              </a:custGeom>
              <a:noFill/>
              <a:ln w="19050">
                <a:solidFill>
                  <a:srgbClr val="26A69A"/>
                </a:solidFill>
              </a:ln>
            </p:spPr>
          </p:sp>
          <p:sp>
            <p:nvSpPr>
              <p:cNvPr id="68" name="Freeform 68"/>
              <p:cNvSpPr/>
              <p:nvPr/>
            </p:nvSpPr>
            <p:spPr>
              <a:xfrm>
                <a:off x="8470900" y="1543050"/>
                <a:ext cx="355599" cy="200025"/>
              </a:xfrm>
              <a:custGeom>
                <a:avLst/>
                <a:gdLst/>
                <a:ahLst/>
                <a:cxnLst/>
                <a:rect l="l" t="t" r="r" b="b"/>
                <a:pathLst>
                  <a:path w="355599" h="200025">
                    <a:moveTo>
                      <a:pt x="0" y="200025"/>
                    </a:moveTo>
                    <a:lnTo>
                      <a:pt x="88900" y="66675"/>
                    </a:lnTo>
                    <a:lnTo>
                      <a:pt x="177800" y="111125"/>
                    </a:lnTo>
                    <a:lnTo>
                      <a:pt x="266700" y="0"/>
                    </a:lnTo>
                    <a:lnTo>
                      <a:pt x="355599" y="88900"/>
                    </a:lnTo>
                  </a:path>
                </a:pathLst>
              </a:custGeom>
              <a:noFill/>
              <a:ln w="19050">
                <a:solidFill>
                  <a:srgbClr val="26A69A"/>
                </a:solidFill>
              </a:ln>
            </p:spPr>
          </p:sp>
        </p:grpSp>
        <p:sp>
          <p:nvSpPr>
            <p:cNvPr id="70" name="TextBox 70"/>
            <p:cNvSpPr txBox="1"/>
            <p:nvPr/>
          </p:nvSpPr>
          <p:spPr>
            <a:xfrm>
              <a:off x="8369808" y="2160270"/>
              <a:ext cx="2230648" cy="469392"/>
            </a:xfrm>
            <a:prstGeom prst="rect">
              <a:avLst/>
            </a:prstGeom>
            <a:noFill/>
            <a:ln>
              <a:noFill/>
            </a:ln>
          </p:spPr>
          <p:txBody>
            <a:bodyPr wrap="none" lIns="0" tIns="0" rIns="0" bIns="0" anchor="t" anchorCtr="0">
              <a:spAutoFit/>
            </a:bodyPr>
            <a:lstStyle/>
            <a:p>
              <a:pPr algn="l"/>
              <a:r>
                <a:rPr lang="en-US" sz="2400" b="1" dirty="0">
                  <a:solidFill>
                    <a:srgbClr val="E8F5E9"/>
                  </a:solidFill>
                  <a:latin typeface="Georgia"/>
                  <a:ea typeface="Georgia"/>
                  <a:cs typeface="Georgia"/>
                </a:rPr>
                <a:t>NLP &amp; LLMs</a:t>
              </a:r>
            </a:p>
          </p:txBody>
        </p:sp>
        <p:sp>
          <p:nvSpPr>
            <p:cNvPr id="71" name="TextBox 71"/>
            <p:cNvSpPr txBox="1"/>
            <p:nvPr/>
          </p:nvSpPr>
          <p:spPr>
            <a:xfrm>
              <a:off x="8375142" y="2578418"/>
              <a:ext cx="2410816" cy="264033"/>
            </a:xfrm>
            <a:prstGeom prst="rect">
              <a:avLst/>
            </a:prstGeom>
            <a:noFill/>
            <a:ln>
              <a:noFill/>
            </a:ln>
          </p:spPr>
          <p:txBody>
            <a:bodyPr wrap="none" lIns="0" tIns="0" rIns="0" bIns="0" anchor="t" anchorCtr="0">
              <a:spAutoFit/>
            </a:bodyPr>
            <a:lstStyle/>
            <a:p>
              <a:pPr algn="l"/>
              <a:r>
                <a:rPr lang="en-US" sz="1350" spc="112" dirty="0">
                  <a:solidFill>
                    <a:srgbClr val="26A69A"/>
                  </a:solidFill>
                  <a:latin typeface="Arial"/>
                  <a:ea typeface="Arial"/>
                  <a:cs typeface="Arial"/>
                </a:rPr>
                <a:t>LANGUAGE &amp; KNOWLEDGE</a:t>
              </a:r>
            </a:p>
          </p:txBody>
        </p:sp>
        <p:sp>
          <p:nvSpPr>
            <p:cNvPr id="72" name="TextBox 72"/>
            <p:cNvSpPr txBox="1"/>
            <p:nvPr/>
          </p:nvSpPr>
          <p:spPr>
            <a:xfrm>
              <a:off x="8373618" y="3060382"/>
              <a:ext cx="3355594"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Mines clinical notes, discharge</a:t>
              </a:r>
            </a:p>
          </p:txBody>
        </p:sp>
        <p:sp>
          <p:nvSpPr>
            <p:cNvPr id="73" name="TextBox 73"/>
            <p:cNvSpPr txBox="1"/>
            <p:nvPr/>
          </p:nvSpPr>
          <p:spPr>
            <a:xfrm>
              <a:off x="8373618" y="3327082"/>
              <a:ext cx="3615157"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summaries, literature; extracts</a:t>
              </a:r>
            </a:p>
          </p:txBody>
        </p:sp>
        <p:sp>
          <p:nvSpPr>
            <p:cNvPr id="74" name="TextBox 74"/>
            <p:cNvSpPr txBox="1"/>
            <p:nvPr/>
          </p:nvSpPr>
          <p:spPr>
            <a:xfrm>
              <a:off x="8373618" y="3593782"/>
              <a:ext cx="2848832"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coded diagnoses, predicts</a:t>
              </a:r>
            </a:p>
          </p:txBody>
        </p:sp>
        <p:sp>
          <p:nvSpPr>
            <p:cNvPr id="75" name="TextBox 75"/>
            <p:cNvSpPr txBox="1"/>
            <p:nvPr/>
          </p:nvSpPr>
          <p:spPr>
            <a:xfrm>
              <a:off x="8373618" y="3860482"/>
              <a:ext cx="3326397"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deterioration from free text.</a:t>
              </a:r>
            </a:p>
          </p:txBody>
        </p:sp>
        <p:sp>
          <p:nvSpPr>
            <p:cNvPr id="76" name="TextBox 76"/>
            <p:cNvSpPr txBox="1"/>
            <p:nvPr/>
          </p:nvSpPr>
          <p:spPr>
            <a:xfrm>
              <a:off x="8373618" y="4127182"/>
              <a:ext cx="3703254"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LLMs entering clinical workflows.</a:t>
              </a:r>
            </a:p>
          </p:txBody>
        </p:sp>
        <p:sp>
          <p:nvSpPr>
            <p:cNvPr id="77" name="Rectangle 77"/>
            <p:cNvSpPr/>
            <p:nvPr/>
          </p:nvSpPr>
          <p:spPr>
            <a:xfrm>
              <a:off x="8382000" y="4648200"/>
              <a:ext cx="3028950" cy="571500"/>
            </a:xfrm>
            <a:prstGeom prst="roundRect">
              <a:avLst>
                <a:gd name="adj" fmla="val 10000"/>
              </a:avLst>
            </a:prstGeom>
            <a:solidFill>
              <a:srgbClr val="1C2333"/>
            </a:solidFill>
            <a:ln>
              <a:noFill/>
            </a:ln>
          </p:spPr>
        </p:sp>
        <p:sp>
          <p:nvSpPr>
            <p:cNvPr id="78" name="TextBox 78"/>
            <p:cNvSpPr txBox="1"/>
            <p:nvPr/>
          </p:nvSpPr>
          <p:spPr>
            <a:xfrm>
              <a:off x="8527542" y="4740592"/>
              <a:ext cx="2362091" cy="264033"/>
            </a:xfrm>
            <a:prstGeom prst="rect">
              <a:avLst/>
            </a:prstGeom>
            <a:noFill/>
            <a:ln>
              <a:noFill/>
            </a:ln>
          </p:spPr>
          <p:txBody>
            <a:bodyPr wrap="none" lIns="0" tIns="0" rIns="0" bIns="0" anchor="t" anchorCtr="0">
              <a:spAutoFit/>
            </a:bodyPr>
            <a:lstStyle/>
            <a:p>
              <a:pPr algn="l"/>
              <a:r>
                <a:rPr lang="en-US" sz="1350" dirty="0">
                  <a:solidFill>
                    <a:srgbClr val="26A69A"/>
                  </a:solidFill>
                  <a:latin typeface="Arial"/>
                  <a:ea typeface="Arial"/>
                  <a:cs typeface="Arial"/>
                </a:rPr>
                <a:t>Microsoft Nuance · Epic AI</a:t>
              </a:r>
            </a:p>
          </p:txBody>
        </p:sp>
        <p:sp>
          <p:nvSpPr>
            <p:cNvPr id="79" name="TextBox 79"/>
            <p:cNvSpPr txBox="1"/>
            <p:nvPr/>
          </p:nvSpPr>
          <p:spPr>
            <a:xfrm>
              <a:off x="8527542" y="4969192"/>
              <a:ext cx="2786135" cy="264033"/>
            </a:xfrm>
            <a:prstGeom prst="rect">
              <a:avLst/>
            </a:prstGeom>
            <a:noFill/>
            <a:ln>
              <a:noFill/>
            </a:ln>
          </p:spPr>
          <p:txBody>
            <a:bodyPr wrap="none" lIns="0" tIns="0" rIns="0" bIns="0" anchor="t" anchorCtr="0">
              <a:spAutoFit/>
            </a:bodyPr>
            <a:lstStyle/>
            <a:p>
              <a:pPr algn="l"/>
              <a:r>
                <a:rPr lang="en-US" sz="1350" dirty="0">
                  <a:solidFill>
                    <a:srgbClr val="546E7A"/>
                  </a:solidFill>
                  <a:latin typeface="Arial"/>
                  <a:ea typeface="Arial"/>
                  <a:cs typeface="Arial"/>
                </a:rPr>
                <a:t>GPT-4 passed USMLE @ 90th pct</a:t>
              </a:r>
            </a:p>
          </p:txBody>
        </p:sp>
      </p:grpSp>
      <p:grpSp>
        <p:nvGrpSpPr>
          <p:cNvPr id="84" name="Group 84"/>
          <p:cNvGrpSpPr/>
          <p:nvPr/>
        </p:nvGrpSpPr>
        <p:grpSpPr>
          <a:xfrm>
            <a:off x="603504" y="6362700"/>
            <a:ext cx="10984992" cy="276606"/>
            <a:chOff x="603504" y="6362700"/>
            <a:chExt cx="10984992" cy="276606"/>
          </a:xfrm>
        </p:grpSpPr>
        <p:sp>
          <p:nvSpPr>
            <p:cNvPr id="81" name="Line 81"/>
            <p:cNvSpPr/>
            <p:nvPr/>
          </p:nvSpPr>
          <p:spPr>
            <a:xfrm>
              <a:off x="609600" y="636270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82" name="TextBox 82"/>
            <p:cNvSpPr txBox="1"/>
            <p:nvPr/>
          </p:nvSpPr>
          <p:spPr>
            <a:xfrm>
              <a:off x="603504" y="64046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83" name="TextBox 83"/>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06 / 14</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sp>
          <p:nvSpPr>
            <p:cNvPr id="4" name="Ellipse 4"/>
            <p:cNvSpPr/>
            <p:nvPr/>
          </p:nvSpPr>
          <p:spPr>
            <a:xfrm>
              <a:off x="2857500" y="190500"/>
              <a:ext cx="6477000" cy="6477000"/>
            </a:xfrm>
            <a:prstGeom prst="ellipse">
              <a:avLst/>
            </a:prstGeom>
            <a:gradFill>
              <a:gsLst>
                <a:gs pos="0">
                  <a:srgbClr val="00796B">
                    <a:alpha val="10000"/>
                  </a:srgbClr>
                </a:gs>
                <a:gs pos="100000">
                  <a:srgbClr val="00796B">
                    <a:alpha val="0"/>
                  </a:srgbClr>
                </a:gs>
              </a:gsLst>
              <a:path path="circle">
                <a:fillToRect l="50000" t="50000" r="50000" b="50000"/>
              </a:path>
            </a:gradFill>
            <a:ln>
              <a:noFill/>
            </a:ln>
          </p:spPr>
        </p:sp>
      </p:grpSp>
      <p:grpSp>
        <p:nvGrpSpPr>
          <p:cNvPr id="14" name="Group 14"/>
          <p:cNvGrpSpPr/>
          <p:nvPr/>
        </p:nvGrpSpPr>
        <p:grpSpPr>
          <a:xfrm>
            <a:off x="0" y="0"/>
            <a:ext cx="12192000" cy="6858000"/>
            <a:chOff x="0" y="0"/>
            <a:chExt cx="12192000" cy="6858000"/>
          </a:xfrm>
        </p:grpSpPr>
        <p:sp>
          <p:nvSpPr>
            <p:cNvPr id="6" name="Line 6"/>
            <p:cNvSpPr/>
            <p:nvPr/>
          </p:nvSpPr>
          <p:spPr>
            <a:xfrm>
              <a:off x="0" y="1238250"/>
              <a:ext cx="1714500" cy="9525"/>
            </a:xfrm>
            <a:custGeom>
              <a:avLst/>
              <a:gdLst/>
              <a:ahLst/>
              <a:cxnLst/>
              <a:rect l="l" t="t" r="r" b="b"/>
              <a:pathLst>
                <a:path w="1714500" h="9525">
                  <a:moveTo>
                    <a:pt x="0" y="0"/>
                  </a:moveTo>
                  <a:lnTo>
                    <a:pt x="1714500" y="0"/>
                  </a:lnTo>
                </a:path>
              </a:pathLst>
            </a:custGeom>
            <a:noFill/>
            <a:ln w="9525">
              <a:solidFill>
                <a:srgbClr val="00796B">
                  <a:alpha val="40000"/>
                </a:srgbClr>
              </a:solidFill>
            </a:ln>
          </p:spPr>
        </p:sp>
        <p:sp>
          <p:nvSpPr>
            <p:cNvPr id="7" name="Line 7"/>
            <p:cNvSpPr/>
            <p:nvPr/>
          </p:nvSpPr>
          <p:spPr>
            <a:xfrm>
              <a:off x="1238250" y="0"/>
              <a:ext cx="9525" cy="1714500"/>
            </a:xfrm>
            <a:custGeom>
              <a:avLst/>
              <a:gdLst/>
              <a:ahLst/>
              <a:cxnLst/>
              <a:rect l="l" t="t" r="r" b="b"/>
              <a:pathLst>
                <a:path w="9525" h="1714500">
                  <a:moveTo>
                    <a:pt x="0" y="0"/>
                  </a:moveTo>
                  <a:lnTo>
                    <a:pt x="0" y="1714500"/>
                  </a:lnTo>
                </a:path>
              </a:pathLst>
            </a:custGeom>
            <a:noFill/>
            <a:ln w="9525">
              <a:solidFill>
                <a:srgbClr val="00796B">
                  <a:alpha val="40000"/>
                </a:srgbClr>
              </a:solidFill>
            </a:ln>
          </p:spPr>
        </p:sp>
        <p:sp>
          <p:nvSpPr>
            <p:cNvPr id="8" name="Ellipse 8"/>
            <p:cNvSpPr/>
            <p:nvPr/>
          </p:nvSpPr>
          <p:spPr>
            <a:xfrm>
              <a:off x="1190625" y="1190625"/>
              <a:ext cx="95250" cy="95250"/>
            </a:xfrm>
            <a:prstGeom prst="ellipse">
              <a:avLst/>
            </a:prstGeom>
            <a:solidFill>
              <a:srgbClr val="00E5FF">
                <a:alpha val="50000"/>
              </a:srgbClr>
            </a:solidFill>
            <a:ln>
              <a:noFill/>
            </a:ln>
          </p:spPr>
        </p:sp>
        <p:sp>
          <p:nvSpPr>
            <p:cNvPr id="9" name="Line 9"/>
            <p:cNvSpPr/>
            <p:nvPr/>
          </p:nvSpPr>
          <p:spPr>
            <a:xfrm>
              <a:off x="10477500" y="5619750"/>
              <a:ext cx="1714500" cy="9525"/>
            </a:xfrm>
            <a:custGeom>
              <a:avLst/>
              <a:gdLst/>
              <a:ahLst/>
              <a:cxnLst/>
              <a:rect l="l" t="t" r="r" b="b"/>
              <a:pathLst>
                <a:path w="1714500" h="9525">
                  <a:moveTo>
                    <a:pt x="1714500" y="0"/>
                  </a:moveTo>
                  <a:lnTo>
                    <a:pt x="0" y="0"/>
                  </a:lnTo>
                </a:path>
              </a:pathLst>
            </a:custGeom>
            <a:noFill/>
            <a:ln w="9525">
              <a:solidFill>
                <a:srgbClr val="00796B">
                  <a:alpha val="40000"/>
                </a:srgbClr>
              </a:solidFill>
            </a:ln>
          </p:spPr>
        </p:sp>
        <p:sp>
          <p:nvSpPr>
            <p:cNvPr id="10" name="Line 10"/>
            <p:cNvSpPr/>
            <p:nvPr/>
          </p:nvSpPr>
          <p:spPr>
            <a:xfrm>
              <a:off x="10953750" y="5143500"/>
              <a:ext cx="9525" cy="1714500"/>
            </a:xfrm>
            <a:custGeom>
              <a:avLst/>
              <a:gdLst/>
              <a:ahLst/>
              <a:cxnLst/>
              <a:rect l="l" t="t" r="r" b="b"/>
              <a:pathLst>
                <a:path w="9525" h="1714500">
                  <a:moveTo>
                    <a:pt x="0" y="1714500"/>
                  </a:moveTo>
                  <a:lnTo>
                    <a:pt x="0" y="0"/>
                  </a:lnTo>
                </a:path>
              </a:pathLst>
            </a:custGeom>
            <a:noFill/>
            <a:ln w="9525">
              <a:solidFill>
                <a:srgbClr val="00796B">
                  <a:alpha val="40000"/>
                </a:srgbClr>
              </a:solidFill>
            </a:ln>
          </p:spPr>
        </p:sp>
        <p:sp>
          <p:nvSpPr>
            <p:cNvPr id="11" name="Ellipse 11"/>
            <p:cNvSpPr/>
            <p:nvPr/>
          </p:nvSpPr>
          <p:spPr>
            <a:xfrm>
              <a:off x="10906125" y="5572125"/>
              <a:ext cx="95250" cy="95250"/>
            </a:xfrm>
            <a:prstGeom prst="ellipse">
              <a:avLst/>
            </a:prstGeom>
            <a:solidFill>
              <a:srgbClr val="00E5FF">
                <a:alpha val="50000"/>
              </a:srgbClr>
            </a:solidFill>
            <a:ln>
              <a:noFill/>
            </a:ln>
          </p:spPr>
        </p:sp>
        <p:sp>
          <p:nvSpPr>
            <p:cNvPr id="12" name="Polyline 12"/>
            <p:cNvSpPr/>
            <p:nvPr/>
          </p:nvSpPr>
          <p:spPr>
            <a:xfrm>
              <a:off x="1714500" y="2857500"/>
              <a:ext cx="2095500" cy="1143000"/>
            </a:xfrm>
            <a:custGeom>
              <a:avLst/>
              <a:gdLst/>
              <a:ahLst/>
              <a:cxnLst/>
              <a:rect l="l" t="t" r="r" b="b"/>
              <a:pathLst>
                <a:path w="2095500" h="1143000">
                  <a:moveTo>
                    <a:pt x="0" y="571500"/>
                  </a:moveTo>
                  <a:lnTo>
                    <a:pt x="381000" y="571500"/>
                  </a:lnTo>
                  <a:lnTo>
                    <a:pt x="571500" y="0"/>
                  </a:lnTo>
                  <a:lnTo>
                    <a:pt x="762000" y="1143000"/>
                  </a:lnTo>
                  <a:lnTo>
                    <a:pt x="952500" y="381000"/>
                  </a:lnTo>
                  <a:lnTo>
                    <a:pt x="1143000" y="571500"/>
                  </a:lnTo>
                  <a:lnTo>
                    <a:pt x="2095500" y="571500"/>
                  </a:lnTo>
                </a:path>
              </a:pathLst>
            </a:custGeom>
            <a:noFill/>
            <a:ln w="14288">
              <a:solidFill>
                <a:srgbClr val="00E5FF">
                  <a:alpha val="30000"/>
                </a:srgbClr>
              </a:solidFill>
            </a:ln>
          </p:spPr>
        </p:sp>
        <p:sp>
          <p:nvSpPr>
            <p:cNvPr id="13" name="Polyline 13"/>
            <p:cNvSpPr/>
            <p:nvPr/>
          </p:nvSpPr>
          <p:spPr>
            <a:xfrm>
              <a:off x="8382000" y="2857500"/>
              <a:ext cx="2095500" cy="1143000"/>
            </a:xfrm>
            <a:custGeom>
              <a:avLst/>
              <a:gdLst/>
              <a:ahLst/>
              <a:cxnLst/>
              <a:rect l="l" t="t" r="r" b="b"/>
              <a:pathLst>
                <a:path w="2095500" h="1143000">
                  <a:moveTo>
                    <a:pt x="0" y="571500"/>
                  </a:moveTo>
                  <a:lnTo>
                    <a:pt x="381000" y="571500"/>
                  </a:lnTo>
                  <a:lnTo>
                    <a:pt x="571500" y="0"/>
                  </a:lnTo>
                  <a:lnTo>
                    <a:pt x="762000" y="1143000"/>
                  </a:lnTo>
                  <a:lnTo>
                    <a:pt x="952500" y="381000"/>
                  </a:lnTo>
                  <a:lnTo>
                    <a:pt x="1143000" y="571500"/>
                  </a:lnTo>
                  <a:lnTo>
                    <a:pt x="2095500" y="571500"/>
                  </a:lnTo>
                </a:path>
              </a:pathLst>
            </a:custGeom>
            <a:noFill/>
            <a:ln w="14288">
              <a:solidFill>
                <a:srgbClr val="00E5FF">
                  <a:alpha val="30000"/>
                </a:srgbClr>
              </a:solidFill>
            </a:ln>
          </p:spPr>
        </p:sp>
      </p:grpSp>
      <p:grpSp>
        <p:nvGrpSpPr>
          <p:cNvPr id="16" name="Group 16"/>
          <p:cNvGrpSpPr/>
          <p:nvPr/>
        </p:nvGrpSpPr>
        <p:grpSpPr>
          <a:xfrm>
            <a:off x="3859073" y="1371600"/>
            <a:ext cx="4473854" cy="5162550"/>
            <a:chOff x="3859073" y="1371600"/>
            <a:chExt cx="4473854" cy="5162550"/>
          </a:xfrm>
        </p:grpSpPr>
        <p:sp>
          <p:nvSpPr>
            <p:cNvPr id="15" name="TextBox 15"/>
            <p:cNvSpPr txBox="1"/>
            <p:nvPr/>
          </p:nvSpPr>
          <p:spPr>
            <a:xfrm>
              <a:off x="3859073" y="1371600"/>
              <a:ext cx="4473854" cy="5162550"/>
            </a:xfrm>
            <a:prstGeom prst="rect">
              <a:avLst/>
            </a:prstGeom>
            <a:noFill/>
            <a:ln>
              <a:noFill/>
            </a:ln>
          </p:spPr>
          <p:txBody>
            <a:bodyPr wrap="none" lIns="0" tIns="0" rIns="0" bIns="0" anchor="t" anchorCtr="0">
              <a:spAutoFit/>
            </a:bodyPr>
            <a:lstStyle/>
            <a:p>
              <a:pPr algn="ctr"/>
              <a:r>
                <a:rPr lang="en-US" sz="27000" b="1" dirty="0">
                  <a:solidFill>
                    <a:srgbClr val="00796B">
                      <a:alphaMod val="5000"/>
                    </a:srgbClr>
                  </a:solidFill>
                  <a:latin typeface="Georgia"/>
                  <a:ea typeface="Georgia"/>
                  <a:cs typeface="Georgia"/>
                </a:rPr>
                <a:t>02</a:t>
              </a:r>
            </a:p>
          </p:txBody>
        </p:sp>
      </p:grpSp>
      <p:grpSp>
        <p:nvGrpSpPr>
          <p:cNvPr id="27" name="Group 27"/>
          <p:cNvGrpSpPr/>
          <p:nvPr/>
        </p:nvGrpSpPr>
        <p:grpSpPr>
          <a:xfrm>
            <a:off x="2286000" y="2327910"/>
            <a:ext cx="9744206" cy="2735199"/>
            <a:chOff x="2286000" y="2327910"/>
            <a:chExt cx="9744206" cy="2735199"/>
          </a:xfrm>
        </p:grpSpPr>
        <p:sp>
          <p:nvSpPr>
            <p:cNvPr id="17" name="TextBox 17"/>
            <p:cNvSpPr txBox="1"/>
            <p:nvPr/>
          </p:nvSpPr>
          <p:spPr>
            <a:xfrm>
              <a:off x="5383682" y="2327910"/>
              <a:ext cx="1424635" cy="234696"/>
            </a:xfrm>
            <a:prstGeom prst="rect">
              <a:avLst/>
            </a:prstGeom>
            <a:noFill/>
            <a:ln>
              <a:noFill/>
            </a:ln>
          </p:spPr>
          <p:txBody>
            <a:bodyPr wrap="none" lIns="0" tIns="0" rIns="0" bIns="0" anchor="t" anchorCtr="0">
              <a:spAutoFit/>
            </a:bodyPr>
            <a:lstStyle/>
            <a:p>
              <a:pPr algn="ctr"/>
              <a:r>
                <a:rPr lang="en-US" sz="1200" b="1" spc="300" dirty="0">
                  <a:solidFill>
                    <a:srgbClr val="00E5FF">
                      <a:alphaMod val="80000"/>
                    </a:srgbClr>
                  </a:solidFill>
                  <a:latin typeface="Arial"/>
                  <a:ea typeface="Arial"/>
                  <a:cs typeface="Arial"/>
                </a:rPr>
                <a:t>PART 2 OF 4</a:t>
              </a:r>
            </a:p>
          </p:txBody>
        </p:sp>
        <p:sp>
          <p:nvSpPr>
            <p:cNvPr id="18" name="Rectangle 18"/>
            <p:cNvSpPr/>
            <p:nvPr/>
          </p:nvSpPr>
          <p:spPr>
            <a:xfrm>
              <a:off x="5143500" y="2590800"/>
              <a:ext cx="1905000" cy="19050"/>
            </a:xfrm>
            <a:prstGeom prst="roundRect">
              <a:avLst>
                <a:gd name="adj" fmla="val 50000"/>
              </a:avLst>
            </a:prstGeom>
            <a:gradFill>
              <a:gsLst>
                <a:gs pos="0">
                  <a:srgbClr val="00796B"/>
                </a:gs>
                <a:gs pos="100000">
                  <a:srgbClr val="00E5FF"/>
                </a:gs>
              </a:gsLst>
              <a:lin ang="0" scaled="1"/>
            </a:gradFill>
            <a:ln>
              <a:noFill/>
            </a:ln>
          </p:spPr>
        </p:sp>
        <p:sp>
          <p:nvSpPr>
            <p:cNvPr id="19" name="TextBox 19"/>
            <p:cNvSpPr txBox="1"/>
            <p:nvPr/>
          </p:nvSpPr>
          <p:spPr>
            <a:xfrm>
              <a:off x="2352306" y="2655570"/>
              <a:ext cx="7487389" cy="1047750"/>
            </a:xfrm>
            <a:prstGeom prst="rect">
              <a:avLst/>
            </a:prstGeom>
            <a:noFill/>
            <a:ln>
              <a:noFill/>
            </a:ln>
          </p:spPr>
          <p:txBody>
            <a:bodyPr wrap="none" lIns="0" tIns="0" rIns="0" bIns="0" anchor="t" anchorCtr="0">
              <a:spAutoFit/>
            </a:bodyPr>
            <a:lstStyle/>
            <a:p>
              <a:pPr algn="ctr"/>
              <a:r>
                <a:rPr lang="en-US" sz="5400" b="1" dirty="0">
                  <a:solidFill>
                    <a:srgbClr val="E8F5E9"/>
                  </a:solidFill>
                  <a:latin typeface="Georgia"/>
                  <a:ea typeface="Georgia"/>
                  <a:cs typeface="Georgia"/>
                </a:rPr>
                <a:t>The Clinical Impact</a:t>
              </a:r>
            </a:p>
          </p:txBody>
        </p:sp>
        <p:sp>
          <p:nvSpPr>
            <p:cNvPr id="20" name="TextBox 20"/>
            <p:cNvSpPr txBox="1"/>
            <p:nvPr/>
          </p:nvSpPr>
          <p:spPr>
            <a:xfrm>
              <a:off x="3637280" y="3550920"/>
              <a:ext cx="4917440" cy="469392"/>
            </a:xfrm>
            <a:prstGeom prst="rect">
              <a:avLst/>
            </a:prstGeom>
            <a:noFill/>
            <a:ln>
              <a:noFill/>
            </a:ln>
          </p:spPr>
          <p:txBody>
            <a:bodyPr wrap="none" lIns="0" tIns="0" rIns="0" bIns="0" anchor="t" anchorCtr="0">
              <a:spAutoFit/>
            </a:bodyPr>
            <a:lstStyle/>
            <a:p>
              <a:pPr algn="ctr"/>
              <a:r>
                <a:rPr lang="en-US" sz="2400" dirty="0">
                  <a:solidFill>
                    <a:srgbClr val="90A4AE"/>
                  </a:solidFill>
                  <a:latin typeface="Arial"/>
                  <a:ea typeface="Arial"/>
                  <a:cs typeface="Arial"/>
                </a:rPr>
                <a:t>Where AI is already saving lives</a:t>
              </a:r>
            </a:p>
          </p:txBody>
        </p:sp>
        <p:sp>
          <p:nvSpPr>
            <p:cNvPr id="21" name="Rectangle 21"/>
            <p:cNvSpPr/>
            <p:nvPr/>
          </p:nvSpPr>
          <p:spPr>
            <a:xfrm>
              <a:off x="5143500" y="4000500"/>
              <a:ext cx="1905000" cy="19050"/>
            </a:xfrm>
            <a:prstGeom prst="roundRect">
              <a:avLst>
                <a:gd name="adj" fmla="val 50000"/>
              </a:avLst>
            </a:prstGeom>
            <a:gradFill>
              <a:gsLst>
                <a:gs pos="0">
                  <a:srgbClr val="00796B"/>
                </a:gs>
                <a:gs pos="100000">
                  <a:srgbClr val="00E5FF"/>
                </a:gs>
              </a:gsLst>
              <a:lin ang="0" scaled="1"/>
            </a:gradFill>
            <a:ln>
              <a:noFill/>
            </a:ln>
          </p:spPr>
        </p:sp>
        <p:sp>
          <p:nvSpPr>
            <p:cNvPr id="22" name="Rectangle 22"/>
            <p:cNvSpPr/>
            <p:nvPr/>
          </p:nvSpPr>
          <p:spPr>
            <a:xfrm>
              <a:off x="2286000" y="4343400"/>
              <a:ext cx="7620000" cy="685800"/>
            </a:xfrm>
            <a:prstGeom prst="roundRect">
              <a:avLst>
                <a:gd name="adj" fmla="val 11111"/>
              </a:avLst>
            </a:prstGeom>
            <a:solidFill>
              <a:srgbClr val="161B22"/>
            </a:solidFill>
            <a:ln>
              <a:noFill/>
            </a:ln>
          </p:spPr>
        </p:sp>
        <p:sp>
          <p:nvSpPr>
            <p:cNvPr id="23" name="Rectangle 23"/>
            <p:cNvSpPr/>
            <p:nvPr/>
          </p:nvSpPr>
          <p:spPr>
            <a:xfrm>
              <a:off x="2286000" y="4343400"/>
              <a:ext cx="38100" cy="685800"/>
            </a:xfrm>
            <a:prstGeom prst="roundRect">
              <a:avLst>
                <a:gd name="adj" fmla="val 50000"/>
              </a:avLst>
            </a:prstGeom>
            <a:solidFill>
              <a:srgbClr val="4CAF50"/>
            </a:solidFill>
            <a:ln>
              <a:noFill/>
            </a:ln>
          </p:spPr>
        </p:sp>
        <p:sp>
          <p:nvSpPr>
            <p:cNvPr id="24" name="TextBox 24"/>
            <p:cNvSpPr txBox="1"/>
            <p:nvPr/>
          </p:nvSpPr>
          <p:spPr>
            <a:xfrm>
              <a:off x="2505456" y="4444365"/>
              <a:ext cx="9524750" cy="352044"/>
            </a:xfrm>
            <a:prstGeom prst="rect">
              <a:avLst/>
            </a:prstGeom>
            <a:noFill/>
            <a:ln>
              <a:noFill/>
            </a:ln>
          </p:spPr>
          <p:txBody>
            <a:bodyPr wrap="none" lIns="0" tIns="0" rIns="0" bIns="0" anchor="t" anchorCtr="0">
              <a:spAutoFit/>
            </a:bodyPr>
            <a:lstStyle/>
            <a:p>
              <a:pPr algn="l"/>
              <a:r>
                <a:rPr lang="en-US" sz="1800" dirty="0">
                  <a:solidFill>
                    <a:srgbClr val="E8F5E9"/>
                  </a:solidFill>
                  <a:latin typeface="Georgia"/>
                  <a:ea typeface="Georgia"/>
                  <a:cs typeface="Georgia"/>
                </a:rPr>
                <a:t>"From detecting cancer before symptoms to predicting sepsis hours early —</a:t>
              </a:r>
            </a:p>
          </p:txBody>
        </p:sp>
        <p:sp>
          <p:nvSpPr>
            <p:cNvPr id="25" name="TextBox 25"/>
            <p:cNvSpPr txBox="1"/>
            <p:nvPr/>
          </p:nvSpPr>
          <p:spPr>
            <a:xfrm>
              <a:off x="2505456" y="4711065"/>
              <a:ext cx="3241881" cy="352044"/>
            </a:xfrm>
            <a:prstGeom prst="rect">
              <a:avLst/>
            </a:prstGeom>
            <a:noFill/>
            <a:ln>
              <a:noFill/>
            </a:ln>
          </p:spPr>
          <p:txBody>
            <a:bodyPr wrap="none" lIns="0" tIns="0" rIns="0" bIns="0" anchor="t" anchorCtr="0">
              <a:spAutoFit/>
            </a:bodyPr>
            <a:lstStyle/>
            <a:p>
              <a:pPr algn="l"/>
              <a:r>
                <a:rPr lang="en-US" sz="1800" dirty="0">
                  <a:solidFill>
                    <a:srgbClr val="4CAF50"/>
                  </a:solidFill>
                  <a:latin typeface="Georgia"/>
                  <a:ea typeface="Georgia"/>
                  <a:cs typeface="Georgia"/>
                </a:rPr>
                <a:t>AI is already saving lives.</a:t>
              </a:r>
            </a:p>
          </p:txBody>
        </p:sp>
        <p:sp>
          <p:nvSpPr>
            <p:cNvPr id="26" name="TextBox 26"/>
            <p:cNvSpPr txBox="1"/>
            <p:nvPr/>
          </p:nvSpPr>
          <p:spPr>
            <a:xfrm>
              <a:off x="4162806" y="4711065"/>
              <a:ext cx="159106" cy="352044"/>
            </a:xfrm>
            <a:prstGeom prst="rect">
              <a:avLst/>
            </a:prstGeom>
            <a:noFill/>
            <a:ln>
              <a:noFill/>
            </a:ln>
          </p:spPr>
          <p:txBody>
            <a:bodyPr wrap="none" lIns="0" tIns="0" rIns="0" bIns="0" anchor="t" anchorCtr="0">
              <a:spAutoFit/>
            </a:bodyPr>
            <a:lstStyle/>
            <a:p>
              <a:pPr algn="l"/>
              <a:r>
                <a:rPr lang="en-US" sz="1800" dirty="0">
                  <a:solidFill>
                    <a:srgbClr val="E8F5E9"/>
                  </a:solidFill>
                  <a:latin typeface="Georgia"/>
                  <a:ea typeface="Georgia"/>
                  <a:cs typeface="Georgia"/>
                </a:rPr>
                <a:t>"</a:t>
              </a:r>
            </a:p>
          </p:txBody>
        </p:sp>
      </p:grpSp>
      <p:grpSp>
        <p:nvGrpSpPr>
          <p:cNvPr id="31" name="Group 31"/>
          <p:cNvGrpSpPr/>
          <p:nvPr/>
        </p:nvGrpSpPr>
        <p:grpSpPr>
          <a:xfrm>
            <a:off x="603504" y="6591300"/>
            <a:ext cx="10984992" cy="276606"/>
            <a:chOff x="603504" y="6591300"/>
            <a:chExt cx="10984992" cy="276606"/>
          </a:xfrm>
        </p:grpSpPr>
        <p:sp>
          <p:nvSpPr>
            <p:cNvPr id="28" name="Line 28"/>
            <p:cNvSpPr/>
            <p:nvPr/>
          </p:nvSpPr>
          <p:spPr>
            <a:xfrm>
              <a:off x="609600" y="659130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29" name="TextBox 29"/>
            <p:cNvSpPr txBox="1"/>
            <p:nvPr/>
          </p:nvSpPr>
          <p:spPr>
            <a:xfrm>
              <a:off x="603504" y="66332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30" name="TextBox 30"/>
            <p:cNvSpPr txBox="1"/>
            <p:nvPr/>
          </p:nvSpPr>
          <p:spPr>
            <a:xfrm>
              <a:off x="11035132" y="66332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07 / 14</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grpSp>
      <p:grpSp>
        <p:nvGrpSpPr>
          <p:cNvPr id="9" name="Group 9"/>
          <p:cNvGrpSpPr/>
          <p:nvPr/>
        </p:nvGrpSpPr>
        <p:grpSpPr>
          <a:xfrm>
            <a:off x="609600" y="201930"/>
            <a:ext cx="14015575" cy="817245"/>
            <a:chOff x="609600" y="201930"/>
            <a:chExt cx="14015575" cy="817245"/>
          </a:xfrm>
        </p:grpSpPr>
        <p:sp>
          <p:nvSpPr>
            <p:cNvPr id="5" name="Rectangle 5"/>
            <p:cNvSpPr/>
            <p:nvPr/>
          </p:nvSpPr>
          <p:spPr>
            <a:xfrm>
              <a:off x="609600" y="304800"/>
              <a:ext cx="38100" cy="457200"/>
            </a:xfrm>
            <a:prstGeom prst="roundRect">
              <a:avLst>
                <a:gd name="adj" fmla="val 50000"/>
              </a:avLst>
            </a:prstGeom>
            <a:gradFill>
              <a:gsLst>
                <a:gs pos="0">
                  <a:srgbClr val="00796B"/>
                </a:gs>
                <a:gs pos="100000">
                  <a:srgbClr val="00E5FF"/>
                </a:gs>
              </a:gsLst>
              <a:lin ang="0" scaled="1"/>
            </a:gradFill>
            <a:ln>
              <a:noFill/>
            </a:ln>
          </p:spPr>
        </p:sp>
        <p:sp>
          <p:nvSpPr>
            <p:cNvPr id="6" name="TextBox 6"/>
            <p:cNvSpPr txBox="1"/>
            <p:nvPr/>
          </p:nvSpPr>
          <p:spPr>
            <a:xfrm>
              <a:off x="781812" y="201930"/>
              <a:ext cx="13843363" cy="704088"/>
            </a:xfrm>
            <a:prstGeom prst="rect">
              <a:avLst/>
            </a:prstGeom>
            <a:noFill/>
            <a:ln>
              <a:noFill/>
            </a:ln>
          </p:spPr>
          <p:txBody>
            <a:bodyPr wrap="none" lIns="0" tIns="0" rIns="0" bIns="0" anchor="t" anchorCtr="0">
              <a:spAutoFit/>
            </a:bodyPr>
            <a:lstStyle/>
            <a:p>
              <a:pPr algn="l"/>
              <a:r>
                <a:rPr lang="en-US" sz="3600" b="1" dirty="0">
                  <a:solidFill>
                    <a:srgbClr val="E8F5E9"/>
                  </a:solidFill>
                  <a:latin typeface="Georgia"/>
                  <a:ea typeface="Georgia"/>
                  <a:cs typeface="Georgia"/>
                </a:rPr>
                <a:t>Proven Clinical Impact: Three Breakthrough Results</a:t>
              </a:r>
            </a:p>
          </p:txBody>
        </p:sp>
        <p:sp>
          <p:nvSpPr>
            <p:cNvPr id="7" name="TextBox 7"/>
            <p:cNvSpPr txBox="1"/>
            <p:nvPr/>
          </p:nvSpPr>
          <p:spPr>
            <a:xfrm>
              <a:off x="791718" y="679132"/>
              <a:ext cx="10312035"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Rigorous clinical studies confirm AI reduces errors, speeds diagnosis, and improves outcomes.</a:t>
              </a:r>
            </a:p>
          </p:txBody>
        </p:sp>
        <p:sp>
          <p:nvSpPr>
            <p:cNvPr id="8" name="Line 8"/>
            <p:cNvSpPr/>
            <p:nvPr/>
          </p:nvSpPr>
          <p:spPr>
            <a:xfrm>
              <a:off x="609600" y="1009650"/>
              <a:ext cx="10972800" cy="9525"/>
            </a:xfrm>
            <a:custGeom>
              <a:avLst/>
              <a:gdLst/>
              <a:ahLst/>
              <a:cxnLst/>
              <a:rect l="l" t="t" r="r" b="b"/>
              <a:pathLst>
                <a:path w="10972800" h="9525">
                  <a:moveTo>
                    <a:pt x="0" y="0"/>
                  </a:moveTo>
                  <a:lnTo>
                    <a:pt x="10972800" y="0"/>
                  </a:lnTo>
                </a:path>
              </a:pathLst>
            </a:custGeom>
            <a:noFill/>
            <a:ln w="9525">
              <a:solidFill>
                <a:srgbClr val="263238"/>
              </a:solidFill>
            </a:ln>
          </p:spPr>
        </p:sp>
      </p:grpSp>
      <p:grpSp>
        <p:nvGrpSpPr>
          <p:cNvPr id="37" name="Group 37"/>
          <p:cNvGrpSpPr/>
          <p:nvPr/>
        </p:nvGrpSpPr>
        <p:grpSpPr>
          <a:xfrm>
            <a:off x="609600" y="1162050"/>
            <a:ext cx="3505200" cy="5124450"/>
            <a:chOff x="609600" y="1162050"/>
            <a:chExt cx="3505200" cy="5124450"/>
          </a:xfrm>
        </p:grpSpPr>
        <p:sp>
          <p:nvSpPr>
            <p:cNvPr id="10" name="Rectangle 10"/>
            <p:cNvSpPr/>
            <p:nvPr/>
          </p:nvSpPr>
          <p:spPr>
            <a:xfrm>
              <a:off x="609600" y="1162050"/>
              <a:ext cx="3505200" cy="5124450"/>
            </a:xfrm>
            <a:prstGeom prst="roundRect">
              <a:avLst>
                <a:gd name="adj" fmla="val 2174"/>
              </a:avLst>
            </a:prstGeom>
            <a:solidFill>
              <a:srgbClr val="161B22"/>
            </a:solidFill>
            <a:ln>
              <a:noFill/>
            </a:ln>
          </p:spPr>
        </p:sp>
        <p:sp>
          <p:nvSpPr>
            <p:cNvPr id="11" name="Rectangle 11"/>
            <p:cNvSpPr/>
            <p:nvPr/>
          </p:nvSpPr>
          <p:spPr>
            <a:xfrm>
              <a:off x="609600" y="1162050"/>
              <a:ext cx="3505200" cy="57150"/>
            </a:xfrm>
            <a:prstGeom prst="roundRect">
              <a:avLst>
                <a:gd name="adj" fmla="val 50000"/>
              </a:avLst>
            </a:prstGeom>
            <a:solidFill>
              <a:srgbClr val="00E5FF"/>
            </a:solidFill>
            <a:ln>
              <a:noFill/>
            </a:ln>
          </p:spPr>
        </p:sp>
        <p:sp>
          <p:nvSpPr>
            <p:cNvPr id="12" name="Rectangle 12"/>
            <p:cNvSpPr/>
            <p:nvPr/>
          </p:nvSpPr>
          <p:spPr>
            <a:xfrm>
              <a:off x="762000" y="1371600"/>
              <a:ext cx="495300" cy="495300"/>
            </a:xfrm>
            <a:prstGeom prst="roundRect">
              <a:avLst>
                <a:gd name="adj" fmla="val 19231"/>
              </a:avLst>
            </a:prstGeom>
            <a:solidFill>
              <a:srgbClr val="1C2333"/>
            </a:solidFill>
            <a:ln>
              <a:noFill/>
            </a:ln>
          </p:spPr>
        </p:sp>
        <p:grpSp>
          <p:nvGrpSpPr>
            <p:cNvPr id="20" name="Group 20"/>
            <p:cNvGrpSpPr/>
            <p:nvPr/>
          </p:nvGrpSpPr>
          <p:grpSpPr>
            <a:xfrm>
              <a:off x="865188" y="1433513"/>
              <a:ext cx="309563" cy="381000"/>
              <a:chOff x="865188" y="1433513"/>
              <a:chExt cx="309563" cy="381000"/>
            </a:xfrm>
          </p:grpSpPr>
          <p:sp>
            <p:nvSpPr>
              <p:cNvPr id="13" name="Freeform 13"/>
              <p:cNvSpPr/>
              <p:nvPr/>
            </p:nvSpPr>
            <p:spPr>
              <a:xfrm>
                <a:off x="865188" y="1804988"/>
                <a:ext cx="288925" cy="9525"/>
              </a:xfrm>
              <a:custGeom>
                <a:avLst/>
                <a:gdLst/>
                <a:ahLst/>
                <a:cxnLst/>
                <a:rect l="l" t="t" r="r" b="b"/>
                <a:pathLst>
                  <a:path w="288925" h="9525">
                    <a:moveTo>
                      <a:pt x="0" y="0"/>
                    </a:moveTo>
                    <a:lnTo>
                      <a:pt x="288925" y="0"/>
                    </a:lnTo>
                  </a:path>
                </a:pathLst>
              </a:custGeom>
              <a:noFill/>
              <a:ln w="19050">
                <a:solidFill>
                  <a:srgbClr val="00E5FF"/>
                </a:solidFill>
              </a:ln>
            </p:spPr>
          </p:sp>
          <p:sp>
            <p:nvSpPr>
              <p:cNvPr id="14" name="Freeform 14"/>
              <p:cNvSpPr/>
              <p:nvPr/>
            </p:nvSpPr>
            <p:spPr>
              <a:xfrm>
                <a:off x="885825" y="1743076"/>
                <a:ext cx="41275" cy="9525"/>
              </a:xfrm>
              <a:custGeom>
                <a:avLst/>
                <a:gdLst/>
                <a:ahLst/>
                <a:cxnLst/>
                <a:rect l="l" t="t" r="r" b="b"/>
                <a:pathLst>
                  <a:path w="41275" h="9525">
                    <a:moveTo>
                      <a:pt x="0" y="0"/>
                    </a:moveTo>
                    <a:lnTo>
                      <a:pt x="41275" y="0"/>
                    </a:lnTo>
                  </a:path>
                </a:pathLst>
              </a:custGeom>
              <a:noFill/>
              <a:ln w="19050">
                <a:solidFill>
                  <a:srgbClr val="00E5FF"/>
                </a:solidFill>
              </a:ln>
            </p:spPr>
          </p:sp>
          <p:sp>
            <p:nvSpPr>
              <p:cNvPr id="15" name="Freeform 15"/>
              <p:cNvSpPr/>
              <p:nvPr/>
            </p:nvSpPr>
            <p:spPr>
              <a:xfrm>
                <a:off x="906463" y="1743076"/>
                <a:ext cx="9525" cy="61913"/>
              </a:xfrm>
              <a:custGeom>
                <a:avLst/>
                <a:gdLst/>
                <a:ahLst/>
                <a:cxnLst/>
                <a:rect l="l" t="t" r="r" b="b"/>
                <a:pathLst>
                  <a:path w="9525" h="61913">
                    <a:moveTo>
                      <a:pt x="0" y="0"/>
                    </a:moveTo>
                    <a:lnTo>
                      <a:pt x="0" y="61913"/>
                    </a:lnTo>
                  </a:path>
                </a:pathLst>
              </a:custGeom>
              <a:noFill/>
              <a:ln w="19050">
                <a:solidFill>
                  <a:srgbClr val="00E5FF"/>
                </a:solidFill>
              </a:ln>
            </p:spPr>
          </p:sp>
          <p:sp>
            <p:nvSpPr>
              <p:cNvPr id="16" name="Freeform 16"/>
              <p:cNvSpPr/>
              <p:nvPr/>
            </p:nvSpPr>
            <p:spPr>
              <a:xfrm>
                <a:off x="947738" y="1474788"/>
                <a:ext cx="185738" cy="185738"/>
              </a:xfrm>
              <a:custGeom>
                <a:avLst/>
                <a:gdLst/>
                <a:ahLst/>
                <a:cxnLst/>
                <a:rect l="l" t="t" r="r" b="b"/>
                <a:pathLst>
                  <a:path w="185738" h="185738">
                    <a:moveTo>
                      <a:pt x="0" y="123825"/>
                    </a:moveTo>
                    <a:lnTo>
                      <a:pt x="61913" y="185738"/>
                    </a:lnTo>
                    <a:lnTo>
                      <a:pt x="185738" y="61913"/>
                    </a:lnTo>
                    <a:lnTo>
                      <a:pt x="123825" y="0"/>
                    </a:lnTo>
                    <a:lnTo>
                      <a:pt x="0" y="123825"/>
                    </a:lnTo>
                  </a:path>
                </a:pathLst>
              </a:custGeom>
              <a:noFill/>
              <a:ln w="19050">
                <a:solidFill>
                  <a:srgbClr val="00E5FF"/>
                </a:solidFill>
              </a:ln>
            </p:spPr>
          </p:sp>
          <p:sp>
            <p:nvSpPr>
              <p:cNvPr id="17" name="Freeform 17"/>
              <p:cNvSpPr/>
              <p:nvPr/>
            </p:nvSpPr>
            <p:spPr>
              <a:xfrm>
                <a:off x="947738" y="1629569"/>
                <a:ext cx="30956" cy="30956"/>
              </a:xfrm>
              <a:custGeom>
                <a:avLst/>
                <a:gdLst/>
                <a:ahLst/>
                <a:cxnLst/>
                <a:rect l="l" t="t" r="r" b="b"/>
                <a:pathLst>
                  <a:path w="30956" h="30956">
                    <a:moveTo>
                      <a:pt x="30956" y="0"/>
                    </a:moveTo>
                    <a:lnTo>
                      <a:pt x="0" y="30956"/>
                    </a:lnTo>
                  </a:path>
                </a:pathLst>
              </a:custGeom>
              <a:noFill/>
              <a:ln w="19050">
                <a:solidFill>
                  <a:srgbClr val="00E5FF"/>
                </a:solidFill>
              </a:ln>
            </p:spPr>
          </p:sp>
          <p:sp>
            <p:nvSpPr>
              <p:cNvPr id="18" name="Freeform 18"/>
              <p:cNvSpPr/>
              <p:nvPr/>
            </p:nvSpPr>
            <p:spPr>
              <a:xfrm>
                <a:off x="1112838" y="1433513"/>
                <a:ext cx="61913" cy="61913"/>
              </a:xfrm>
              <a:custGeom>
                <a:avLst/>
                <a:gdLst/>
                <a:ahLst/>
                <a:cxnLst/>
                <a:rect l="l" t="t" r="r" b="b"/>
                <a:pathLst>
                  <a:path w="61913" h="61913">
                    <a:moveTo>
                      <a:pt x="0" y="0"/>
                    </a:moveTo>
                    <a:lnTo>
                      <a:pt x="61913" y="61913"/>
                    </a:lnTo>
                  </a:path>
                </a:pathLst>
              </a:custGeom>
              <a:noFill/>
              <a:ln w="19050">
                <a:solidFill>
                  <a:srgbClr val="00E5FF"/>
                </a:solidFill>
              </a:ln>
            </p:spPr>
          </p:sp>
          <p:sp>
            <p:nvSpPr>
              <p:cNvPr id="19" name="Freeform 19"/>
              <p:cNvSpPr/>
              <p:nvPr/>
            </p:nvSpPr>
            <p:spPr>
              <a:xfrm>
                <a:off x="1009650" y="1583919"/>
                <a:ext cx="134286" cy="221074"/>
              </a:xfrm>
              <a:custGeom>
                <a:avLst/>
                <a:gdLst/>
                <a:ahLst/>
                <a:cxnLst/>
                <a:rect l="l" t="t" r="r" b="b"/>
                <a:pathLst>
                  <a:path w="134286" h="221074">
                    <a:moveTo>
                      <a:pt x="0" y="221069"/>
                    </a:moveTo>
                    <a:cubicBezTo>
                      <a:pt x="52752" y="221074"/>
                      <a:pt x="99716" y="187657"/>
                      <a:pt x="117001" y="137817"/>
                    </a:cubicBezTo>
                    <a:cubicBezTo>
                      <a:pt x="134286" y="87977"/>
                      <a:pt x="118097" y="32658"/>
                      <a:pt x="76668" y="0"/>
                    </a:cubicBezTo>
                  </a:path>
                </a:pathLst>
              </a:custGeom>
              <a:noFill/>
              <a:ln w="19050">
                <a:solidFill>
                  <a:srgbClr val="00E5FF"/>
                </a:solidFill>
              </a:ln>
            </p:spPr>
          </p:sp>
        </p:grpSp>
        <p:sp>
          <p:nvSpPr>
            <p:cNvPr id="21" name="TextBox 21"/>
            <p:cNvSpPr txBox="1"/>
            <p:nvPr/>
          </p:nvSpPr>
          <p:spPr>
            <a:xfrm>
              <a:off x="1363218" y="1441132"/>
              <a:ext cx="1317847" cy="322707"/>
            </a:xfrm>
            <a:prstGeom prst="rect">
              <a:avLst/>
            </a:prstGeom>
            <a:noFill/>
            <a:ln>
              <a:noFill/>
            </a:ln>
          </p:spPr>
          <p:txBody>
            <a:bodyPr wrap="none" lIns="0" tIns="0" rIns="0" bIns="0" anchor="t" anchorCtr="0">
              <a:spAutoFit/>
            </a:bodyPr>
            <a:lstStyle/>
            <a:p>
              <a:pPr algn="l"/>
              <a:r>
                <a:rPr lang="en-US" sz="1650" b="1" dirty="0">
                  <a:solidFill>
                    <a:srgbClr val="E8F5E9"/>
                  </a:solidFill>
                  <a:latin typeface="Arial"/>
                  <a:ea typeface="Arial"/>
                  <a:cs typeface="Arial"/>
                </a:rPr>
                <a:t>Diagnostics</a:t>
              </a:r>
            </a:p>
          </p:txBody>
        </p:sp>
        <p:sp>
          <p:nvSpPr>
            <p:cNvPr id="22" name="TextBox 22"/>
            <p:cNvSpPr txBox="1"/>
            <p:nvPr/>
          </p:nvSpPr>
          <p:spPr>
            <a:xfrm>
              <a:off x="1365504" y="1699260"/>
              <a:ext cx="958444" cy="234696"/>
            </a:xfrm>
            <a:prstGeom prst="rect">
              <a:avLst/>
            </a:prstGeom>
            <a:noFill/>
            <a:ln>
              <a:noFill/>
            </a:ln>
          </p:spPr>
          <p:txBody>
            <a:bodyPr wrap="none" lIns="0" tIns="0" rIns="0" bIns="0" anchor="t" anchorCtr="0">
              <a:spAutoFit/>
            </a:bodyPr>
            <a:lstStyle/>
            <a:p>
              <a:pPr algn="l"/>
              <a:r>
                <a:rPr lang="en-US" sz="1200" spc="112" dirty="0">
                  <a:solidFill>
                    <a:srgbClr val="00E5FF"/>
                  </a:solidFill>
                  <a:latin typeface="Arial"/>
                  <a:ea typeface="Arial"/>
                  <a:cs typeface="Arial"/>
                </a:rPr>
                <a:t>AI IMAGING</a:t>
              </a:r>
            </a:p>
          </p:txBody>
        </p:sp>
        <p:sp>
          <p:nvSpPr>
            <p:cNvPr id="23" name="Line 23"/>
            <p:cNvSpPr/>
            <p:nvPr/>
          </p:nvSpPr>
          <p:spPr>
            <a:xfrm>
              <a:off x="762000" y="2038350"/>
              <a:ext cx="3200400" cy="9525"/>
            </a:xfrm>
            <a:custGeom>
              <a:avLst/>
              <a:gdLst/>
              <a:ahLst/>
              <a:cxnLst/>
              <a:rect l="l" t="t" r="r" b="b"/>
              <a:pathLst>
                <a:path w="3200400" h="9525">
                  <a:moveTo>
                    <a:pt x="0" y="0"/>
                  </a:moveTo>
                  <a:lnTo>
                    <a:pt x="3200400" y="0"/>
                  </a:lnTo>
                </a:path>
              </a:pathLst>
            </a:custGeom>
            <a:noFill/>
            <a:ln w="9525">
              <a:solidFill>
                <a:srgbClr val="263238"/>
              </a:solidFill>
            </a:ln>
          </p:spPr>
        </p:sp>
        <p:sp>
          <p:nvSpPr>
            <p:cNvPr id="24" name="TextBox 24"/>
            <p:cNvSpPr txBox="1"/>
            <p:nvPr/>
          </p:nvSpPr>
          <p:spPr>
            <a:xfrm>
              <a:off x="742950" y="2034540"/>
              <a:ext cx="1364346" cy="933450"/>
            </a:xfrm>
            <a:prstGeom prst="rect">
              <a:avLst/>
            </a:prstGeom>
            <a:noFill/>
            <a:ln>
              <a:noFill/>
            </a:ln>
          </p:spPr>
          <p:txBody>
            <a:bodyPr wrap="none" lIns="0" tIns="0" rIns="0" bIns="0" anchor="t" anchorCtr="0">
              <a:spAutoFit/>
            </a:bodyPr>
            <a:lstStyle/>
            <a:p>
              <a:pPr algn="l"/>
              <a:r>
                <a:rPr lang="en-US" sz="4800" b="1" dirty="0">
                  <a:solidFill>
                    <a:srgbClr val="00E5FF"/>
                  </a:solidFill>
                  <a:latin typeface="Georgia"/>
                  <a:ea typeface="Georgia"/>
                  <a:cs typeface="Georgia"/>
                </a:rPr>
                <a:t>91%</a:t>
              </a:r>
            </a:p>
          </p:txBody>
        </p:sp>
        <p:sp>
          <p:nvSpPr>
            <p:cNvPr id="25" name="TextBox 25"/>
            <p:cNvSpPr txBox="1"/>
            <p:nvPr/>
          </p:nvSpPr>
          <p:spPr>
            <a:xfrm>
              <a:off x="753618" y="2660332"/>
              <a:ext cx="2462778"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sensitivity — retinal AI</a:t>
              </a:r>
            </a:p>
          </p:txBody>
        </p:sp>
        <p:sp>
          <p:nvSpPr>
            <p:cNvPr id="26" name="Rectangle 26"/>
            <p:cNvSpPr/>
            <p:nvPr/>
          </p:nvSpPr>
          <p:spPr>
            <a:xfrm>
              <a:off x="762000" y="3086100"/>
              <a:ext cx="57150" cy="57150"/>
            </a:xfrm>
            <a:prstGeom prst="roundRect">
              <a:avLst>
                <a:gd name="adj" fmla="val 50000"/>
              </a:avLst>
            </a:prstGeom>
            <a:solidFill>
              <a:srgbClr val="00E5FF"/>
            </a:solidFill>
            <a:ln>
              <a:noFill/>
            </a:ln>
          </p:spPr>
        </p:sp>
        <p:sp>
          <p:nvSpPr>
            <p:cNvPr id="27" name="TextBox 27"/>
            <p:cNvSpPr txBox="1"/>
            <p:nvPr/>
          </p:nvSpPr>
          <p:spPr>
            <a:xfrm>
              <a:off x="906780" y="3009900"/>
              <a:ext cx="2539365"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98% specificity — diabetic</a:t>
              </a:r>
            </a:p>
          </p:txBody>
        </p:sp>
        <p:sp>
          <p:nvSpPr>
            <p:cNvPr id="28" name="TextBox 28"/>
            <p:cNvSpPr txBox="1"/>
            <p:nvPr/>
          </p:nvSpPr>
          <p:spPr>
            <a:xfrm>
              <a:off x="906780" y="3238500"/>
              <a:ext cx="2196084"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retinopathy detection</a:t>
              </a:r>
            </a:p>
          </p:txBody>
        </p:sp>
        <p:sp>
          <p:nvSpPr>
            <p:cNvPr id="29" name="Rectangle 29"/>
            <p:cNvSpPr/>
            <p:nvPr/>
          </p:nvSpPr>
          <p:spPr>
            <a:xfrm>
              <a:off x="762000" y="3619500"/>
              <a:ext cx="57150" cy="57150"/>
            </a:xfrm>
            <a:prstGeom prst="roundRect">
              <a:avLst>
                <a:gd name="adj" fmla="val 50000"/>
              </a:avLst>
            </a:prstGeom>
            <a:solidFill>
              <a:srgbClr val="00E5FF"/>
            </a:solidFill>
            <a:ln>
              <a:noFill/>
            </a:ln>
          </p:spPr>
        </p:sp>
        <p:sp>
          <p:nvSpPr>
            <p:cNvPr id="30" name="TextBox 30"/>
            <p:cNvSpPr txBox="1"/>
            <p:nvPr/>
          </p:nvSpPr>
          <p:spPr>
            <a:xfrm>
              <a:off x="906780" y="3543300"/>
              <a:ext cx="2468690"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35% less radiologist time</a:t>
              </a:r>
            </a:p>
          </p:txBody>
        </p:sp>
        <p:sp>
          <p:nvSpPr>
            <p:cNvPr id="31" name="TextBox 31"/>
            <p:cNvSpPr txBox="1"/>
            <p:nvPr/>
          </p:nvSpPr>
          <p:spPr>
            <a:xfrm>
              <a:off x="906780" y="3771900"/>
              <a:ext cx="2539365"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for lung cancer screening</a:t>
              </a:r>
            </a:p>
          </p:txBody>
        </p:sp>
        <p:sp>
          <p:nvSpPr>
            <p:cNvPr id="32" name="Rectangle 32"/>
            <p:cNvSpPr/>
            <p:nvPr/>
          </p:nvSpPr>
          <p:spPr>
            <a:xfrm>
              <a:off x="762000" y="4152900"/>
              <a:ext cx="57150" cy="57150"/>
            </a:xfrm>
            <a:prstGeom prst="roundRect">
              <a:avLst>
                <a:gd name="adj" fmla="val 50000"/>
              </a:avLst>
            </a:prstGeom>
            <a:solidFill>
              <a:srgbClr val="00E5FF"/>
            </a:solidFill>
            <a:ln>
              <a:noFill/>
            </a:ln>
          </p:spPr>
        </p:sp>
        <p:sp>
          <p:nvSpPr>
            <p:cNvPr id="33" name="TextBox 33"/>
            <p:cNvSpPr txBox="1"/>
            <p:nvPr/>
          </p:nvSpPr>
          <p:spPr>
            <a:xfrm>
              <a:off x="906780" y="4076700"/>
              <a:ext cx="2979580"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Breast cancer AI: 5.7% fewer</a:t>
              </a:r>
            </a:p>
          </p:txBody>
        </p:sp>
        <p:sp>
          <p:nvSpPr>
            <p:cNvPr id="34" name="TextBox 34"/>
            <p:cNvSpPr txBox="1"/>
            <p:nvPr/>
          </p:nvSpPr>
          <p:spPr>
            <a:xfrm>
              <a:off x="906780" y="4305300"/>
              <a:ext cx="2791778"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false positives, 9.4% fewer</a:t>
              </a:r>
            </a:p>
          </p:txBody>
        </p:sp>
        <p:sp>
          <p:nvSpPr>
            <p:cNvPr id="35" name="TextBox 35"/>
            <p:cNvSpPr txBox="1"/>
            <p:nvPr/>
          </p:nvSpPr>
          <p:spPr>
            <a:xfrm>
              <a:off x="906780" y="4533900"/>
              <a:ext cx="3103388"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false negatives (Nature, 2020)</a:t>
              </a:r>
            </a:p>
          </p:txBody>
        </p:sp>
        <p:sp>
          <p:nvSpPr>
            <p:cNvPr id="36" name="TextBox 36"/>
            <p:cNvSpPr txBox="1"/>
            <p:nvPr/>
          </p:nvSpPr>
          <p:spPr>
            <a:xfrm>
              <a:off x="755904" y="5890260"/>
              <a:ext cx="2988183"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Google Health · DeepMind · Moorfields</a:t>
              </a:r>
            </a:p>
          </p:txBody>
        </p:sp>
      </p:grpSp>
      <p:grpSp>
        <p:nvGrpSpPr>
          <p:cNvPr id="63" name="Group 63"/>
          <p:cNvGrpSpPr/>
          <p:nvPr/>
        </p:nvGrpSpPr>
        <p:grpSpPr>
          <a:xfrm>
            <a:off x="4343400" y="1162050"/>
            <a:ext cx="3505200" cy="5124450"/>
            <a:chOff x="4343400" y="1162050"/>
            <a:chExt cx="3505200" cy="5124450"/>
          </a:xfrm>
        </p:grpSpPr>
        <p:sp>
          <p:nvSpPr>
            <p:cNvPr id="38" name="Rectangle 38"/>
            <p:cNvSpPr/>
            <p:nvPr/>
          </p:nvSpPr>
          <p:spPr>
            <a:xfrm>
              <a:off x="4343400" y="1162050"/>
              <a:ext cx="3505200" cy="5124450"/>
            </a:xfrm>
            <a:prstGeom prst="roundRect">
              <a:avLst>
                <a:gd name="adj" fmla="val 2174"/>
              </a:avLst>
            </a:prstGeom>
            <a:solidFill>
              <a:srgbClr val="161B22"/>
            </a:solidFill>
            <a:ln>
              <a:noFill/>
            </a:ln>
          </p:spPr>
        </p:sp>
        <p:sp>
          <p:nvSpPr>
            <p:cNvPr id="39" name="Rectangle 39"/>
            <p:cNvSpPr/>
            <p:nvPr/>
          </p:nvSpPr>
          <p:spPr>
            <a:xfrm>
              <a:off x="4343400" y="1162050"/>
              <a:ext cx="3505200" cy="57150"/>
            </a:xfrm>
            <a:prstGeom prst="roundRect">
              <a:avLst>
                <a:gd name="adj" fmla="val 50000"/>
              </a:avLst>
            </a:prstGeom>
            <a:solidFill>
              <a:srgbClr val="4CAF50"/>
            </a:solidFill>
            <a:ln>
              <a:noFill/>
            </a:ln>
          </p:spPr>
        </p:sp>
        <p:sp>
          <p:nvSpPr>
            <p:cNvPr id="40" name="Rectangle 40"/>
            <p:cNvSpPr/>
            <p:nvPr/>
          </p:nvSpPr>
          <p:spPr>
            <a:xfrm>
              <a:off x="4495800" y="1371600"/>
              <a:ext cx="495300" cy="495300"/>
            </a:xfrm>
            <a:prstGeom prst="roundRect">
              <a:avLst>
                <a:gd name="adj" fmla="val 19231"/>
              </a:avLst>
            </a:prstGeom>
            <a:solidFill>
              <a:srgbClr val="1C2333"/>
            </a:solidFill>
            <a:ln>
              <a:noFill/>
            </a:ln>
          </p:spPr>
        </p:sp>
        <p:grpSp>
          <p:nvGrpSpPr>
            <p:cNvPr id="46" name="Group 46"/>
            <p:cNvGrpSpPr/>
            <p:nvPr/>
          </p:nvGrpSpPr>
          <p:grpSpPr>
            <a:xfrm>
              <a:off x="4557713" y="1454150"/>
              <a:ext cx="371476" cy="339726"/>
              <a:chOff x="4557713" y="1454150"/>
              <a:chExt cx="371476" cy="339726"/>
            </a:xfrm>
          </p:grpSpPr>
          <p:sp>
            <p:nvSpPr>
              <p:cNvPr id="41" name="Freeform 41"/>
              <p:cNvSpPr/>
              <p:nvPr/>
            </p:nvSpPr>
            <p:spPr>
              <a:xfrm>
                <a:off x="4557713" y="1454150"/>
                <a:ext cx="371476" cy="247650"/>
              </a:xfrm>
              <a:custGeom>
                <a:avLst/>
                <a:gdLst/>
                <a:ahLst/>
                <a:cxnLst/>
                <a:rect l="l" t="t" r="r" b="b"/>
                <a:pathLst>
                  <a:path w="371476" h="247650">
                    <a:moveTo>
                      <a:pt x="0" y="20638"/>
                    </a:moveTo>
                    <a:cubicBezTo>
                      <a:pt x="0" y="9240"/>
                      <a:pt x="9240" y="0"/>
                      <a:pt x="20638" y="0"/>
                    </a:cubicBezTo>
                    <a:lnTo>
                      <a:pt x="350838" y="0"/>
                    </a:lnTo>
                    <a:cubicBezTo>
                      <a:pt x="362236" y="0"/>
                      <a:pt x="371476" y="9240"/>
                      <a:pt x="371476" y="20638"/>
                    </a:cubicBezTo>
                    <a:lnTo>
                      <a:pt x="371476" y="227013"/>
                    </a:lnTo>
                    <a:cubicBezTo>
                      <a:pt x="371476" y="238411"/>
                      <a:pt x="362236" y="247650"/>
                      <a:pt x="350838" y="247650"/>
                    </a:cubicBezTo>
                    <a:lnTo>
                      <a:pt x="20638" y="247650"/>
                    </a:lnTo>
                    <a:cubicBezTo>
                      <a:pt x="9240" y="247650"/>
                      <a:pt x="0" y="238411"/>
                      <a:pt x="0" y="227013"/>
                    </a:cubicBezTo>
                    <a:lnTo>
                      <a:pt x="0" y="20638"/>
                    </a:lnTo>
                  </a:path>
                </a:pathLst>
              </a:custGeom>
              <a:noFill/>
              <a:ln w="19050">
                <a:solidFill>
                  <a:srgbClr val="4CAF50"/>
                </a:solidFill>
              </a:ln>
            </p:spPr>
          </p:sp>
          <p:sp>
            <p:nvSpPr>
              <p:cNvPr id="42" name="Freeform 42"/>
              <p:cNvSpPr/>
              <p:nvPr/>
            </p:nvSpPr>
            <p:spPr>
              <a:xfrm>
                <a:off x="4640263" y="1784351"/>
                <a:ext cx="206375" cy="9525"/>
              </a:xfrm>
              <a:custGeom>
                <a:avLst/>
                <a:gdLst/>
                <a:ahLst/>
                <a:cxnLst/>
                <a:rect l="l" t="t" r="r" b="b"/>
                <a:pathLst>
                  <a:path w="206375" h="9525">
                    <a:moveTo>
                      <a:pt x="0" y="0"/>
                    </a:moveTo>
                    <a:lnTo>
                      <a:pt x="206375" y="0"/>
                    </a:lnTo>
                  </a:path>
                </a:pathLst>
              </a:custGeom>
              <a:noFill/>
              <a:ln w="19050">
                <a:solidFill>
                  <a:srgbClr val="4CAF50"/>
                </a:solidFill>
              </a:ln>
            </p:spPr>
          </p:sp>
          <p:sp>
            <p:nvSpPr>
              <p:cNvPr id="43" name="Freeform 43"/>
              <p:cNvSpPr/>
              <p:nvPr/>
            </p:nvSpPr>
            <p:spPr>
              <a:xfrm>
                <a:off x="4681538" y="1701801"/>
                <a:ext cx="9525" cy="82550"/>
              </a:xfrm>
              <a:custGeom>
                <a:avLst/>
                <a:gdLst/>
                <a:ahLst/>
                <a:cxnLst/>
                <a:rect l="l" t="t" r="r" b="b"/>
                <a:pathLst>
                  <a:path w="9525" h="82550">
                    <a:moveTo>
                      <a:pt x="0" y="0"/>
                    </a:moveTo>
                    <a:lnTo>
                      <a:pt x="0" y="82550"/>
                    </a:lnTo>
                  </a:path>
                </a:pathLst>
              </a:custGeom>
              <a:noFill/>
              <a:ln w="19050">
                <a:solidFill>
                  <a:srgbClr val="4CAF50"/>
                </a:solidFill>
              </a:ln>
            </p:spPr>
          </p:sp>
          <p:sp>
            <p:nvSpPr>
              <p:cNvPr id="44" name="Freeform 44"/>
              <p:cNvSpPr/>
              <p:nvPr/>
            </p:nvSpPr>
            <p:spPr>
              <a:xfrm>
                <a:off x="4805363" y="1701801"/>
                <a:ext cx="9525" cy="82550"/>
              </a:xfrm>
              <a:custGeom>
                <a:avLst/>
                <a:gdLst/>
                <a:ahLst/>
                <a:cxnLst/>
                <a:rect l="l" t="t" r="r" b="b"/>
                <a:pathLst>
                  <a:path w="9525" h="82550">
                    <a:moveTo>
                      <a:pt x="0" y="0"/>
                    </a:moveTo>
                    <a:lnTo>
                      <a:pt x="0" y="82550"/>
                    </a:lnTo>
                  </a:path>
                </a:pathLst>
              </a:custGeom>
              <a:noFill/>
              <a:ln w="19050">
                <a:solidFill>
                  <a:srgbClr val="4CAF50"/>
                </a:solidFill>
              </a:ln>
            </p:spPr>
          </p:sp>
          <p:sp>
            <p:nvSpPr>
              <p:cNvPr id="45" name="Freeform 45"/>
              <p:cNvSpPr/>
              <p:nvPr/>
            </p:nvSpPr>
            <p:spPr>
              <a:xfrm>
                <a:off x="4640263" y="1516063"/>
                <a:ext cx="206375" cy="123825"/>
              </a:xfrm>
              <a:custGeom>
                <a:avLst/>
                <a:gdLst/>
                <a:ahLst/>
                <a:cxnLst/>
                <a:rect l="l" t="t" r="r" b="b"/>
                <a:pathLst>
                  <a:path w="206375" h="123825">
                    <a:moveTo>
                      <a:pt x="0" y="61913"/>
                    </a:moveTo>
                    <a:lnTo>
                      <a:pt x="41275" y="61913"/>
                    </a:lnTo>
                    <a:lnTo>
                      <a:pt x="82550" y="123825"/>
                    </a:lnTo>
                    <a:lnTo>
                      <a:pt x="123825" y="0"/>
                    </a:lnTo>
                    <a:lnTo>
                      <a:pt x="144463" y="61913"/>
                    </a:lnTo>
                    <a:lnTo>
                      <a:pt x="206375" y="61913"/>
                    </a:lnTo>
                  </a:path>
                </a:pathLst>
              </a:custGeom>
              <a:noFill/>
              <a:ln w="19050">
                <a:solidFill>
                  <a:srgbClr val="4CAF50"/>
                </a:solidFill>
              </a:ln>
            </p:spPr>
          </p:sp>
        </p:grpSp>
        <p:sp>
          <p:nvSpPr>
            <p:cNvPr id="47" name="TextBox 47"/>
            <p:cNvSpPr txBox="1"/>
            <p:nvPr/>
          </p:nvSpPr>
          <p:spPr>
            <a:xfrm>
              <a:off x="5097018" y="1441132"/>
              <a:ext cx="1978007" cy="322707"/>
            </a:xfrm>
            <a:prstGeom prst="rect">
              <a:avLst/>
            </a:prstGeom>
            <a:noFill/>
            <a:ln>
              <a:noFill/>
            </a:ln>
          </p:spPr>
          <p:txBody>
            <a:bodyPr wrap="none" lIns="0" tIns="0" rIns="0" bIns="0" anchor="t" anchorCtr="0">
              <a:spAutoFit/>
            </a:bodyPr>
            <a:lstStyle/>
            <a:p>
              <a:pPr algn="l"/>
              <a:r>
                <a:rPr lang="en-US" sz="1650" b="1" dirty="0">
                  <a:solidFill>
                    <a:srgbClr val="E8F5E9"/>
                  </a:solidFill>
                  <a:latin typeface="Arial"/>
                  <a:ea typeface="Arial"/>
                  <a:cs typeface="Arial"/>
                </a:rPr>
                <a:t>Sepsis Prediction</a:t>
              </a:r>
            </a:p>
          </p:txBody>
        </p:sp>
        <p:sp>
          <p:nvSpPr>
            <p:cNvPr id="48" name="TextBox 48"/>
            <p:cNvSpPr txBox="1"/>
            <p:nvPr/>
          </p:nvSpPr>
          <p:spPr>
            <a:xfrm>
              <a:off x="5099304" y="1699260"/>
              <a:ext cx="1540916" cy="234696"/>
            </a:xfrm>
            <a:prstGeom prst="rect">
              <a:avLst/>
            </a:prstGeom>
            <a:noFill/>
            <a:ln>
              <a:noFill/>
            </a:ln>
          </p:spPr>
          <p:txBody>
            <a:bodyPr wrap="none" lIns="0" tIns="0" rIns="0" bIns="0" anchor="t" anchorCtr="0">
              <a:spAutoFit/>
            </a:bodyPr>
            <a:lstStyle/>
            <a:p>
              <a:pPr algn="l"/>
              <a:r>
                <a:rPr lang="en-US" sz="1200" spc="112" dirty="0">
                  <a:solidFill>
                    <a:srgbClr val="4CAF50"/>
                  </a:solidFill>
                  <a:latin typeface="Arial"/>
                  <a:ea typeface="Arial"/>
                  <a:cs typeface="Arial"/>
                </a:rPr>
                <a:t>CRITICAL CARE AI</a:t>
              </a:r>
            </a:p>
          </p:txBody>
        </p:sp>
        <p:sp>
          <p:nvSpPr>
            <p:cNvPr id="49" name="Line 49"/>
            <p:cNvSpPr/>
            <p:nvPr/>
          </p:nvSpPr>
          <p:spPr>
            <a:xfrm>
              <a:off x="4495800" y="2038350"/>
              <a:ext cx="3200400" cy="9525"/>
            </a:xfrm>
            <a:custGeom>
              <a:avLst/>
              <a:gdLst/>
              <a:ahLst/>
              <a:cxnLst/>
              <a:rect l="l" t="t" r="r" b="b"/>
              <a:pathLst>
                <a:path w="3200400" h="9525">
                  <a:moveTo>
                    <a:pt x="0" y="0"/>
                  </a:moveTo>
                  <a:lnTo>
                    <a:pt x="3200400" y="0"/>
                  </a:lnTo>
                </a:path>
              </a:pathLst>
            </a:custGeom>
            <a:noFill/>
            <a:ln w="9525">
              <a:solidFill>
                <a:srgbClr val="263238"/>
              </a:solidFill>
            </a:ln>
          </p:spPr>
        </p:sp>
        <p:sp>
          <p:nvSpPr>
            <p:cNvPr id="50" name="TextBox 50"/>
            <p:cNvSpPr txBox="1"/>
            <p:nvPr/>
          </p:nvSpPr>
          <p:spPr>
            <a:xfrm>
              <a:off x="4476750" y="2034540"/>
              <a:ext cx="2152924" cy="933450"/>
            </a:xfrm>
            <a:prstGeom prst="rect">
              <a:avLst/>
            </a:prstGeom>
            <a:noFill/>
            <a:ln>
              <a:noFill/>
            </a:ln>
          </p:spPr>
          <p:txBody>
            <a:bodyPr wrap="none" lIns="0" tIns="0" rIns="0" bIns="0" anchor="t" anchorCtr="0">
              <a:spAutoFit/>
            </a:bodyPr>
            <a:lstStyle/>
            <a:p>
              <a:pPr algn="l"/>
              <a:r>
                <a:rPr lang="en-US" sz="4800" b="1" dirty="0">
                  <a:solidFill>
                    <a:srgbClr val="4CAF50"/>
                  </a:solidFill>
                  <a:latin typeface="Georgia"/>
                  <a:ea typeface="Georgia"/>
                  <a:cs typeface="Georgia"/>
                </a:rPr>
                <a:t>18.2%</a:t>
              </a:r>
            </a:p>
          </p:txBody>
        </p:sp>
        <p:sp>
          <p:nvSpPr>
            <p:cNvPr id="51" name="TextBox 51"/>
            <p:cNvSpPr txBox="1"/>
            <p:nvPr/>
          </p:nvSpPr>
          <p:spPr>
            <a:xfrm>
              <a:off x="4487418" y="2660332"/>
              <a:ext cx="2813801"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reduction in ICU mortality</a:t>
              </a:r>
            </a:p>
          </p:txBody>
        </p:sp>
        <p:sp>
          <p:nvSpPr>
            <p:cNvPr id="52" name="Rectangle 52"/>
            <p:cNvSpPr/>
            <p:nvPr/>
          </p:nvSpPr>
          <p:spPr>
            <a:xfrm>
              <a:off x="4495800" y="3086100"/>
              <a:ext cx="57150" cy="57150"/>
            </a:xfrm>
            <a:prstGeom prst="roundRect">
              <a:avLst>
                <a:gd name="adj" fmla="val 50000"/>
              </a:avLst>
            </a:prstGeom>
            <a:solidFill>
              <a:srgbClr val="4CAF50"/>
            </a:solidFill>
            <a:ln>
              <a:noFill/>
            </a:ln>
          </p:spPr>
        </p:sp>
        <p:sp>
          <p:nvSpPr>
            <p:cNvPr id="53" name="TextBox 53"/>
            <p:cNvSpPr txBox="1"/>
            <p:nvPr/>
          </p:nvSpPr>
          <p:spPr>
            <a:xfrm>
              <a:off x="4640580" y="3009900"/>
              <a:ext cx="248698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Alerts 6-12 hours before</a:t>
              </a:r>
            </a:p>
          </p:txBody>
        </p:sp>
        <p:sp>
          <p:nvSpPr>
            <p:cNvPr id="54" name="TextBox 54"/>
            <p:cNvSpPr txBox="1"/>
            <p:nvPr/>
          </p:nvSpPr>
          <p:spPr>
            <a:xfrm>
              <a:off x="4640580" y="3238500"/>
              <a:ext cx="2377821"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clinical criteria are met</a:t>
              </a:r>
            </a:p>
          </p:txBody>
        </p:sp>
        <p:sp>
          <p:nvSpPr>
            <p:cNvPr id="55" name="Rectangle 55"/>
            <p:cNvSpPr/>
            <p:nvPr/>
          </p:nvSpPr>
          <p:spPr>
            <a:xfrm>
              <a:off x="4495800" y="3619500"/>
              <a:ext cx="57150" cy="57150"/>
            </a:xfrm>
            <a:prstGeom prst="roundRect">
              <a:avLst>
                <a:gd name="adj" fmla="val 50000"/>
              </a:avLst>
            </a:prstGeom>
            <a:solidFill>
              <a:srgbClr val="4CAF50"/>
            </a:solidFill>
            <a:ln>
              <a:noFill/>
            </a:ln>
          </p:spPr>
        </p:sp>
        <p:sp>
          <p:nvSpPr>
            <p:cNvPr id="56" name="TextBox 56"/>
            <p:cNvSpPr txBox="1"/>
            <p:nvPr/>
          </p:nvSpPr>
          <p:spPr>
            <a:xfrm>
              <a:off x="4640580" y="3543300"/>
              <a:ext cx="2589848"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30%+ reduction in hospital</a:t>
              </a:r>
            </a:p>
          </p:txBody>
        </p:sp>
        <p:sp>
          <p:nvSpPr>
            <p:cNvPr id="57" name="TextBox 57"/>
            <p:cNvSpPr txBox="1"/>
            <p:nvPr/>
          </p:nvSpPr>
          <p:spPr>
            <a:xfrm>
              <a:off x="4640580" y="3771900"/>
              <a:ext cx="253205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readmission rates with AI</a:t>
              </a:r>
            </a:p>
          </p:txBody>
        </p:sp>
        <p:sp>
          <p:nvSpPr>
            <p:cNvPr id="58" name="Rectangle 58"/>
            <p:cNvSpPr/>
            <p:nvPr/>
          </p:nvSpPr>
          <p:spPr>
            <a:xfrm>
              <a:off x="4495800" y="4152900"/>
              <a:ext cx="57150" cy="57150"/>
            </a:xfrm>
            <a:prstGeom prst="roundRect">
              <a:avLst>
                <a:gd name="adj" fmla="val 50000"/>
              </a:avLst>
            </a:prstGeom>
            <a:solidFill>
              <a:srgbClr val="4CAF50"/>
            </a:solidFill>
            <a:ln>
              <a:noFill/>
            </a:ln>
          </p:spPr>
        </p:sp>
        <p:sp>
          <p:nvSpPr>
            <p:cNvPr id="59" name="TextBox 59"/>
            <p:cNvSpPr txBox="1"/>
            <p:nvPr/>
          </p:nvSpPr>
          <p:spPr>
            <a:xfrm>
              <a:off x="4640580" y="4076700"/>
              <a:ext cx="2767965"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Drug-drug interaction flags</a:t>
              </a:r>
            </a:p>
          </p:txBody>
        </p:sp>
        <p:sp>
          <p:nvSpPr>
            <p:cNvPr id="60" name="TextBox 60"/>
            <p:cNvSpPr txBox="1"/>
            <p:nvPr/>
          </p:nvSpPr>
          <p:spPr>
            <a:xfrm>
              <a:off x="4640580" y="4305300"/>
              <a:ext cx="3003804"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2 days earlier than traditional</a:t>
              </a:r>
            </a:p>
          </p:txBody>
        </p:sp>
        <p:sp>
          <p:nvSpPr>
            <p:cNvPr id="61" name="TextBox 61"/>
            <p:cNvSpPr txBox="1"/>
            <p:nvPr/>
          </p:nvSpPr>
          <p:spPr>
            <a:xfrm>
              <a:off x="4640580" y="4533900"/>
              <a:ext cx="1842706"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detection methods</a:t>
              </a:r>
            </a:p>
          </p:txBody>
        </p:sp>
        <p:sp>
          <p:nvSpPr>
            <p:cNvPr id="62" name="TextBox 62"/>
            <p:cNvSpPr txBox="1"/>
            <p:nvPr/>
          </p:nvSpPr>
          <p:spPr>
            <a:xfrm>
              <a:off x="4489704" y="5890260"/>
              <a:ext cx="2837349"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Epic Systems · Google Health · UCSF</a:t>
              </a:r>
            </a:p>
          </p:txBody>
        </p:sp>
      </p:grpSp>
      <p:grpSp>
        <p:nvGrpSpPr>
          <p:cNvPr id="87" name="Group 87"/>
          <p:cNvGrpSpPr/>
          <p:nvPr/>
        </p:nvGrpSpPr>
        <p:grpSpPr>
          <a:xfrm>
            <a:off x="8077200" y="1162050"/>
            <a:ext cx="3505200" cy="5124450"/>
            <a:chOff x="8077200" y="1162050"/>
            <a:chExt cx="3505200" cy="5124450"/>
          </a:xfrm>
        </p:grpSpPr>
        <p:sp>
          <p:nvSpPr>
            <p:cNvPr id="64" name="Rectangle 64"/>
            <p:cNvSpPr/>
            <p:nvPr/>
          </p:nvSpPr>
          <p:spPr>
            <a:xfrm>
              <a:off x="8077200" y="1162050"/>
              <a:ext cx="3505200" cy="5124450"/>
            </a:xfrm>
            <a:prstGeom prst="roundRect">
              <a:avLst>
                <a:gd name="adj" fmla="val 2174"/>
              </a:avLst>
            </a:prstGeom>
            <a:solidFill>
              <a:srgbClr val="161B22"/>
            </a:solidFill>
            <a:ln>
              <a:noFill/>
            </a:ln>
          </p:spPr>
        </p:sp>
        <p:sp>
          <p:nvSpPr>
            <p:cNvPr id="65" name="Rectangle 65"/>
            <p:cNvSpPr/>
            <p:nvPr/>
          </p:nvSpPr>
          <p:spPr>
            <a:xfrm>
              <a:off x="8077200" y="1162050"/>
              <a:ext cx="3505200" cy="57150"/>
            </a:xfrm>
            <a:prstGeom prst="roundRect">
              <a:avLst>
                <a:gd name="adj" fmla="val 50000"/>
              </a:avLst>
            </a:prstGeom>
            <a:solidFill>
              <a:srgbClr val="26A69A"/>
            </a:solidFill>
            <a:ln>
              <a:noFill/>
            </a:ln>
          </p:spPr>
        </p:sp>
        <p:sp>
          <p:nvSpPr>
            <p:cNvPr id="66" name="Rectangle 66"/>
            <p:cNvSpPr/>
            <p:nvPr/>
          </p:nvSpPr>
          <p:spPr>
            <a:xfrm>
              <a:off x="8229600" y="1371600"/>
              <a:ext cx="495300" cy="495300"/>
            </a:xfrm>
            <a:prstGeom prst="roundRect">
              <a:avLst>
                <a:gd name="adj" fmla="val 19231"/>
              </a:avLst>
            </a:prstGeom>
            <a:solidFill>
              <a:srgbClr val="1C2333"/>
            </a:solidFill>
            <a:ln>
              <a:noFill/>
            </a:ln>
          </p:spPr>
        </p:sp>
        <p:grpSp>
          <p:nvGrpSpPr>
            <p:cNvPr id="69" name="Group 69"/>
            <p:cNvGrpSpPr/>
            <p:nvPr/>
          </p:nvGrpSpPr>
          <p:grpSpPr>
            <a:xfrm>
              <a:off x="8282577" y="1424577"/>
              <a:ext cx="389348" cy="389348"/>
              <a:chOff x="8282577" y="1424577"/>
              <a:chExt cx="389348" cy="389348"/>
            </a:xfrm>
          </p:grpSpPr>
          <p:sp>
            <p:nvSpPr>
              <p:cNvPr id="67" name="Freeform 67"/>
              <p:cNvSpPr/>
              <p:nvPr/>
            </p:nvSpPr>
            <p:spPr>
              <a:xfrm>
                <a:off x="8282577" y="1424577"/>
                <a:ext cx="389348" cy="389348"/>
              </a:xfrm>
              <a:custGeom>
                <a:avLst/>
                <a:gdLst/>
                <a:ahLst/>
                <a:cxnLst/>
                <a:rect l="l" t="t" r="r" b="b"/>
                <a:pathLst>
                  <a:path w="389348" h="389348">
                    <a:moveTo>
                      <a:pt x="39892" y="204993"/>
                    </a:moveTo>
                    <a:lnTo>
                      <a:pt x="204993" y="39892"/>
                    </a:lnTo>
                    <a:cubicBezTo>
                      <a:pt x="244885" y="0"/>
                      <a:pt x="309563" y="0"/>
                      <a:pt x="349455" y="39892"/>
                    </a:cubicBezTo>
                    <a:cubicBezTo>
                      <a:pt x="389348" y="79785"/>
                      <a:pt x="389348" y="144463"/>
                      <a:pt x="349455" y="184355"/>
                    </a:cubicBezTo>
                    <a:lnTo>
                      <a:pt x="184355" y="349455"/>
                    </a:lnTo>
                    <a:cubicBezTo>
                      <a:pt x="144463" y="389348"/>
                      <a:pt x="79785" y="389348"/>
                      <a:pt x="39892" y="349455"/>
                    </a:cubicBezTo>
                    <a:cubicBezTo>
                      <a:pt x="0" y="309563"/>
                      <a:pt x="0" y="244885"/>
                      <a:pt x="39892" y="204993"/>
                    </a:cubicBezTo>
                  </a:path>
                </a:pathLst>
              </a:custGeom>
              <a:noFill/>
              <a:ln w="19050">
                <a:solidFill>
                  <a:srgbClr val="26A69A"/>
                </a:solidFill>
              </a:ln>
            </p:spPr>
          </p:sp>
          <p:sp>
            <p:nvSpPr>
              <p:cNvPr id="68" name="Freeform 68"/>
              <p:cNvSpPr/>
              <p:nvPr/>
            </p:nvSpPr>
            <p:spPr>
              <a:xfrm>
                <a:off x="8405019" y="1547019"/>
                <a:ext cx="144463" cy="144463"/>
              </a:xfrm>
              <a:custGeom>
                <a:avLst/>
                <a:gdLst/>
                <a:ahLst/>
                <a:cxnLst/>
                <a:rect l="l" t="t" r="r" b="b"/>
                <a:pathLst>
                  <a:path w="144463" h="144463">
                    <a:moveTo>
                      <a:pt x="0" y="0"/>
                    </a:moveTo>
                    <a:lnTo>
                      <a:pt x="144463" y="144463"/>
                    </a:lnTo>
                  </a:path>
                </a:pathLst>
              </a:custGeom>
              <a:noFill/>
              <a:ln w="19050">
                <a:solidFill>
                  <a:srgbClr val="26A69A"/>
                </a:solidFill>
              </a:ln>
            </p:spPr>
          </p:sp>
        </p:grpSp>
        <p:sp>
          <p:nvSpPr>
            <p:cNvPr id="70" name="TextBox 70"/>
            <p:cNvSpPr txBox="1"/>
            <p:nvPr/>
          </p:nvSpPr>
          <p:spPr>
            <a:xfrm>
              <a:off x="8830818" y="1441132"/>
              <a:ext cx="1710637" cy="322707"/>
            </a:xfrm>
            <a:prstGeom prst="rect">
              <a:avLst/>
            </a:prstGeom>
            <a:noFill/>
            <a:ln>
              <a:noFill/>
            </a:ln>
          </p:spPr>
          <p:txBody>
            <a:bodyPr wrap="none" lIns="0" tIns="0" rIns="0" bIns="0" anchor="t" anchorCtr="0">
              <a:spAutoFit/>
            </a:bodyPr>
            <a:lstStyle/>
            <a:p>
              <a:pPr algn="l"/>
              <a:r>
                <a:rPr lang="en-US" sz="1650" b="1" dirty="0">
                  <a:solidFill>
                    <a:srgbClr val="E8F5E9"/>
                  </a:solidFill>
                  <a:latin typeface="Arial"/>
                  <a:ea typeface="Arial"/>
                  <a:cs typeface="Arial"/>
                </a:rPr>
                <a:t>Drug Discovery</a:t>
              </a:r>
            </a:p>
          </p:txBody>
        </p:sp>
        <p:sp>
          <p:nvSpPr>
            <p:cNvPr id="71" name="TextBox 71"/>
            <p:cNvSpPr txBox="1"/>
            <p:nvPr/>
          </p:nvSpPr>
          <p:spPr>
            <a:xfrm>
              <a:off x="8833104" y="1699260"/>
              <a:ext cx="2243938" cy="234696"/>
            </a:xfrm>
            <a:prstGeom prst="rect">
              <a:avLst/>
            </a:prstGeom>
            <a:noFill/>
            <a:ln>
              <a:noFill/>
            </a:ln>
          </p:spPr>
          <p:txBody>
            <a:bodyPr wrap="none" lIns="0" tIns="0" rIns="0" bIns="0" anchor="t" anchorCtr="0">
              <a:spAutoFit/>
            </a:bodyPr>
            <a:lstStyle/>
            <a:p>
              <a:pPr algn="l"/>
              <a:r>
                <a:rPr lang="en-US" sz="1200" spc="112" dirty="0">
                  <a:solidFill>
                    <a:srgbClr val="26A69A"/>
                  </a:solidFill>
                  <a:latin typeface="Arial"/>
                  <a:ea typeface="Arial"/>
                  <a:cs typeface="Arial"/>
                </a:rPr>
                <a:t>AI-DESIGNED MOLECULES</a:t>
              </a:r>
            </a:p>
          </p:txBody>
        </p:sp>
        <p:sp>
          <p:nvSpPr>
            <p:cNvPr id="72" name="Line 72"/>
            <p:cNvSpPr/>
            <p:nvPr/>
          </p:nvSpPr>
          <p:spPr>
            <a:xfrm>
              <a:off x="8229600" y="2038350"/>
              <a:ext cx="3200400" cy="9525"/>
            </a:xfrm>
            <a:custGeom>
              <a:avLst/>
              <a:gdLst/>
              <a:ahLst/>
              <a:cxnLst/>
              <a:rect l="l" t="t" r="r" b="b"/>
              <a:pathLst>
                <a:path w="3200400" h="9525">
                  <a:moveTo>
                    <a:pt x="0" y="0"/>
                  </a:moveTo>
                  <a:lnTo>
                    <a:pt x="3200400" y="0"/>
                  </a:lnTo>
                </a:path>
              </a:pathLst>
            </a:custGeom>
            <a:noFill/>
            <a:ln w="9525">
              <a:solidFill>
                <a:srgbClr val="263238"/>
              </a:solidFill>
            </a:ln>
          </p:spPr>
        </p:sp>
        <p:sp>
          <p:nvSpPr>
            <p:cNvPr id="73" name="TextBox 73"/>
            <p:cNvSpPr txBox="1"/>
            <p:nvPr/>
          </p:nvSpPr>
          <p:spPr>
            <a:xfrm>
              <a:off x="8210550" y="1977390"/>
              <a:ext cx="2606101" cy="933450"/>
            </a:xfrm>
            <a:prstGeom prst="rect">
              <a:avLst/>
            </a:prstGeom>
            <a:noFill/>
            <a:ln>
              <a:noFill/>
            </a:ln>
          </p:spPr>
          <p:txBody>
            <a:bodyPr wrap="none" lIns="0" tIns="0" rIns="0" bIns="0" anchor="t" anchorCtr="0">
              <a:spAutoFit/>
            </a:bodyPr>
            <a:lstStyle/>
            <a:p>
              <a:pPr algn="l"/>
              <a:r>
                <a:rPr lang="en-US" sz="4800" b="1" dirty="0">
                  <a:solidFill>
                    <a:srgbClr val="26A69A"/>
                  </a:solidFill>
                  <a:latin typeface="Georgia"/>
                  <a:ea typeface="Georgia"/>
                  <a:cs typeface="Georgia"/>
                </a:rPr>
                <a:t>200M+</a:t>
              </a:r>
            </a:p>
          </p:txBody>
        </p:sp>
        <p:sp>
          <p:nvSpPr>
            <p:cNvPr id="74" name="TextBox 74"/>
            <p:cNvSpPr txBox="1"/>
            <p:nvPr/>
          </p:nvSpPr>
          <p:spPr>
            <a:xfrm>
              <a:off x="8221218" y="2660332"/>
              <a:ext cx="3062473"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proteins solved by AlphaFold</a:t>
              </a:r>
            </a:p>
          </p:txBody>
        </p:sp>
        <p:sp>
          <p:nvSpPr>
            <p:cNvPr id="75" name="Rectangle 75"/>
            <p:cNvSpPr/>
            <p:nvPr/>
          </p:nvSpPr>
          <p:spPr>
            <a:xfrm>
              <a:off x="8229600" y="3086100"/>
              <a:ext cx="57150" cy="57150"/>
            </a:xfrm>
            <a:prstGeom prst="roundRect">
              <a:avLst>
                <a:gd name="adj" fmla="val 50000"/>
              </a:avLst>
            </a:prstGeom>
            <a:solidFill>
              <a:srgbClr val="26A69A"/>
            </a:solidFill>
            <a:ln>
              <a:noFill/>
            </a:ln>
          </p:spPr>
        </p:sp>
        <p:sp>
          <p:nvSpPr>
            <p:cNvPr id="76" name="TextBox 76"/>
            <p:cNvSpPr txBox="1"/>
            <p:nvPr/>
          </p:nvSpPr>
          <p:spPr>
            <a:xfrm>
              <a:off x="8374380" y="3009900"/>
              <a:ext cx="2738885"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Development time: 12 years</a:t>
              </a:r>
            </a:p>
          </p:txBody>
        </p:sp>
        <p:sp>
          <p:nvSpPr>
            <p:cNvPr id="77" name="TextBox 77"/>
            <p:cNvSpPr txBox="1"/>
            <p:nvPr/>
          </p:nvSpPr>
          <p:spPr>
            <a:xfrm>
              <a:off x="8374380" y="3238500"/>
              <a:ext cx="1024890" cy="293370"/>
            </a:xfrm>
            <a:prstGeom prst="rect">
              <a:avLst/>
            </a:prstGeom>
            <a:noFill/>
            <a:ln>
              <a:noFill/>
            </a:ln>
          </p:spPr>
          <p:txBody>
            <a:bodyPr wrap="none" lIns="0" tIns="0" rIns="0" bIns="0" anchor="t" anchorCtr="0">
              <a:spAutoFit/>
            </a:bodyPr>
            <a:lstStyle/>
            <a:p>
              <a:pPr algn="l"/>
              <a:r>
                <a:rPr lang="en-US" sz="1500" dirty="0">
                  <a:solidFill>
                    <a:srgbClr val="26A69A"/>
                  </a:solidFill>
                  <a:latin typeface="Arial"/>
                  <a:ea typeface="Arial"/>
                  <a:cs typeface="Arial"/>
                </a:rPr>
                <a:t>→ ~4 years</a:t>
              </a:r>
            </a:p>
          </p:txBody>
        </p:sp>
        <p:sp>
          <p:nvSpPr>
            <p:cNvPr id="78" name="TextBox 78"/>
            <p:cNvSpPr txBox="1"/>
            <p:nvPr/>
          </p:nvSpPr>
          <p:spPr>
            <a:xfrm>
              <a:off x="8374380" y="3457575"/>
              <a:ext cx="232011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with AI-assisted design</a:t>
              </a:r>
            </a:p>
          </p:txBody>
        </p:sp>
        <p:sp>
          <p:nvSpPr>
            <p:cNvPr id="79" name="Rectangle 79"/>
            <p:cNvSpPr/>
            <p:nvPr/>
          </p:nvSpPr>
          <p:spPr>
            <a:xfrm>
              <a:off x="8229600" y="3848100"/>
              <a:ext cx="57150" cy="57150"/>
            </a:xfrm>
            <a:prstGeom prst="roundRect">
              <a:avLst>
                <a:gd name="adj" fmla="val 50000"/>
              </a:avLst>
            </a:prstGeom>
            <a:solidFill>
              <a:srgbClr val="26A69A"/>
            </a:solidFill>
            <a:ln>
              <a:noFill/>
            </a:ln>
          </p:spPr>
        </p:sp>
        <p:sp>
          <p:nvSpPr>
            <p:cNvPr id="80" name="TextBox 80"/>
            <p:cNvSpPr txBox="1"/>
            <p:nvPr/>
          </p:nvSpPr>
          <p:spPr>
            <a:xfrm>
              <a:off x="8374380" y="3771900"/>
              <a:ext cx="2804668"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DSP-1181: first AI-designed</a:t>
              </a:r>
            </a:p>
          </p:txBody>
        </p:sp>
        <p:sp>
          <p:nvSpPr>
            <p:cNvPr id="81" name="TextBox 81"/>
            <p:cNvSpPr txBox="1"/>
            <p:nvPr/>
          </p:nvSpPr>
          <p:spPr>
            <a:xfrm>
              <a:off x="8374380" y="4000500"/>
              <a:ext cx="2791778"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drug in clinical trials (2020)</a:t>
              </a:r>
            </a:p>
          </p:txBody>
        </p:sp>
        <p:sp>
          <p:nvSpPr>
            <p:cNvPr id="82" name="TextBox 82"/>
            <p:cNvSpPr txBox="1"/>
            <p:nvPr/>
          </p:nvSpPr>
          <p:spPr>
            <a:xfrm>
              <a:off x="8374380" y="4229100"/>
              <a:ext cx="2052876"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for OCD — Exscientia</a:t>
              </a:r>
            </a:p>
          </p:txBody>
        </p:sp>
        <p:sp>
          <p:nvSpPr>
            <p:cNvPr id="83" name="Rectangle 83"/>
            <p:cNvSpPr/>
            <p:nvPr/>
          </p:nvSpPr>
          <p:spPr>
            <a:xfrm>
              <a:off x="8229600" y="4610100"/>
              <a:ext cx="57150" cy="57150"/>
            </a:xfrm>
            <a:prstGeom prst="roundRect">
              <a:avLst>
                <a:gd name="adj" fmla="val 50000"/>
              </a:avLst>
            </a:prstGeom>
            <a:solidFill>
              <a:srgbClr val="26A69A"/>
            </a:solidFill>
            <a:ln>
              <a:noFill/>
            </a:ln>
          </p:spPr>
        </p:sp>
        <p:sp>
          <p:nvSpPr>
            <p:cNvPr id="84" name="TextBox 84"/>
            <p:cNvSpPr txBox="1"/>
            <p:nvPr/>
          </p:nvSpPr>
          <p:spPr>
            <a:xfrm>
              <a:off x="8374380" y="4533900"/>
              <a:ext cx="2153641"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$26B savings per drug</a:t>
              </a:r>
            </a:p>
          </p:txBody>
        </p:sp>
        <p:sp>
          <p:nvSpPr>
            <p:cNvPr id="85" name="TextBox 85"/>
            <p:cNvSpPr txBox="1"/>
            <p:nvPr/>
          </p:nvSpPr>
          <p:spPr>
            <a:xfrm>
              <a:off x="8374380" y="4762500"/>
              <a:ext cx="2074926"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in development costs</a:t>
              </a:r>
            </a:p>
          </p:txBody>
        </p:sp>
        <p:sp>
          <p:nvSpPr>
            <p:cNvPr id="86" name="TextBox 86"/>
            <p:cNvSpPr txBox="1"/>
            <p:nvPr/>
          </p:nvSpPr>
          <p:spPr>
            <a:xfrm>
              <a:off x="8223504" y="5890260"/>
              <a:ext cx="2958070"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DeepMind AlphaFold · Insilico Medicine</a:t>
              </a:r>
            </a:p>
          </p:txBody>
        </p:sp>
      </p:grpSp>
      <p:grpSp>
        <p:nvGrpSpPr>
          <p:cNvPr id="91" name="Group 91"/>
          <p:cNvGrpSpPr/>
          <p:nvPr/>
        </p:nvGrpSpPr>
        <p:grpSpPr>
          <a:xfrm>
            <a:off x="603504" y="6438900"/>
            <a:ext cx="10984992" cy="276606"/>
            <a:chOff x="603504" y="6438900"/>
            <a:chExt cx="10984992" cy="276606"/>
          </a:xfrm>
        </p:grpSpPr>
        <p:sp>
          <p:nvSpPr>
            <p:cNvPr id="88" name="Line 88"/>
            <p:cNvSpPr/>
            <p:nvPr/>
          </p:nvSpPr>
          <p:spPr>
            <a:xfrm>
              <a:off x="609600" y="643890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89" name="TextBox 89"/>
            <p:cNvSpPr txBox="1"/>
            <p:nvPr/>
          </p:nvSpPr>
          <p:spPr>
            <a:xfrm>
              <a:off x="603504" y="64808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90" name="TextBox 90"/>
            <p:cNvSpPr txBox="1"/>
            <p:nvPr/>
          </p:nvSpPr>
          <p:spPr>
            <a:xfrm>
              <a:off x="11035132" y="64808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08 / 14</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sp>
          <p:nvSpPr>
            <p:cNvPr id="4" name="Ellipse 4"/>
            <p:cNvSpPr/>
            <p:nvPr/>
          </p:nvSpPr>
          <p:spPr>
            <a:xfrm>
              <a:off x="4191000" y="952500"/>
              <a:ext cx="5334000" cy="5334000"/>
            </a:xfrm>
            <a:prstGeom prst="ellipse">
              <a:avLst/>
            </a:prstGeom>
            <a:gradFill>
              <a:gsLst>
                <a:gs pos="0">
                  <a:srgbClr val="00E5FF">
                    <a:alpha val="12000"/>
                  </a:srgbClr>
                </a:gs>
                <a:gs pos="100000">
                  <a:srgbClr val="00E5FF">
                    <a:alpha val="0"/>
                  </a:srgbClr>
                </a:gs>
              </a:gsLst>
              <a:path path="circle">
                <a:fillToRect l="50000" t="50000" r="50000" b="50000"/>
              </a:path>
            </a:gradFill>
            <a:ln>
              <a:noFill/>
            </a:ln>
          </p:spPr>
        </p:sp>
      </p:grpSp>
      <p:grpSp>
        <p:nvGrpSpPr>
          <p:cNvPr id="9" name="Group 9"/>
          <p:cNvGrpSpPr/>
          <p:nvPr/>
        </p:nvGrpSpPr>
        <p:grpSpPr>
          <a:xfrm>
            <a:off x="609600" y="201930"/>
            <a:ext cx="10972800" cy="721995"/>
            <a:chOff x="609600" y="201930"/>
            <a:chExt cx="10972800" cy="721995"/>
          </a:xfrm>
        </p:grpSpPr>
        <p:sp>
          <p:nvSpPr>
            <p:cNvPr id="6" name="Rectangle 6"/>
            <p:cNvSpPr/>
            <p:nvPr/>
          </p:nvSpPr>
          <p:spPr>
            <a:xfrm>
              <a:off x="609600" y="304800"/>
              <a:ext cx="38100" cy="457200"/>
            </a:xfrm>
            <a:prstGeom prst="roundRect">
              <a:avLst>
                <a:gd name="adj" fmla="val 50000"/>
              </a:avLst>
            </a:prstGeom>
            <a:gradFill>
              <a:gsLst>
                <a:gs pos="0">
                  <a:srgbClr val="00796B"/>
                </a:gs>
                <a:gs pos="100000">
                  <a:srgbClr val="00E5FF"/>
                </a:gs>
              </a:gsLst>
              <a:lin ang="0" scaled="1"/>
            </a:gradFill>
            <a:ln>
              <a:noFill/>
            </a:ln>
          </p:spPr>
        </p:sp>
        <p:sp>
          <p:nvSpPr>
            <p:cNvPr id="7" name="TextBox 7"/>
            <p:cNvSpPr txBox="1"/>
            <p:nvPr/>
          </p:nvSpPr>
          <p:spPr>
            <a:xfrm>
              <a:off x="781812" y="201930"/>
              <a:ext cx="8545898" cy="704088"/>
            </a:xfrm>
            <a:prstGeom prst="rect">
              <a:avLst/>
            </a:prstGeom>
            <a:noFill/>
            <a:ln>
              <a:noFill/>
            </a:ln>
          </p:spPr>
          <p:txBody>
            <a:bodyPr wrap="none" lIns="0" tIns="0" rIns="0" bIns="0" anchor="t" anchorCtr="0">
              <a:spAutoFit/>
            </a:bodyPr>
            <a:lstStyle/>
            <a:p>
              <a:pPr algn="l"/>
              <a:r>
                <a:rPr lang="en-US" sz="3600" b="1" dirty="0">
                  <a:solidFill>
                    <a:srgbClr val="E8F5E9"/>
                  </a:solidFill>
                  <a:latin typeface="Georgia"/>
                  <a:ea typeface="Georgia"/>
                  <a:cs typeface="Georgia"/>
                </a:rPr>
                <a:t>The Market Has Already Decided</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9525">
              <a:solidFill>
                <a:srgbClr val="263238"/>
              </a:solidFill>
            </a:ln>
          </p:spPr>
        </p:sp>
      </p:grpSp>
      <p:grpSp>
        <p:nvGrpSpPr>
          <p:cNvPr id="30" name="Group 30"/>
          <p:cNvGrpSpPr/>
          <p:nvPr/>
        </p:nvGrpSpPr>
        <p:grpSpPr>
          <a:xfrm>
            <a:off x="601218" y="1345882"/>
            <a:ext cx="5524165" cy="4773169"/>
            <a:chOff x="601218" y="1345882"/>
            <a:chExt cx="5524165" cy="4773169"/>
          </a:xfrm>
        </p:grpSpPr>
        <p:sp>
          <p:nvSpPr>
            <p:cNvPr id="10" name="TextBox 10"/>
            <p:cNvSpPr txBox="1"/>
            <p:nvPr/>
          </p:nvSpPr>
          <p:spPr>
            <a:xfrm>
              <a:off x="601218" y="1345882"/>
              <a:ext cx="2670206"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Market Value Trajectory</a:t>
              </a:r>
            </a:p>
          </p:txBody>
        </p:sp>
        <p:sp>
          <p:nvSpPr>
            <p:cNvPr id="11" name="Rectangle 11"/>
            <p:cNvSpPr/>
            <p:nvPr/>
          </p:nvSpPr>
          <p:spPr>
            <a:xfrm>
              <a:off x="609600" y="1733550"/>
              <a:ext cx="1524000" cy="381000"/>
            </a:xfrm>
            <a:prstGeom prst="roundRect">
              <a:avLst>
                <a:gd name="adj" fmla="val 10000"/>
              </a:avLst>
            </a:prstGeom>
            <a:solidFill>
              <a:srgbClr val="1C2333"/>
            </a:solidFill>
            <a:ln>
              <a:noFill/>
            </a:ln>
          </p:spPr>
        </p:sp>
        <p:sp>
          <p:nvSpPr>
            <p:cNvPr id="12" name="TextBox 12"/>
            <p:cNvSpPr txBox="1"/>
            <p:nvPr/>
          </p:nvSpPr>
          <p:spPr>
            <a:xfrm>
              <a:off x="696468" y="1803082"/>
              <a:ext cx="529868" cy="322707"/>
            </a:xfrm>
            <a:prstGeom prst="rect">
              <a:avLst/>
            </a:prstGeom>
            <a:noFill/>
            <a:ln>
              <a:noFill/>
            </a:ln>
          </p:spPr>
          <p:txBody>
            <a:bodyPr wrap="none" lIns="0" tIns="0" rIns="0" bIns="0" anchor="t" anchorCtr="0">
              <a:spAutoFit/>
            </a:bodyPr>
            <a:lstStyle/>
            <a:p>
              <a:pPr algn="l"/>
              <a:r>
                <a:rPr lang="en-US" sz="1650" b="1" dirty="0">
                  <a:solidFill>
                    <a:srgbClr val="546E7A"/>
                  </a:solidFill>
                  <a:latin typeface="Arial"/>
                  <a:ea typeface="Arial"/>
                  <a:cs typeface="Arial"/>
                </a:rPr>
                <a:t>2021</a:t>
              </a:r>
            </a:p>
          </p:txBody>
        </p:sp>
        <p:sp>
          <p:nvSpPr>
            <p:cNvPr id="13" name="Rectangle 13"/>
            <p:cNvSpPr/>
            <p:nvPr/>
          </p:nvSpPr>
          <p:spPr>
            <a:xfrm>
              <a:off x="609600" y="2228850"/>
              <a:ext cx="1828800" cy="76200"/>
            </a:xfrm>
            <a:prstGeom prst="roundRect">
              <a:avLst>
                <a:gd name="adj" fmla="val 50000"/>
              </a:avLst>
            </a:prstGeom>
            <a:solidFill>
              <a:srgbClr val="26A69A">
                <a:alpha val="60000"/>
              </a:srgbClr>
            </a:solidFill>
            <a:ln>
              <a:noFill/>
            </a:ln>
          </p:spPr>
        </p:sp>
        <p:sp>
          <p:nvSpPr>
            <p:cNvPr id="14" name="TextBox 14"/>
            <p:cNvSpPr txBox="1"/>
            <p:nvPr/>
          </p:nvSpPr>
          <p:spPr>
            <a:xfrm>
              <a:off x="2522982" y="2106930"/>
              <a:ext cx="859201" cy="410718"/>
            </a:xfrm>
            <a:prstGeom prst="rect">
              <a:avLst/>
            </a:prstGeom>
            <a:noFill/>
            <a:ln>
              <a:noFill/>
            </a:ln>
          </p:spPr>
          <p:txBody>
            <a:bodyPr wrap="none" lIns="0" tIns="0" rIns="0" bIns="0" anchor="t" anchorCtr="0">
              <a:spAutoFit/>
            </a:bodyPr>
            <a:lstStyle/>
            <a:p>
              <a:pPr algn="l"/>
              <a:r>
                <a:rPr lang="en-US" sz="2100" b="1" dirty="0">
                  <a:solidFill>
                    <a:srgbClr val="90A4AE"/>
                  </a:solidFill>
                  <a:latin typeface="Georgia"/>
                  <a:ea typeface="Georgia"/>
                  <a:cs typeface="Georgia"/>
                </a:rPr>
                <a:t>$11B</a:t>
              </a:r>
            </a:p>
          </p:txBody>
        </p:sp>
        <p:sp>
          <p:nvSpPr>
            <p:cNvPr id="15" name="Line 15"/>
            <p:cNvSpPr/>
            <p:nvPr/>
          </p:nvSpPr>
          <p:spPr>
            <a:xfrm>
              <a:off x="1238250" y="2495550"/>
              <a:ext cx="9525" cy="285750"/>
            </a:xfrm>
            <a:custGeom>
              <a:avLst/>
              <a:gdLst/>
              <a:ahLst/>
              <a:cxnLst/>
              <a:rect l="l" t="t" r="r" b="b"/>
              <a:pathLst>
                <a:path w="9525" h="285750">
                  <a:moveTo>
                    <a:pt x="0" y="0"/>
                  </a:moveTo>
                  <a:lnTo>
                    <a:pt x="0" y="285750"/>
                  </a:lnTo>
                </a:path>
              </a:pathLst>
            </a:custGeom>
            <a:noFill/>
            <a:ln w="19050">
              <a:solidFill>
                <a:srgbClr val="263238"/>
              </a:solidFill>
              <a:custDash>
                <a:ds d="200000" sp="150000"/>
              </a:custDash>
            </a:ln>
          </p:spPr>
        </p:sp>
        <p:sp>
          <p:nvSpPr>
            <p:cNvPr id="16" name="Rectangle 16"/>
            <p:cNvSpPr/>
            <p:nvPr/>
          </p:nvSpPr>
          <p:spPr>
            <a:xfrm>
              <a:off x="609600" y="2876550"/>
              <a:ext cx="1524000" cy="381000"/>
            </a:xfrm>
            <a:prstGeom prst="roundRect">
              <a:avLst>
                <a:gd name="adj" fmla="val 10000"/>
              </a:avLst>
            </a:prstGeom>
            <a:solidFill>
              <a:srgbClr val="1C2333"/>
            </a:solidFill>
            <a:ln>
              <a:noFill/>
            </a:ln>
          </p:spPr>
        </p:sp>
        <p:sp>
          <p:nvSpPr>
            <p:cNvPr id="17" name="TextBox 17"/>
            <p:cNvSpPr txBox="1"/>
            <p:nvPr/>
          </p:nvSpPr>
          <p:spPr>
            <a:xfrm>
              <a:off x="696468" y="2946082"/>
              <a:ext cx="529868" cy="322707"/>
            </a:xfrm>
            <a:prstGeom prst="rect">
              <a:avLst/>
            </a:prstGeom>
            <a:noFill/>
            <a:ln>
              <a:noFill/>
            </a:ln>
          </p:spPr>
          <p:txBody>
            <a:bodyPr wrap="none" lIns="0" tIns="0" rIns="0" bIns="0" anchor="t" anchorCtr="0">
              <a:spAutoFit/>
            </a:bodyPr>
            <a:lstStyle/>
            <a:p>
              <a:pPr algn="l"/>
              <a:r>
                <a:rPr lang="en-US" sz="1650" b="1" dirty="0">
                  <a:solidFill>
                    <a:srgbClr val="00E5FF"/>
                  </a:solidFill>
                  <a:latin typeface="Arial"/>
                  <a:ea typeface="Arial"/>
                  <a:cs typeface="Arial"/>
                </a:rPr>
                <a:t>2026</a:t>
              </a:r>
            </a:p>
          </p:txBody>
        </p:sp>
        <p:sp>
          <p:nvSpPr>
            <p:cNvPr id="18" name="Rectangle 18"/>
            <p:cNvSpPr/>
            <p:nvPr/>
          </p:nvSpPr>
          <p:spPr>
            <a:xfrm>
              <a:off x="609600" y="3371850"/>
              <a:ext cx="4572000" cy="76200"/>
            </a:xfrm>
            <a:prstGeom prst="roundRect">
              <a:avLst>
                <a:gd name="adj" fmla="val 50000"/>
              </a:avLst>
            </a:prstGeom>
            <a:gradFill>
              <a:gsLst>
                <a:gs pos="0">
                  <a:srgbClr val="00796B"/>
                </a:gs>
                <a:gs pos="100000">
                  <a:srgbClr val="00E5FF"/>
                </a:gs>
              </a:gsLst>
              <a:lin ang="0" scaled="1"/>
            </a:gradFill>
            <a:ln>
              <a:noFill/>
            </a:ln>
          </p:spPr>
        </p:sp>
        <p:sp>
          <p:nvSpPr>
            <p:cNvPr id="19" name="TextBox 19"/>
            <p:cNvSpPr txBox="1"/>
            <p:nvPr/>
          </p:nvSpPr>
          <p:spPr>
            <a:xfrm>
              <a:off x="5266182" y="3249930"/>
              <a:ext cx="859201" cy="410718"/>
            </a:xfrm>
            <a:prstGeom prst="rect">
              <a:avLst/>
            </a:prstGeom>
            <a:noFill/>
            <a:ln>
              <a:noFill/>
            </a:ln>
          </p:spPr>
          <p:txBody>
            <a:bodyPr wrap="none" lIns="0" tIns="0" rIns="0" bIns="0" anchor="t" anchorCtr="0">
              <a:spAutoFit/>
            </a:bodyPr>
            <a:lstStyle/>
            <a:p>
              <a:pPr algn="l"/>
              <a:r>
                <a:rPr lang="en-US" sz="2100" b="1" dirty="0">
                  <a:solidFill>
                    <a:srgbClr val="00E5FF"/>
                  </a:solidFill>
                  <a:latin typeface="Georgia"/>
                  <a:ea typeface="Georgia"/>
                  <a:cs typeface="Georgia"/>
                </a:rPr>
                <a:t>$45B</a:t>
              </a:r>
            </a:p>
          </p:txBody>
        </p:sp>
        <p:sp>
          <p:nvSpPr>
            <p:cNvPr id="20" name="Rectangle 20"/>
            <p:cNvSpPr/>
            <p:nvPr/>
          </p:nvSpPr>
          <p:spPr>
            <a:xfrm>
              <a:off x="609600" y="3714750"/>
              <a:ext cx="3048000" cy="495300"/>
            </a:xfrm>
            <a:prstGeom prst="roundRect">
              <a:avLst>
                <a:gd name="adj" fmla="val 11538"/>
              </a:avLst>
            </a:prstGeom>
            <a:solidFill>
              <a:srgbClr val="161B22"/>
            </a:solidFill>
            <a:ln>
              <a:noFill/>
            </a:ln>
          </p:spPr>
        </p:sp>
        <p:sp>
          <p:nvSpPr>
            <p:cNvPr id="21" name="Rectangle 21"/>
            <p:cNvSpPr/>
            <p:nvPr/>
          </p:nvSpPr>
          <p:spPr>
            <a:xfrm>
              <a:off x="609600" y="3714750"/>
              <a:ext cx="38100" cy="495300"/>
            </a:xfrm>
            <a:prstGeom prst="roundRect">
              <a:avLst>
                <a:gd name="adj" fmla="val 50000"/>
              </a:avLst>
            </a:prstGeom>
            <a:solidFill>
              <a:srgbClr val="4CAF50"/>
            </a:solidFill>
            <a:ln>
              <a:noFill/>
            </a:ln>
          </p:spPr>
        </p:sp>
        <p:sp>
          <p:nvSpPr>
            <p:cNvPr id="22" name="TextBox 22"/>
            <p:cNvSpPr txBox="1"/>
            <p:nvPr/>
          </p:nvSpPr>
          <p:spPr>
            <a:xfrm>
              <a:off x="754380" y="3762375"/>
              <a:ext cx="943356" cy="293370"/>
            </a:xfrm>
            <a:prstGeom prst="rect">
              <a:avLst/>
            </a:prstGeom>
            <a:noFill/>
            <a:ln>
              <a:noFill/>
            </a:ln>
          </p:spPr>
          <p:txBody>
            <a:bodyPr wrap="none" lIns="0" tIns="0" rIns="0" bIns="0" anchor="t" anchorCtr="0">
              <a:spAutoFit/>
            </a:bodyPr>
            <a:lstStyle/>
            <a:p>
              <a:pPr algn="l"/>
              <a:r>
                <a:rPr lang="en-US" sz="1500" dirty="0">
                  <a:solidFill>
                    <a:srgbClr val="4CAF50"/>
                  </a:solidFill>
                  <a:latin typeface="Arial"/>
                  <a:ea typeface="Arial"/>
                  <a:cs typeface="Arial"/>
                </a:rPr>
                <a:t>40% CAGR</a:t>
              </a:r>
            </a:p>
          </p:txBody>
        </p:sp>
        <p:sp>
          <p:nvSpPr>
            <p:cNvPr id="23" name="TextBox 23"/>
            <p:cNvSpPr txBox="1"/>
            <p:nvPr/>
          </p:nvSpPr>
          <p:spPr>
            <a:xfrm>
              <a:off x="755142" y="3969068"/>
              <a:ext cx="3166853" cy="264033"/>
            </a:xfrm>
            <a:prstGeom prst="rect">
              <a:avLst/>
            </a:prstGeom>
            <a:noFill/>
            <a:ln>
              <a:noFill/>
            </a:ln>
          </p:spPr>
          <p:txBody>
            <a:bodyPr wrap="none" lIns="0" tIns="0" rIns="0" bIns="0" anchor="t" anchorCtr="0">
              <a:spAutoFit/>
            </a:bodyPr>
            <a:lstStyle/>
            <a:p>
              <a:pPr algn="l"/>
              <a:r>
                <a:rPr lang="en-US" sz="1350" dirty="0">
                  <a:solidFill>
                    <a:srgbClr val="546E7A"/>
                  </a:solidFill>
                  <a:latin typeface="Arial"/>
                  <a:ea typeface="Arial"/>
                  <a:cs typeface="Arial"/>
                </a:rPr>
                <a:t>fastest-growing healthcare sector</a:t>
              </a:r>
            </a:p>
          </p:txBody>
        </p:sp>
        <p:sp>
          <p:nvSpPr>
            <p:cNvPr id="24" name="TextBox 24"/>
            <p:cNvSpPr txBox="1"/>
            <p:nvPr/>
          </p:nvSpPr>
          <p:spPr>
            <a:xfrm>
              <a:off x="601980" y="4448175"/>
              <a:ext cx="283175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Leading AI health companies:</a:t>
              </a:r>
            </a:p>
          </p:txBody>
        </p:sp>
        <p:sp>
          <p:nvSpPr>
            <p:cNvPr id="25" name="TextBox 25"/>
            <p:cNvSpPr txBox="1"/>
            <p:nvPr/>
          </p:nvSpPr>
          <p:spPr>
            <a:xfrm>
              <a:off x="602742" y="4731068"/>
              <a:ext cx="4218642" cy="264033"/>
            </a:xfrm>
            <a:prstGeom prst="rect">
              <a:avLst/>
            </a:prstGeom>
            <a:noFill/>
            <a:ln>
              <a:noFill/>
            </a:ln>
          </p:spPr>
          <p:txBody>
            <a:bodyPr wrap="none" lIns="0" tIns="0" rIns="0" bIns="0" anchor="t" anchorCtr="0">
              <a:spAutoFit/>
            </a:bodyPr>
            <a:lstStyle/>
            <a:p>
              <a:pPr algn="l"/>
              <a:r>
                <a:rPr lang="en-US" sz="1350" dirty="0">
                  <a:solidFill>
                    <a:srgbClr val="546E7A"/>
                  </a:solidFill>
                  <a:latin typeface="Arial"/>
                  <a:ea typeface="Arial"/>
                  <a:cs typeface="Arial"/>
                </a:rPr>
                <a:t>Google Health · Microsoft/Nuance · IBM Watson</a:t>
              </a:r>
            </a:p>
          </p:txBody>
        </p:sp>
        <p:sp>
          <p:nvSpPr>
            <p:cNvPr id="26" name="TextBox 26"/>
            <p:cNvSpPr txBox="1"/>
            <p:nvPr/>
          </p:nvSpPr>
          <p:spPr>
            <a:xfrm>
              <a:off x="602742" y="4959668"/>
              <a:ext cx="3218116" cy="264033"/>
            </a:xfrm>
            <a:prstGeom prst="rect">
              <a:avLst/>
            </a:prstGeom>
            <a:noFill/>
            <a:ln>
              <a:noFill/>
            </a:ln>
          </p:spPr>
          <p:txBody>
            <a:bodyPr wrap="none" lIns="0" tIns="0" rIns="0" bIns="0" anchor="t" anchorCtr="0">
              <a:spAutoFit/>
            </a:bodyPr>
            <a:lstStyle/>
            <a:p>
              <a:pPr algn="l"/>
              <a:r>
                <a:rPr lang="en-US" sz="1350" dirty="0">
                  <a:solidFill>
                    <a:srgbClr val="546E7A"/>
                  </a:solidFill>
                  <a:latin typeface="Arial"/>
                  <a:ea typeface="Arial"/>
                  <a:cs typeface="Arial"/>
                </a:rPr>
                <a:t>Tempus · Flatiron · Insilico Medicine</a:t>
              </a:r>
            </a:p>
          </p:txBody>
        </p:sp>
        <p:sp>
          <p:nvSpPr>
            <p:cNvPr id="27" name="TextBox 27"/>
            <p:cNvSpPr txBox="1"/>
            <p:nvPr/>
          </p:nvSpPr>
          <p:spPr>
            <a:xfrm>
              <a:off x="602742" y="5188268"/>
              <a:ext cx="3798771" cy="264033"/>
            </a:xfrm>
            <a:prstGeom prst="rect">
              <a:avLst/>
            </a:prstGeom>
            <a:noFill/>
            <a:ln>
              <a:noFill/>
            </a:ln>
          </p:spPr>
          <p:txBody>
            <a:bodyPr wrap="none" lIns="0" tIns="0" rIns="0" bIns="0" anchor="t" anchorCtr="0">
              <a:spAutoFit/>
            </a:bodyPr>
            <a:lstStyle/>
            <a:p>
              <a:pPr algn="l"/>
              <a:r>
                <a:rPr lang="en-US" sz="1350" dirty="0">
                  <a:solidFill>
                    <a:srgbClr val="546E7A"/>
                  </a:solidFill>
                  <a:latin typeface="Arial"/>
                  <a:ea typeface="Arial"/>
                  <a:cs typeface="Arial"/>
                </a:rPr>
                <a:t>Epic · Cerner · Exscientia · Babylon Health</a:t>
              </a:r>
            </a:p>
          </p:txBody>
        </p:sp>
        <p:sp>
          <p:nvSpPr>
            <p:cNvPr id="28" name="TextBox 28"/>
            <p:cNvSpPr txBox="1"/>
            <p:nvPr/>
          </p:nvSpPr>
          <p:spPr>
            <a:xfrm>
              <a:off x="602742" y="5645468"/>
              <a:ext cx="2587811" cy="264033"/>
            </a:xfrm>
            <a:prstGeom prst="rect">
              <a:avLst/>
            </a:prstGeom>
            <a:noFill/>
            <a:ln>
              <a:noFill/>
            </a:ln>
          </p:spPr>
          <p:txBody>
            <a:bodyPr wrap="none" lIns="0" tIns="0" rIns="0" bIns="0" anchor="t" anchorCtr="0">
              <a:spAutoFit/>
            </a:bodyPr>
            <a:lstStyle/>
            <a:p>
              <a:pPr algn="l"/>
              <a:r>
                <a:rPr lang="en-US" sz="1350" dirty="0">
                  <a:solidFill>
                    <a:srgbClr val="546E7A"/>
                  </a:solidFill>
                  <a:latin typeface="Arial"/>
                  <a:ea typeface="Arial"/>
                  <a:cs typeface="Arial"/>
                </a:rPr>
                <a:t>North America leads adoption</a:t>
              </a:r>
            </a:p>
          </p:txBody>
        </p:sp>
        <p:sp>
          <p:nvSpPr>
            <p:cNvPr id="29" name="TextBox 29"/>
            <p:cNvSpPr txBox="1"/>
            <p:nvPr/>
          </p:nvSpPr>
          <p:spPr>
            <a:xfrm>
              <a:off x="602742" y="5855018"/>
              <a:ext cx="2796826" cy="264033"/>
            </a:xfrm>
            <a:prstGeom prst="rect">
              <a:avLst/>
            </a:prstGeom>
            <a:noFill/>
            <a:ln>
              <a:noFill/>
            </a:ln>
          </p:spPr>
          <p:txBody>
            <a:bodyPr wrap="none" lIns="0" tIns="0" rIns="0" bIns="0" anchor="t" anchorCtr="0">
              <a:spAutoFit/>
            </a:bodyPr>
            <a:lstStyle/>
            <a:p>
              <a:pPr algn="l"/>
              <a:r>
                <a:rPr lang="en-US" sz="1350" dirty="0">
                  <a:solidFill>
                    <a:srgbClr val="26A69A"/>
                  </a:solidFill>
                  <a:latin typeface="Arial"/>
                  <a:ea typeface="Arial"/>
                  <a:cs typeface="Arial"/>
                </a:rPr>
                <a:t>Asia-Pacific is fastest growing</a:t>
              </a:r>
            </a:p>
          </p:txBody>
        </p:sp>
      </p:grpSp>
      <p:grpSp>
        <p:nvGrpSpPr>
          <p:cNvPr id="35" name="Group 35"/>
          <p:cNvGrpSpPr/>
          <p:nvPr/>
        </p:nvGrpSpPr>
        <p:grpSpPr>
          <a:xfrm>
            <a:off x="5541040" y="2571750"/>
            <a:ext cx="6062920" cy="2983039"/>
            <a:chOff x="5541040" y="2571750"/>
            <a:chExt cx="6062920" cy="2983039"/>
          </a:xfrm>
        </p:grpSpPr>
        <p:sp>
          <p:nvSpPr>
            <p:cNvPr id="31" name="TextBox 31"/>
            <p:cNvSpPr txBox="1"/>
            <p:nvPr/>
          </p:nvSpPr>
          <p:spPr>
            <a:xfrm>
              <a:off x="5561076" y="2571750"/>
              <a:ext cx="6022848" cy="2876550"/>
            </a:xfrm>
            <a:prstGeom prst="rect">
              <a:avLst/>
            </a:prstGeom>
            <a:noFill/>
            <a:ln>
              <a:noFill/>
            </a:ln>
          </p:spPr>
          <p:txBody>
            <a:bodyPr wrap="none" lIns="0" tIns="0" rIns="0" bIns="0" anchor="t" anchorCtr="0">
              <a:spAutoFit/>
            </a:bodyPr>
            <a:lstStyle/>
            <a:p>
              <a:pPr algn="ctr"/>
              <a:r>
                <a:rPr lang="en-US" sz="15000" b="1" dirty="0">
                  <a:solidFill>
                    <a:srgbClr val="00E5FF"/>
                  </a:solidFill>
                  <a:effectLst>
                    <a:glow rad="114300">
                      <a:srgbClr val="00E5FF">
                        <a:alpha val="40000"/>
                      </a:srgbClr>
                    </a:glow>
                  </a:effectLst>
                  <a:latin typeface="Georgia"/>
                  <a:ea typeface="Georgia"/>
                  <a:cs typeface="Georgia"/>
                </a:rPr>
                <a:t>$45B</a:t>
              </a:r>
            </a:p>
          </p:txBody>
        </p:sp>
        <p:sp>
          <p:nvSpPr>
            <p:cNvPr id="32" name="TextBox 32"/>
            <p:cNvSpPr txBox="1"/>
            <p:nvPr/>
          </p:nvSpPr>
          <p:spPr>
            <a:xfrm>
              <a:off x="5835680" y="4535805"/>
              <a:ext cx="5473640" cy="410718"/>
            </a:xfrm>
            <a:prstGeom prst="rect">
              <a:avLst/>
            </a:prstGeom>
            <a:noFill/>
            <a:ln>
              <a:noFill/>
            </a:ln>
          </p:spPr>
          <p:txBody>
            <a:bodyPr wrap="none" lIns="0" tIns="0" rIns="0" bIns="0" anchor="t" anchorCtr="0">
              <a:spAutoFit/>
            </a:bodyPr>
            <a:lstStyle/>
            <a:p>
              <a:pPr algn="ctr"/>
              <a:r>
                <a:rPr lang="en-US" sz="2100" dirty="0">
                  <a:solidFill>
                    <a:srgbClr val="90A4AE"/>
                  </a:solidFill>
                  <a:latin typeface="Arial"/>
                  <a:ea typeface="Arial"/>
                  <a:cs typeface="Arial"/>
                </a:rPr>
                <a:t>Projected AI Healthcare Market by 2026</a:t>
              </a:r>
            </a:p>
          </p:txBody>
        </p:sp>
        <p:sp>
          <p:nvSpPr>
            <p:cNvPr id="33" name="TextBox 33"/>
            <p:cNvSpPr txBox="1"/>
            <p:nvPr/>
          </p:nvSpPr>
          <p:spPr>
            <a:xfrm>
              <a:off x="5650563" y="4965382"/>
              <a:ext cx="5843873" cy="322707"/>
            </a:xfrm>
            <a:prstGeom prst="rect">
              <a:avLst/>
            </a:prstGeom>
            <a:noFill/>
            <a:ln>
              <a:noFill/>
            </a:ln>
          </p:spPr>
          <p:txBody>
            <a:bodyPr wrap="none" lIns="0" tIns="0" rIns="0" bIns="0" anchor="t" anchorCtr="0">
              <a:spAutoFit/>
            </a:bodyPr>
            <a:lstStyle/>
            <a:p>
              <a:pPr algn="ctr"/>
              <a:r>
                <a:rPr lang="en-US" sz="1650" dirty="0">
                  <a:solidFill>
                    <a:srgbClr val="546E7A"/>
                  </a:solidFill>
                  <a:latin typeface="Arial"/>
                  <a:ea typeface="Arial"/>
                  <a:cs typeface="Arial"/>
                </a:rPr>
                <a:t>The accumulated signal of every major health system,</a:t>
              </a:r>
            </a:p>
          </p:txBody>
        </p:sp>
        <p:sp>
          <p:nvSpPr>
            <p:cNvPr id="34" name="TextBox 34"/>
            <p:cNvSpPr txBox="1"/>
            <p:nvPr/>
          </p:nvSpPr>
          <p:spPr>
            <a:xfrm>
              <a:off x="5541040" y="5232082"/>
              <a:ext cx="6062920" cy="322707"/>
            </a:xfrm>
            <a:prstGeom prst="rect">
              <a:avLst/>
            </a:prstGeom>
            <a:noFill/>
            <a:ln>
              <a:noFill/>
            </a:ln>
          </p:spPr>
          <p:txBody>
            <a:bodyPr wrap="none" lIns="0" tIns="0" rIns="0" bIns="0" anchor="t" anchorCtr="0">
              <a:spAutoFit/>
            </a:bodyPr>
            <a:lstStyle/>
            <a:p>
              <a:pPr algn="ctr"/>
              <a:r>
                <a:rPr lang="en-US" sz="1650" dirty="0">
                  <a:solidFill>
                    <a:srgbClr val="546E7A"/>
                  </a:solidFill>
                  <a:latin typeface="Arial"/>
                  <a:ea typeface="Arial"/>
                  <a:cs typeface="Arial"/>
                </a:rPr>
                <a:t>pharma company, and tech giant choosing to build on AI.</a:t>
              </a:r>
            </a:p>
          </p:txBody>
        </p:sp>
      </p:grpSp>
      <p:grpSp>
        <p:nvGrpSpPr>
          <p:cNvPr id="39" name="Group 39"/>
          <p:cNvGrpSpPr/>
          <p:nvPr/>
        </p:nvGrpSpPr>
        <p:grpSpPr>
          <a:xfrm>
            <a:off x="603504" y="6591300"/>
            <a:ext cx="10984992" cy="276606"/>
            <a:chOff x="603504" y="6591300"/>
            <a:chExt cx="10984992" cy="276606"/>
          </a:xfrm>
        </p:grpSpPr>
        <p:sp>
          <p:nvSpPr>
            <p:cNvPr id="36" name="Line 36"/>
            <p:cNvSpPr/>
            <p:nvPr/>
          </p:nvSpPr>
          <p:spPr>
            <a:xfrm>
              <a:off x="609600" y="659130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37" name="TextBox 37"/>
            <p:cNvSpPr txBox="1"/>
            <p:nvPr/>
          </p:nvSpPr>
          <p:spPr>
            <a:xfrm>
              <a:off x="603504" y="66332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38" name="TextBox 38"/>
            <p:cNvSpPr txBox="1"/>
            <p:nvPr/>
          </p:nvSpPr>
          <p:spPr>
            <a:xfrm>
              <a:off x="11035132" y="66332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09 / 14</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grpSp>
      <p:grpSp>
        <p:nvGrpSpPr>
          <p:cNvPr id="9" name="Group 9"/>
          <p:cNvGrpSpPr/>
          <p:nvPr/>
        </p:nvGrpSpPr>
        <p:grpSpPr>
          <a:xfrm>
            <a:off x="609600" y="201930"/>
            <a:ext cx="11384189" cy="817245"/>
            <a:chOff x="609600" y="201930"/>
            <a:chExt cx="11384189" cy="817245"/>
          </a:xfrm>
        </p:grpSpPr>
        <p:sp>
          <p:nvSpPr>
            <p:cNvPr id="5" name="Rectangle 5"/>
            <p:cNvSpPr/>
            <p:nvPr/>
          </p:nvSpPr>
          <p:spPr>
            <a:xfrm>
              <a:off x="609600" y="304800"/>
              <a:ext cx="38100" cy="457200"/>
            </a:xfrm>
            <a:prstGeom prst="roundRect">
              <a:avLst>
                <a:gd name="adj" fmla="val 50000"/>
              </a:avLst>
            </a:prstGeom>
            <a:gradFill>
              <a:gsLst>
                <a:gs pos="0">
                  <a:srgbClr val="00796B"/>
                </a:gs>
                <a:gs pos="100000">
                  <a:srgbClr val="00E5FF"/>
                </a:gs>
              </a:gsLst>
              <a:lin ang="0" scaled="1"/>
            </a:gradFill>
            <a:ln>
              <a:noFill/>
            </a:ln>
          </p:spPr>
        </p:sp>
        <p:sp>
          <p:nvSpPr>
            <p:cNvPr id="6" name="TextBox 6"/>
            <p:cNvSpPr txBox="1"/>
            <p:nvPr/>
          </p:nvSpPr>
          <p:spPr>
            <a:xfrm>
              <a:off x="781812" y="201930"/>
              <a:ext cx="11211977" cy="704088"/>
            </a:xfrm>
            <a:prstGeom prst="rect">
              <a:avLst/>
            </a:prstGeom>
            <a:noFill/>
            <a:ln>
              <a:noFill/>
            </a:ln>
          </p:spPr>
          <p:txBody>
            <a:bodyPr wrap="none" lIns="0" tIns="0" rIns="0" bIns="0" anchor="t" anchorCtr="0">
              <a:spAutoFit/>
            </a:bodyPr>
            <a:lstStyle/>
            <a:p>
              <a:pPr algn="l"/>
              <a:r>
                <a:rPr lang="en-US" sz="3600" b="1" dirty="0">
                  <a:solidFill>
                    <a:srgbClr val="E8F5E9"/>
                  </a:solidFill>
                  <a:latin typeface="Georgia"/>
                  <a:ea typeface="Georgia"/>
                  <a:cs typeface="Georgia"/>
                </a:rPr>
                <a:t>From Research to Reality: Key Milestones</a:t>
              </a:r>
            </a:p>
          </p:txBody>
        </p:sp>
        <p:sp>
          <p:nvSpPr>
            <p:cNvPr id="7" name="TextBox 7"/>
            <p:cNvSpPr txBox="1"/>
            <p:nvPr/>
          </p:nvSpPr>
          <p:spPr>
            <a:xfrm>
              <a:off x="791718" y="679132"/>
              <a:ext cx="10523794" cy="322707"/>
            </a:xfrm>
            <a:prstGeom prst="rect">
              <a:avLst/>
            </a:prstGeom>
            <a:noFill/>
            <a:ln>
              <a:noFill/>
            </a:ln>
          </p:spPr>
          <p:txBody>
            <a:bodyPr wrap="none" lIns="0" tIns="0" rIns="0" bIns="0" anchor="t" anchorCtr="0">
              <a:spAutoFit/>
            </a:bodyPr>
            <a:lstStyle/>
            <a:p>
              <a:pPr algn="l"/>
              <a:r>
                <a:rPr lang="en-US" sz="1650" dirty="0">
                  <a:solidFill>
                    <a:srgbClr val="90A4AE"/>
                  </a:solidFill>
                  <a:latin typeface="Arial"/>
                  <a:ea typeface="Arial"/>
                  <a:cs typeface="Arial"/>
                </a:rPr>
                <a:t>What took radiology decades to accept, AI achieved in five years — unprecedented adoption pace.</a:t>
              </a:r>
            </a:p>
          </p:txBody>
        </p:sp>
        <p:sp>
          <p:nvSpPr>
            <p:cNvPr id="8" name="Line 8"/>
            <p:cNvSpPr/>
            <p:nvPr/>
          </p:nvSpPr>
          <p:spPr>
            <a:xfrm>
              <a:off x="609600" y="1009650"/>
              <a:ext cx="10972800" cy="9525"/>
            </a:xfrm>
            <a:custGeom>
              <a:avLst/>
              <a:gdLst/>
              <a:ahLst/>
              <a:cxnLst/>
              <a:rect l="l" t="t" r="r" b="b"/>
              <a:pathLst>
                <a:path w="10972800" h="9525">
                  <a:moveTo>
                    <a:pt x="0" y="0"/>
                  </a:moveTo>
                  <a:lnTo>
                    <a:pt x="10972800" y="0"/>
                  </a:lnTo>
                </a:path>
              </a:pathLst>
            </a:custGeom>
            <a:noFill/>
            <a:ln w="9525">
              <a:solidFill>
                <a:srgbClr val="263238"/>
              </a:solidFill>
            </a:ln>
          </p:spPr>
        </p:sp>
      </p:grpSp>
      <p:grpSp>
        <p:nvGrpSpPr>
          <p:cNvPr id="11" name="Group 11"/>
          <p:cNvGrpSpPr/>
          <p:nvPr/>
        </p:nvGrpSpPr>
        <p:grpSpPr>
          <a:xfrm>
            <a:off x="914400" y="3581400"/>
            <a:ext cx="10363200" cy="76200"/>
            <a:chOff x="914400" y="3581400"/>
            <a:chExt cx="10363200" cy="76200"/>
          </a:xfrm>
        </p:grpSpPr>
        <p:sp>
          <p:nvSpPr>
            <p:cNvPr id="10" name="Rectangle 10"/>
            <p:cNvSpPr/>
            <p:nvPr/>
          </p:nvSpPr>
          <p:spPr>
            <a:xfrm>
              <a:off x="914400" y="3581400"/>
              <a:ext cx="10363200" cy="76200"/>
            </a:xfrm>
            <a:prstGeom prst="roundRect">
              <a:avLst>
                <a:gd name="adj" fmla="val 50000"/>
              </a:avLst>
            </a:prstGeom>
            <a:gradFill>
              <a:gsLst>
                <a:gs pos="0">
                  <a:srgbClr val="263238"/>
                </a:gs>
                <a:gs pos="50000">
                  <a:srgbClr val="00E5FF"/>
                </a:gs>
                <a:gs pos="100000">
                  <a:srgbClr val="00796B"/>
                </a:gs>
              </a:gsLst>
              <a:lin ang="0" scaled="1"/>
            </a:gradFill>
            <a:ln>
              <a:noFill/>
            </a:ln>
          </p:spPr>
        </p:sp>
      </p:grpSp>
      <p:grpSp>
        <p:nvGrpSpPr>
          <p:cNvPr id="19" name="Group 19"/>
          <p:cNvGrpSpPr/>
          <p:nvPr/>
        </p:nvGrpSpPr>
        <p:grpSpPr>
          <a:xfrm>
            <a:off x="686562" y="1695450"/>
            <a:ext cx="1847088" cy="2057400"/>
            <a:chOff x="686562" y="1695450"/>
            <a:chExt cx="1847088" cy="2057400"/>
          </a:xfrm>
        </p:grpSpPr>
        <p:sp>
          <p:nvSpPr>
            <p:cNvPr id="12" name="Ellipse 12"/>
            <p:cNvSpPr/>
            <p:nvPr/>
          </p:nvSpPr>
          <p:spPr>
            <a:xfrm>
              <a:off x="1447800" y="3486150"/>
              <a:ext cx="266700" cy="266700"/>
            </a:xfrm>
            <a:prstGeom prst="ellipse">
              <a:avLst/>
            </a:prstGeom>
            <a:solidFill>
              <a:srgbClr val="0D1117"/>
            </a:solidFill>
            <a:ln w="19050">
              <a:solidFill>
                <a:srgbClr val="546E7A"/>
              </a:solidFill>
            </a:ln>
          </p:spPr>
        </p:sp>
        <p:sp>
          <p:nvSpPr>
            <p:cNvPr id="13" name="Ellipse 13"/>
            <p:cNvSpPr/>
            <p:nvPr/>
          </p:nvSpPr>
          <p:spPr>
            <a:xfrm>
              <a:off x="1524000" y="3562350"/>
              <a:ext cx="114300" cy="114300"/>
            </a:xfrm>
            <a:prstGeom prst="ellipse">
              <a:avLst/>
            </a:prstGeom>
            <a:solidFill>
              <a:srgbClr val="546E7A"/>
            </a:solidFill>
            <a:ln>
              <a:noFill/>
            </a:ln>
          </p:spPr>
        </p:sp>
        <p:sp>
          <p:nvSpPr>
            <p:cNvPr id="14" name="Line 14"/>
            <p:cNvSpPr/>
            <p:nvPr/>
          </p:nvSpPr>
          <p:spPr>
            <a:xfrm>
              <a:off x="1581150" y="2286000"/>
              <a:ext cx="9525" cy="1200150"/>
            </a:xfrm>
            <a:custGeom>
              <a:avLst/>
              <a:gdLst/>
              <a:ahLst/>
              <a:cxnLst/>
              <a:rect l="l" t="t" r="r" b="b"/>
              <a:pathLst>
                <a:path w="9525" h="1200150">
                  <a:moveTo>
                    <a:pt x="0" y="1200150"/>
                  </a:moveTo>
                  <a:lnTo>
                    <a:pt x="0" y="0"/>
                  </a:lnTo>
                </a:path>
              </a:pathLst>
            </a:custGeom>
            <a:noFill/>
            <a:ln w="9525">
              <a:solidFill>
                <a:srgbClr val="546E7A"/>
              </a:solidFill>
              <a:custDash>
                <a:ds d="400000" sp="300000"/>
              </a:custDash>
            </a:ln>
          </p:spPr>
        </p:sp>
        <p:sp>
          <p:nvSpPr>
            <p:cNvPr id="15" name="Rectangle 15"/>
            <p:cNvSpPr/>
            <p:nvPr/>
          </p:nvSpPr>
          <p:spPr>
            <a:xfrm>
              <a:off x="762000" y="1695450"/>
              <a:ext cx="1771650" cy="609600"/>
            </a:xfrm>
            <a:prstGeom prst="roundRect">
              <a:avLst>
                <a:gd name="adj" fmla="val 9375"/>
              </a:avLst>
            </a:prstGeom>
            <a:solidFill>
              <a:srgbClr val="161B22"/>
            </a:solidFill>
            <a:ln>
              <a:noFill/>
            </a:ln>
          </p:spPr>
        </p:sp>
        <p:sp>
          <p:nvSpPr>
            <p:cNvPr id="16" name="TextBox 16"/>
            <p:cNvSpPr txBox="1"/>
            <p:nvPr/>
          </p:nvSpPr>
          <p:spPr>
            <a:xfrm>
              <a:off x="1301694" y="1745932"/>
              <a:ext cx="558912" cy="322707"/>
            </a:xfrm>
            <a:prstGeom prst="rect">
              <a:avLst/>
            </a:prstGeom>
            <a:noFill/>
            <a:ln>
              <a:noFill/>
            </a:ln>
          </p:spPr>
          <p:txBody>
            <a:bodyPr wrap="none" lIns="0" tIns="0" rIns="0" bIns="0" anchor="t" anchorCtr="0">
              <a:spAutoFit/>
            </a:bodyPr>
            <a:lstStyle/>
            <a:p>
              <a:pPr algn="ctr"/>
              <a:r>
                <a:rPr lang="en-US" sz="1650" b="1" dirty="0">
                  <a:solidFill>
                    <a:srgbClr val="90A4AE"/>
                  </a:solidFill>
                  <a:latin typeface="Georgia"/>
                  <a:ea typeface="Georgia"/>
                  <a:cs typeface="Georgia"/>
                </a:rPr>
                <a:t>2016</a:t>
              </a:r>
            </a:p>
          </p:txBody>
        </p:sp>
        <p:sp>
          <p:nvSpPr>
            <p:cNvPr id="17" name="TextBox 17"/>
            <p:cNvSpPr txBox="1"/>
            <p:nvPr/>
          </p:nvSpPr>
          <p:spPr>
            <a:xfrm>
              <a:off x="828934" y="1985010"/>
              <a:ext cx="1504432" cy="234696"/>
            </a:xfrm>
            <a:prstGeom prst="rect">
              <a:avLst/>
            </a:prstGeom>
            <a:noFill/>
            <a:ln>
              <a:noFill/>
            </a:ln>
          </p:spPr>
          <p:txBody>
            <a:bodyPr wrap="none" lIns="0" tIns="0" rIns="0" bIns="0" anchor="t" anchorCtr="0">
              <a:spAutoFit/>
            </a:bodyPr>
            <a:lstStyle/>
            <a:p>
              <a:pPr algn="ctr"/>
              <a:r>
                <a:rPr lang="en-US" sz="1200" dirty="0">
                  <a:solidFill>
                    <a:srgbClr val="546E7A"/>
                  </a:solidFill>
                  <a:latin typeface="Arial"/>
                  <a:ea typeface="Arial"/>
                  <a:cs typeface="Arial"/>
                </a:rPr>
                <a:t>AlphaGo + DeepMind</a:t>
              </a:r>
            </a:p>
          </p:txBody>
        </p:sp>
        <p:sp>
          <p:nvSpPr>
            <p:cNvPr id="18" name="TextBox 18"/>
            <p:cNvSpPr txBox="1"/>
            <p:nvPr/>
          </p:nvSpPr>
          <p:spPr>
            <a:xfrm>
              <a:off x="686562" y="2156460"/>
              <a:ext cx="1789176" cy="234696"/>
            </a:xfrm>
            <a:prstGeom prst="rect">
              <a:avLst/>
            </a:prstGeom>
            <a:noFill/>
            <a:ln>
              <a:noFill/>
            </a:ln>
          </p:spPr>
          <p:txBody>
            <a:bodyPr wrap="none" lIns="0" tIns="0" rIns="0" bIns="0" anchor="t" anchorCtr="0">
              <a:spAutoFit/>
            </a:bodyPr>
            <a:lstStyle/>
            <a:p>
              <a:pPr algn="ctr"/>
              <a:r>
                <a:rPr lang="en-US" sz="1200" dirty="0">
                  <a:solidFill>
                    <a:srgbClr val="546E7A"/>
                  </a:solidFill>
                  <a:latin typeface="Arial"/>
                  <a:ea typeface="Arial"/>
                  <a:cs typeface="Arial"/>
                </a:rPr>
                <a:t>enters medical imaging</a:t>
              </a:r>
            </a:p>
          </p:txBody>
        </p:sp>
      </p:grpSp>
      <p:grpSp>
        <p:nvGrpSpPr>
          <p:cNvPr id="27" name="Group 27"/>
          <p:cNvGrpSpPr/>
          <p:nvPr/>
        </p:nvGrpSpPr>
        <p:grpSpPr>
          <a:xfrm>
            <a:off x="2762250" y="3486150"/>
            <a:ext cx="1866900" cy="1876806"/>
            <a:chOff x="2762250" y="3486150"/>
            <a:chExt cx="1866900" cy="1876806"/>
          </a:xfrm>
        </p:grpSpPr>
        <p:sp>
          <p:nvSpPr>
            <p:cNvPr id="20" name="Ellipse 20"/>
            <p:cNvSpPr/>
            <p:nvPr/>
          </p:nvSpPr>
          <p:spPr>
            <a:xfrm>
              <a:off x="3505200" y="3486150"/>
              <a:ext cx="266700" cy="266700"/>
            </a:xfrm>
            <a:prstGeom prst="ellipse">
              <a:avLst/>
            </a:prstGeom>
            <a:solidFill>
              <a:srgbClr val="0D1117"/>
            </a:solidFill>
            <a:ln w="19050">
              <a:solidFill>
                <a:srgbClr val="26A69A"/>
              </a:solidFill>
            </a:ln>
          </p:spPr>
        </p:sp>
        <p:sp>
          <p:nvSpPr>
            <p:cNvPr id="21" name="Ellipse 21"/>
            <p:cNvSpPr/>
            <p:nvPr/>
          </p:nvSpPr>
          <p:spPr>
            <a:xfrm>
              <a:off x="3581400" y="3562350"/>
              <a:ext cx="114300" cy="114300"/>
            </a:xfrm>
            <a:prstGeom prst="ellipse">
              <a:avLst/>
            </a:prstGeom>
            <a:solidFill>
              <a:srgbClr val="26A69A"/>
            </a:solidFill>
            <a:ln>
              <a:noFill/>
            </a:ln>
          </p:spPr>
        </p:sp>
        <p:sp>
          <p:nvSpPr>
            <p:cNvPr id="22" name="Line 22"/>
            <p:cNvSpPr/>
            <p:nvPr/>
          </p:nvSpPr>
          <p:spPr>
            <a:xfrm>
              <a:off x="3638550" y="3752850"/>
              <a:ext cx="9525" cy="914400"/>
            </a:xfrm>
            <a:custGeom>
              <a:avLst/>
              <a:gdLst/>
              <a:ahLst/>
              <a:cxnLst/>
              <a:rect l="l" t="t" r="r" b="b"/>
              <a:pathLst>
                <a:path w="9525" h="914400">
                  <a:moveTo>
                    <a:pt x="0" y="0"/>
                  </a:moveTo>
                  <a:lnTo>
                    <a:pt x="0" y="914400"/>
                  </a:lnTo>
                </a:path>
              </a:pathLst>
            </a:custGeom>
            <a:noFill/>
            <a:ln w="9525">
              <a:solidFill>
                <a:srgbClr val="26A69A"/>
              </a:solidFill>
              <a:custDash>
                <a:ds d="400000" sp="300000"/>
              </a:custDash>
            </a:ln>
          </p:spPr>
        </p:sp>
        <p:sp>
          <p:nvSpPr>
            <p:cNvPr id="23" name="Rectangle 23"/>
            <p:cNvSpPr/>
            <p:nvPr/>
          </p:nvSpPr>
          <p:spPr>
            <a:xfrm>
              <a:off x="2762250" y="4667250"/>
              <a:ext cx="1866900" cy="609600"/>
            </a:xfrm>
            <a:prstGeom prst="roundRect">
              <a:avLst>
                <a:gd name="adj" fmla="val 9375"/>
              </a:avLst>
            </a:prstGeom>
            <a:solidFill>
              <a:srgbClr val="161B22"/>
            </a:solidFill>
            <a:ln w="9525">
              <a:solidFill>
                <a:srgbClr val="263238"/>
              </a:solidFill>
            </a:ln>
          </p:spPr>
        </p:sp>
        <p:sp>
          <p:nvSpPr>
            <p:cNvPr id="24" name="TextBox 24"/>
            <p:cNvSpPr txBox="1"/>
            <p:nvPr/>
          </p:nvSpPr>
          <p:spPr>
            <a:xfrm>
              <a:off x="3359094" y="4717732"/>
              <a:ext cx="558912" cy="322707"/>
            </a:xfrm>
            <a:prstGeom prst="rect">
              <a:avLst/>
            </a:prstGeom>
            <a:noFill/>
            <a:ln>
              <a:noFill/>
            </a:ln>
          </p:spPr>
          <p:txBody>
            <a:bodyPr wrap="none" lIns="0" tIns="0" rIns="0" bIns="0" anchor="t" anchorCtr="0">
              <a:spAutoFit/>
            </a:bodyPr>
            <a:lstStyle/>
            <a:p>
              <a:pPr algn="ctr"/>
              <a:r>
                <a:rPr lang="en-US" sz="1650" b="1" dirty="0">
                  <a:solidFill>
                    <a:srgbClr val="26A69A"/>
                  </a:solidFill>
                  <a:latin typeface="Georgia"/>
                  <a:ea typeface="Georgia"/>
                  <a:cs typeface="Georgia"/>
                </a:rPr>
                <a:t>2018</a:t>
              </a:r>
            </a:p>
          </p:txBody>
        </p:sp>
        <p:sp>
          <p:nvSpPr>
            <p:cNvPr id="25" name="TextBox 25"/>
            <p:cNvSpPr txBox="1"/>
            <p:nvPr/>
          </p:nvSpPr>
          <p:spPr>
            <a:xfrm>
              <a:off x="2975828" y="4956810"/>
              <a:ext cx="1325445" cy="234696"/>
            </a:xfrm>
            <a:prstGeom prst="rect">
              <a:avLst/>
            </a:prstGeom>
            <a:noFill/>
            <a:ln>
              <a:noFill/>
            </a:ln>
          </p:spPr>
          <p:txBody>
            <a:bodyPr wrap="none" lIns="0" tIns="0" rIns="0" bIns="0" anchor="t" anchorCtr="0">
              <a:spAutoFit/>
            </a:bodyPr>
            <a:lstStyle/>
            <a:p>
              <a:pPr algn="ctr"/>
              <a:r>
                <a:rPr lang="en-US" sz="1200" dirty="0">
                  <a:solidFill>
                    <a:srgbClr val="90A4AE"/>
                  </a:solidFill>
                  <a:latin typeface="Arial"/>
                  <a:ea typeface="Arial"/>
                  <a:cs typeface="Arial"/>
                </a:rPr>
                <a:t>Apple Watch AFib</a:t>
              </a:r>
            </a:p>
          </p:txBody>
        </p:sp>
        <p:sp>
          <p:nvSpPr>
            <p:cNvPr id="26" name="TextBox 26"/>
            <p:cNvSpPr txBox="1"/>
            <p:nvPr/>
          </p:nvSpPr>
          <p:spPr>
            <a:xfrm>
              <a:off x="3176557" y="5128260"/>
              <a:ext cx="923986" cy="234696"/>
            </a:xfrm>
            <a:prstGeom prst="rect">
              <a:avLst/>
            </a:prstGeom>
            <a:noFill/>
            <a:ln>
              <a:noFill/>
            </a:ln>
          </p:spPr>
          <p:txBody>
            <a:bodyPr wrap="none" lIns="0" tIns="0" rIns="0" bIns="0" anchor="t" anchorCtr="0">
              <a:spAutoFit/>
            </a:bodyPr>
            <a:lstStyle/>
            <a:p>
              <a:pPr algn="ctr"/>
              <a:r>
                <a:rPr lang="en-US" sz="1200" dirty="0">
                  <a:solidFill>
                    <a:srgbClr val="546E7A"/>
                  </a:solidFill>
                  <a:latin typeface="Arial"/>
                  <a:ea typeface="Arial"/>
                  <a:cs typeface="Arial"/>
                </a:rPr>
                <a:t>FDA cleared</a:t>
              </a:r>
            </a:p>
          </p:txBody>
        </p:sp>
      </p:grpSp>
      <p:grpSp>
        <p:nvGrpSpPr>
          <p:cNvPr id="35" name="Group 35"/>
          <p:cNvGrpSpPr/>
          <p:nvPr/>
        </p:nvGrpSpPr>
        <p:grpSpPr>
          <a:xfrm>
            <a:off x="4819650" y="1695450"/>
            <a:ext cx="1866900" cy="2057400"/>
            <a:chOff x="4819650" y="1695450"/>
            <a:chExt cx="1866900" cy="2057400"/>
          </a:xfrm>
        </p:grpSpPr>
        <p:sp>
          <p:nvSpPr>
            <p:cNvPr id="28" name="Ellipse 28"/>
            <p:cNvSpPr/>
            <p:nvPr/>
          </p:nvSpPr>
          <p:spPr>
            <a:xfrm>
              <a:off x="5562600" y="3486150"/>
              <a:ext cx="266700" cy="266700"/>
            </a:xfrm>
            <a:prstGeom prst="ellipse">
              <a:avLst/>
            </a:prstGeom>
            <a:solidFill>
              <a:srgbClr val="0D1117"/>
            </a:solidFill>
            <a:ln w="19050">
              <a:solidFill>
                <a:srgbClr val="00796B"/>
              </a:solidFill>
            </a:ln>
          </p:spPr>
        </p:sp>
        <p:sp>
          <p:nvSpPr>
            <p:cNvPr id="29" name="Ellipse 29"/>
            <p:cNvSpPr/>
            <p:nvPr/>
          </p:nvSpPr>
          <p:spPr>
            <a:xfrm>
              <a:off x="5638800" y="3562350"/>
              <a:ext cx="114300" cy="114300"/>
            </a:xfrm>
            <a:prstGeom prst="ellipse">
              <a:avLst/>
            </a:prstGeom>
            <a:solidFill>
              <a:srgbClr val="00796B"/>
            </a:solidFill>
            <a:ln>
              <a:noFill/>
            </a:ln>
          </p:spPr>
        </p:sp>
        <p:sp>
          <p:nvSpPr>
            <p:cNvPr id="30" name="Line 30"/>
            <p:cNvSpPr/>
            <p:nvPr/>
          </p:nvSpPr>
          <p:spPr>
            <a:xfrm>
              <a:off x="5695950" y="2286000"/>
              <a:ext cx="9525" cy="1200150"/>
            </a:xfrm>
            <a:custGeom>
              <a:avLst/>
              <a:gdLst/>
              <a:ahLst/>
              <a:cxnLst/>
              <a:rect l="l" t="t" r="r" b="b"/>
              <a:pathLst>
                <a:path w="9525" h="1200150">
                  <a:moveTo>
                    <a:pt x="0" y="1200150"/>
                  </a:moveTo>
                  <a:lnTo>
                    <a:pt x="0" y="0"/>
                  </a:lnTo>
                </a:path>
              </a:pathLst>
            </a:custGeom>
            <a:noFill/>
            <a:ln w="9525">
              <a:solidFill>
                <a:srgbClr val="00796B"/>
              </a:solidFill>
              <a:custDash>
                <a:ds d="400000" sp="300000"/>
              </a:custDash>
            </a:ln>
          </p:spPr>
        </p:sp>
        <p:sp>
          <p:nvSpPr>
            <p:cNvPr id="31" name="Rectangle 31"/>
            <p:cNvSpPr/>
            <p:nvPr/>
          </p:nvSpPr>
          <p:spPr>
            <a:xfrm>
              <a:off x="4819650" y="1695450"/>
              <a:ext cx="1866900" cy="609600"/>
            </a:xfrm>
            <a:prstGeom prst="roundRect">
              <a:avLst>
                <a:gd name="adj" fmla="val 9375"/>
              </a:avLst>
            </a:prstGeom>
            <a:solidFill>
              <a:srgbClr val="161B22"/>
            </a:solidFill>
            <a:ln w="9525">
              <a:solidFill>
                <a:srgbClr val="263238"/>
              </a:solidFill>
            </a:ln>
          </p:spPr>
        </p:sp>
        <p:sp>
          <p:nvSpPr>
            <p:cNvPr id="32" name="TextBox 32"/>
            <p:cNvSpPr txBox="1"/>
            <p:nvPr/>
          </p:nvSpPr>
          <p:spPr>
            <a:xfrm>
              <a:off x="5416494" y="1745932"/>
              <a:ext cx="558912" cy="322707"/>
            </a:xfrm>
            <a:prstGeom prst="rect">
              <a:avLst/>
            </a:prstGeom>
            <a:noFill/>
            <a:ln>
              <a:noFill/>
            </a:ln>
          </p:spPr>
          <p:txBody>
            <a:bodyPr wrap="none" lIns="0" tIns="0" rIns="0" bIns="0" anchor="t" anchorCtr="0">
              <a:spAutoFit/>
            </a:bodyPr>
            <a:lstStyle/>
            <a:p>
              <a:pPr algn="ctr"/>
              <a:r>
                <a:rPr lang="en-US" sz="1650" b="1" dirty="0">
                  <a:solidFill>
                    <a:srgbClr val="00796B"/>
                  </a:solidFill>
                  <a:latin typeface="Georgia"/>
                  <a:ea typeface="Georgia"/>
                  <a:cs typeface="Georgia"/>
                </a:rPr>
                <a:t>2019</a:t>
              </a:r>
            </a:p>
          </p:txBody>
        </p:sp>
        <p:sp>
          <p:nvSpPr>
            <p:cNvPr id="33" name="TextBox 33"/>
            <p:cNvSpPr txBox="1"/>
            <p:nvPr/>
          </p:nvSpPr>
          <p:spPr>
            <a:xfrm>
              <a:off x="5070163" y="1985010"/>
              <a:ext cx="1251574" cy="234696"/>
            </a:xfrm>
            <a:prstGeom prst="rect">
              <a:avLst/>
            </a:prstGeom>
            <a:noFill/>
            <a:ln>
              <a:noFill/>
            </a:ln>
          </p:spPr>
          <p:txBody>
            <a:bodyPr wrap="none" lIns="0" tIns="0" rIns="0" bIns="0" anchor="t" anchorCtr="0">
              <a:spAutoFit/>
            </a:bodyPr>
            <a:lstStyle/>
            <a:p>
              <a:pPr algn="ctr"/>
              <a:r>
                <a:rPr lang="en-US" sz="1200" dirty="0">
                  <a:solidFill>
                    <a:srgbClr val="90A4AE"/>
                  </a:solidFill>
                  <a:latin typeface="Arial"/>
                  <a:ea typeface="Arial"/>
                  <a:cs typeface="Arial"/>
                </a:rPr>
                <a:t>Google Health AI</a:t>
              </a:r>
            </a:p>
          </p:txBody>
        </p:sp>
        <p:sp>
          <p:nvSpPr>
            <p:cNvPr id="34" name="TextBox 34"/>
            <p:cNvSpPr txBox="1"/>
            <p:nvPr/>
          </p:nvSpPr>
          <p:spPr>
            <a:xfrm>
              <a:off x="4970983" y="2156460"/>
              <a:ext cx="1449934" cy="234696"/>
            </a:xfrm>
            <a:prstGeom prst="rect">
              <a:avLst/>
            </a:prstGeom>
            <a:noFill/>
            <a:ln>
              <a:noFill/>
            </a:ln>
          </p:spPr>
          <p:txBody>
            <a:bodyPr wrap="none" lIns="0" tIns="0" rIns="0" bIns="0" anchor="t" anchorCtr="0">
              <a:spAutoFit/>
            </a:bodyPr>
            <a:lstStyle/>
            <a:p>
              <a:pPr algn="ctr"/>
              <a:r>
                <a:rPr lang="en-US" sz="1200" dirty="0">
                  <a:solidFill>
                    <a:srgbClr val="546E7A"/>
                  </a:solidFill>
                  <a:latin typeface="Arial"/>
                  <a:ea typeface="Arial"/>
                  <a:cs typeface="Arial"/>
                </a:rPr>
                <a:t>beats radiologists</a:t>
              </a:r>
            </a:p>
          </p:txBody>
        </p:sp>
      </p:grpSp>
      <p:grpSp>
        <p:nvGrpSpPr>
          <p:cNvPr id="44" name="Group 44"/>
          <p:cNvGrpSpPr/>
          <p:nvPr/>
        </p:nvGrpSpPr>
        <p:grpSpPr>
          <a:xfrm>
            <a:off x="6838950" y="3486150"/>
            <a:ext cx="1905000" cy="1977961"/>
            <a:chOff x="6838950" y="3486150"/>
            <a:chExt cx="1905000" cy="1977961"/>
          </a:xfrm>
        </p:grpSpPr>
        <p:sp>
          <p:nvSpPr>
            <p:cNvPr id="36" name="Ellipse 36"/>
            <p:cNvSpPr/>
            <p:nvPr/>
          </p:nvSpPr>
          <p:spPr>
            <a:xfrm>
              <a:off x="7620000" y="3486150"/>
              <a:ext cx="266700" cy="266700"/>
            </a:xfrm>
            <a:prstGeom prst="ellipse">
              <a:avLst/>
            </a:prstGeom>
            <a:solidFill>
              <a:srgbClr val="0D1117"/>
            </a:solidFill>
            <a:ln w="19050">
              <a:solidFill>
                <a:srgbClr val="00E5FF"/>
              </a:solidFill>
            </a:ln>
          </p:spPr>
        </p:sp>
        <p:sp>
          <p:nvSpPr>
            <p:cNvPr id="37" name="Ellipse 37"/>
            <p:cNvSpPr/>
            <p:nvPr/>
          </p:nvSpPr>
          <p:spPr>
            <a:xfrm>
              <a:off x="7696200" y="3562350"/>
              <a:ext cx="114300" cy="114300"/>
            </a:xfrm>
            <a:prstGeom prst="ellipse">
              <a:avLst/>
            </a:prstGeom>
            <a:solidFill>
              <a:srgbClr val="00E5FF"/>
            </a:solidFill>
            <a:ln>
              <a:noFill/>
            </a:ln>
          </p:spPr>
        </p:sp>
        <p:sp>
          <p:nvSpPr>
            <p:cNvPr id="38" name="Line 38"/>
            <p:cNvSpPr/>
            <p:nvPr/>
          </p:nvSpPr>
          <p:spPr>
            <a:xfrm>
              <a:off x="7753350" y="3752850"/>
              <a:ext cx="9525" cy="914400"/>
            </a:xfrm>
            <a:custGeom>
              <a:avLst/>
              <a:gdLst/>
              <a:ahLst/>
              <a:cxnLst/>
              <a:rect l="l" t="t" r="r" b="b"/>
              <a:pathLst>
                <a:path w="9525" h="914400">
                  <a:moveTo>
                    <a:pt x="0" y="0"/>
                  </a:moveTo>
                  <a:lnTo>
                    <a:pt x="0" y="914400"/>
                  </a:lnTo>
                </a:path>
              </a:pathLst>
            </a:custGeom>
            <a:noFill/>
            <a:ln w="9525">
              <a:solidFill>
                <a:srgbClr val="00E5FF"/>
              </a:solidFill>
              <a:custDash>
                <a:ds d="400000" sp="300000"/>
              </a:custDash>
            </a:ln>
          </p:spPr>
        </p:sp>
        <p:sp>
          <p:nvSpPr>
            <p:cNvPr id="39" name="Rectangle 39"/>
            <p:cNvSpPr/>
            <p:nvPr/>
          </p:nvSpPr>
          <p:spPr>
            <a:xfrm>
              <a:off x="6838950" y="4667250"/>
              <a:ext cx="1905000" cy="723900"/>
            </a:xfrm>
            <a:prstGeom prst="roundRect">
              <a:avLst>
                <a:gd name="adj" fmla="val 7895"/>
              </a:avLst>
            </a:prstGeom>
            <a:solidFill>
              <a:srgbClr val="161B22"/>
            </a:solidFill>
            <a:ln w="9525">
              <a:solidFill>
                <a:srgbClr val="00E5FF">
                  <a:alpha val="30000"/>
                </a:srgbClr>
              </a:solidFill>
            </a:ln>
          </p:spPr>
        </p:sp>
        <p:sp>
          <p:nvSpPr>
            <p:cNvPr id="40" name="TextBox 40"/>
            <p:cNvSpPr txBox="1"/>
            <p:nvPr/>
          </p:nvSpPr>
          <p:spPr>
            <a:xfrm>
              <a:off x="7473894" y="4717732"/>
              <a:ext cx="558912" cy="322707"/>
            </a:xfrm>
            <a:prstGeom prst="rect">
              <a:avLst/>
            </a:prstGeom>
            <a:noFill/>
            <a:ln>
              <a:noFill/>
            </a:ln>
          </p:spPr>
          <p:txBody>
            <a:bodyPr wrap="none" lIns="0" tIns="0" rIns="0" bIns="0" anchor="t" anchorCtr="0">
              <a:spAutoFit/>
            </a:bodyPr>
            <a:lstStyle/>
            <a:p>
              <a:pPr algn="ctr"/>
              <a:r>
                <a:rPr lang="en-US" sz="1650" b="1" dirty="0">
                  <a:solidFill>
                    <a:srgbClr val="00E5FF"/>
                  </a:solidFill>
                  <a:latin typeface="Georgia"/>
                  <a:ea typeface="Georgia"/>
                  <a:cs typeface="Georgia"/>
                </a:rPr>
                <a:t>2020</a:t>
              </a:r>
            </a:p>
          </p:txBody>
        </p:sp>
        <p:sp>
          <p:nvSpPr>
            <p:cNvPr id="41" name="TextBox 41"/>
            <p:cNvSpPr txBox="1"/>
            <p:nvPr/>
          </p:nvSpPr>
          <p:spPr>
            <a:xfrm>
              <a:off x="7043303" y="4956810"/>
              <a:ext cx="1420094" cy="234696"/>
            </a:xfrm>
            <a:prstGeom prst="rect">
              <a:avLst/>
            </a:prstGeom>
            <a:noFill/>
            <a:ln>
              <a:noFill/>
            </a:ln>
          </p:spPr>
          <p:txBody>
            <a:bodyPr wrap="none" lIns="0" tIns="0" rIns="0" bIns="0" anchor="t" anchorCtr="0">
              <a:spAutoFit/>
            </a:bodyPr>
            <a:lstStyle/>
            <a:p>
              <a:pPr algn="ctr"/>
              <a:r>
                <a:rPr lang="en-US" sz="1200" dirty="0">
                  <a:solidFill>
                    <a:srgbClr val="E8F5E9"/>
                  </a:solidFill>
                  <a:latin typeface="Arial"/>
                  <a:ea typeface="Arial"/>
                  <a:cs typeface="Arial"/>
                </a:rPr>
                <a:t>AlphaFold 2 solves</a:t>
              </a:r>
            </a:p>
          </p:txBody>
        </p:sp>
        <p:sp>
          <p:nvSpPr>
            <p:cNvPr id="42" name="TextBox 42"/>
            <p:cNvSpPr txBox="1"/>
            <p:nvPr/>
          </p:nvSpPr>
          <p:spPr>
            <a:xfrm>
              <a:off x="7161657" y="5128260"/>
              <a:ext cx="1183386" cy="234696"/>
            </a:xfrm>
            <a:prstGeom prst="rect">
              <a:avLst/>
            </a:prstGeom>
            <a:noFill/>
            <a:ln>
              <a:noFill/>
            </a:ln>
          </p:spPr>
          <p:txBody>
            <a:bodyPr wrap="none" lIns="0" tIns="0" rIns="0" bIns="0" anchor="t" anchorCtr="0">
              <a:spAutoFit/>
            </a:bodyPr>
            <a:lstStyle/>
            <a:p>
              <a:pPr algn="ctr"/>
              <a:r>
                <a:rPr lang="en-US" sz="1200" dirty="0">
                  <a:solidFill>
                    <a:srgbClr val="90A4AE"/>
                  </a:solidFill>
                  <a:latin typeface="Arial"/>
                  <a:ea typeface="Arial"/>
                  <a:cs typeface="Arial"/>
                </a:rPr>
                <a:t>protein folding</a:t>
              </a:r>
            </a:p>
          </p:txBody>
        </p:sp>
        <p:sp>
          <p:nvSpPr>
            <p:cNvPr id="43" name="TextBox 43"/>
            <p:cNvSpPr txBox="1"/>
            <p:nvPr/>
          </p:nvSpPr>
          <p:spPr>
            <a:xfrm>
              <a:off x="6954637" y="5258752"/>
              <a:ext cx="1597426" cy="205359"/>
            </a:xfrm>
            <a:prstGeom prst="rect">
              <a:avLst/>
            </a:prstGeom>
            <a:noFill/>
            <a:ln>
              <a:noFill/>
            </a:ln>
          </p:spPr>
          <p:txBody>
            <a:bodyPr wrap="none" lIns="0" tIns="0" rIns="0" bIns="0" anchor="t" anchorCtr="0">
              <a:spAutoFit/>
            </a:bodyPr>
            <a:lstStyle/>
            <a:p>
              <a:pPr algn="ctr"/>
              <a:r>
                <a:rPr lang="en-US" sz="1050" dirty="0">
                  <a:solidFill>
                    <a:srgbClr val="546E7A"/>
                  </a:solidFill>
                  <a:latin typeface="Arial"/>
                  <a:ea typeface="Arial"/>
                  <a:cs typeface="Arial"/>
                </a:rPr>
                <a:t>DSP-1181 enters trials</a:t>
              </a:r>
            </a:p>
          </p:txBody>
        </p:sp>
      </p:grpSp>
      <p:grpSp>
        <p:nvGrpSpPr>
          <p:cNvPr id="52" name="Group 52"/>
          <p:cNvGrpSpPr/>
          <p:nvPr/>
        </p:nvGrpSpPr>
        <p:grpSpPr>
          <a:xfrm>
            <a:off x="8572500" y="1428750"/>
            <a:ext cx="2000250" cy="2343150"/>
            <a:chOff x="8572500" y="1428750"/>
            <a:chExt cx="2000250" cy="2343150"/>
          </a:xfrm>
        </p:grpSpPr>
        <p:sp>
          <p:nvSpPr>
            <p:cNvPr id="45" name="Ellipse 45"/>
            <p:cNvSpPr/>
            <p:nvPr/>
          </p:nvSpPr>
          <p:spPr>
            <a:xfrm>
              <a:off x="9372600" y="3467100"/>
              <a:ext cx="304800" cy="304800"/>
            </a:xfrm>
            <a:prstGeom prst="ellipse">
              <a:avLst/>
            </a:prstGeom>
            <a:solidFill>
              <a:srgbClr val="0D1117"/>
            </a:solidFill>
            <a:ln w="28575">
              <a:solidFill>
                <a:srgbClr val="4CAF50"/>
              </a:solidFill>
            </a:ln>
          </p:spPr>
        </p:sp>
        <p:sp>
          <p:nvSpPr>
            <p:cNvPr id="46" name="Ellipse 46"/>
            <p:cNvSpPr/>
            <p:nvPr/>
          </p:nvSpPr>
          <p:spPr>
            <a:xfrm>
              <a:off x="9458325" y="3552825"/>
              <a:ext cx="133350" cy="133350"/>
            </a:xfrm>
            <a:prstGeom prst="ellipse">
              <a:avLst/>
            </a:prstGeom>
            <a:solidFill>
              <a:srgbClr val="4CAF50"/>
            </a:solidFill>
            <a:ln>
              <a:noFill/>
            </a:ln>
          </p:spPr>
        </p:sp>
        <p:sp>
          <p:nvSpPr>
            <p:cNvPr id="47" name="Line 47"/>
            <p:cNvSpPr/>
            <p:nvPr/>
          </p:nvSpPr>
          <p:spPr>
            <a:xfrm>
              <a:off x="9525000" y="2000250"/>
              <a:ext cx="9525" cy="1466850"/>
            </a:xfrm>
            <a:custGeom>
              <a:avLst/>
              <a:gdLst/>
              <a:ahLst/>
              <a:cxnLst/>
              <a:rect l="l" t="t" r="r" b="b"/>
              <a:pathLst>
                <a:path w="9525" h="1466850">
                  <a:moveTo>
                    <a:pt x="0" y="1466850"/>
                  </a:moveTo>
                  <a:lnTo>
                    <a:pt x="0" y="0"/>
                  </a:lnTo>
                </a:path>
              </a:pathLst>
            </a:custGeom>
            <a:noFill/>
            <a:ln w="9525">
              <a:solidFill>
                <a:srgbClr val="4CAF50"/>
              </a:solidFill>
              <a:custDash>
                <a:ds d="400000" sp="300000"/>
              </a:custDash>
            </a:ln>
          </p:spPr>
        </p:sp>
        <p:sp>
          <p:nvSpPr>
            <p:cNvPr id="48" name="Rectangle 48"/>
            <p:cNvSpPr/>
            <p:nvPr/>
          </p:nvSpPr>
          <p:spPr>
            <a:xfrm>
              <a:off x="8572500" y="1428750"/>
              <a:ext cx="2000250" cy="590550"/>
            </a:xfrm>
            <a:prstGeom prst="roundRect">
              <a:avLst>
                <a:gd name="adj" fmla="val 9677"/>
              </a:avLst>
            </a:prstGeom>
            <a:solidFill>
              <a:srgbClr val="161B22"/>
            </a:solidFill>
            <a:ln w="9525">
              <a:solidFill>
                <a:srgbClr val="4CAF50">
                  <a:alpha val="50000"/>
                </a:srgbClr>
              </a:solidFill>
            </a:ln>
          </p:spPr>
        </p:sp>
        <p:sp>
          <p:nvSpPr>
            <p:cNvPr id="49" name="TextBox 49"/>
            <p:cNvSpPr txBox="1"/>
            <p:nvPr/>
          </p:nvSpPr>
          <p:spPr>
            <a:xfrm>
              <a:off x="9245544" y="1479232"/>
              <a:ext cx="558912" cy="322707"/>
            </a:xfrm>
            <a:prstGeom prst="rect">
              <a:avLst/>
            </a:prstGeom>
            <a:noFill/>
            <a:ln>
              <a:noFill/>
            </a:ln>
          </p:spPr>
          <p:txBody>
            <a:bodyPr wrap="none" lIns="0" tIns="0" rIns="0" bIns="0" anchor="t" anchorCtr="0">
              <a:spAutoFit/>
            </a:bodyPr>
            <a:lstStyle/>
            <a:p>
              <a:pPr algn="ctr"/>
              <a:r>
                <a:rPr lang="en-US" sz="1650" b="1" dirty="0">
                  <a:solidFill>
                    <a:srgbClr val="4CAF50"/>
                  </a:solidFill>
                  <a:latin typeface="Georgia"/>
                  <a:ea typeface="Georgia"/>
                  <a:cs typeface="Georgia"/>
                </a:rPr>
                <a:t>2021</a:t>
              </a:r>
            </a:p>
          </p:txBody>
        </p:sp>
        <p:sp>
          <p:nvSpPr>
            <p:cNvPr id="50" name="TextBox 50"/>
            <p:cNvSpPr txBox="1"/>
            <p:nvPr/>
          </p:nvSpPr>
          <p:spPr>
            <a:xfrm>
              <a:off x="8770186" y="1718310"/>
              <a:ext cx="1509628" cy="234696"/>
            </a:xfrm>
            <a:prstGeom prst="rect">
              <a:avLst/>
            </a:prstGeom>
            <a:noFill/>
            <a:ln>
              <a:noFill/>
            </a:ln>
          </p:spPr>
          <p:txBody>
            <a:bodyPr wrap="none" lIns="0" tIns="0" rIns="0" bIns="0" anchor="t" anchorCtr="0">
              <a:spAutoFit/>
            </a:bodyPr>
            <a:lstStyle/>
            <a:p>
              <a:pPr algn="ctr"/>
              <a:r>
                <a:rPr lang="en-US" sz="1200" dirty="0">
                  <a:solidFill>
                    <a:srgbClr val="E8F5E9"/>
                  </a:solidFill>
                  <a:latin typeface="Arial"/>
                  <a:ea typeface="Arial"/>
                  <a:cs typeface="Arial"/>
                </a:rPr>
                <a:t>521 FDA clearances</a:t>
              </a:r>
            </a:p>
          </p:txBody>
        </p:sp>
        <p:sp>
          <p:nvSpPr>
            <p:cNvPr id="51" name="TextBox 51"/>
            <p:cNvSpPr txBox="1"/>
            <p:nvPr/>
          </p:nvSpPr>
          <p:spPr>
            <a:xfrm>
              <a:off x="8750327" y="1870710"/>
              <a:ext cx="1549346" cy="234696"/>
            </a:xfrm>
            <a:prstGeom prst="rect">
              <a:avLst/>
            </a:prstGeom>
            <a:noFill/>
            <a:ln>
              <a:noFill/>
            </a:ln>
          </p:spPr>
          <p:txBody>
            <a:bodyPr wrap="none" lIns="0" tIns="0" rIns="0" bIns="0" anchor="t" anchorCtr="0">
              <a:spAutoFit/>
            </a:bodyPr>
            <a:lstStyle/>
            <a:p>
              <a:pPr algn="ctr"/>
              <a:r>
                <a:rPr lang="en-US" sz="1200" dirty="0">
                  <a:solidFill>
                    <a:srgbClr val="546E7A"/>
                  </a:solidFill>
                  <a:latin typeface="Arial"/>
                  <a:ea typeface="Arial"/>
                  <a:cs typeface="Arial"/>
                </a:rPr>
                <a:t>WHO AI ethics guide</a:t>
              </a:r>
            </a:p>
          </p:txBody>
        </p:sp>
      </p:grpSp>
      <p:grpSp>
        <p:nvGrpSpPr>
          <p:cNvPr id="61" name="Group 61"/>
          <p:cNvGrpSpPr/>
          <p:nvPr/>
        </p:nvGrpSpPr>
        <p:grpSpPr>
          <a:xfrm>
            <a:off x="10096500" y="3467100"/>
            <a:ext cx="2095500" cy="2016061"/>
            <a:chOff x="10096500" y="3467100"/>
            <a:chExt cx="2095500" cy="2016061"/>
          </a:xfrm>
        </p:grpSpPr>
        <p:sp>
          <p:nvSpPr>
            <p:cNvPr id="53" name="Ellipse 53"/>
            <p:cNvSpPr/>
            <p:nvPr/>
          </p:nvSpPr>
          <p:spPr>
            <a:xfrm>
              <a:off x="10972800" y="3467100"/>
              <a:ext cx="304800" cy="304800"/>
            </a:xfrm>
            <a:prstGeom prst="ellipse">
              <a:avLst/>
            </a:prstGeom>
            <a:solidFill>
              <a:srgbClr val="0D1117"/>
            </a:solidFill>
            <a:ln w="28575">
              <a:solidFill>
                <a:srgbClr val="F59E0B"/>
              </a:solidFill>
            </a:ln>
          </p:spPr>
        </p:sp>
        <p:sp>
          <p:nvSpPr>
            <p:cNvPr id="54" name="Ellipse 54"/>
            <p:cNvSpPr/>
            <p:nvPr/>
          </p:nvSpPr>
          <p:spPr>
            <a:xfrm>
              <a:off x="11058525" y="3552825"/>
              <a:ext cx="133350" cy="133350"/>
            </a:xfrm>
            <a:prstGeom prst="ellipse">
              <a:avLst/>
            </a:prstGeom>
            <a:solidFill>
              <a:srgbClr val="F59E0B"/>
            </a:solidFill>
            <a:ln>
              <a:noFill/>
            </a:ln>
          </p:spPr>
        </p:sp>
        <p:sp>
          <p:nvSpPr>
            <p:cNvPr id="55" name="Line 55"/>
            <p:cNvSpPr/>
            <p:nvPr/>
          </p:nvSpPr>
          <p:spPr>
            <a:xfrm>
              <a:off x="11125200" y="3771900"/>
              <a:ext cx="9525" cy="895350"/>
            </a:xfrm>
            <a:custGeom>
              <a:avLst/>
              <a:gdLst/>
              <a:ahLst/>
              <a:cxnLst/>
              <a:rect l="l" t="t" r="r" b="b"/>
              <a:pathLst>
                <a:path w="9525" h="895350">
                  <a:moveTo>
                    <a:pt x="0" y="0"/>
                  </a:moveTo>
                  <a:lnTo>
                    <a:pt x="0" y="895350"/>
                  </a:lnTo>
                </a:path>
              </a:pathLst>
            </a:custGeom>
            <a:noFill/>
            <a:ln w="9525">
              <a:solidFill>
                <a:srgbClr val="F59E0B"/>
              </a:solidFill>
              <a:custDash>
                <a:ds d="400000" sp="300000"/>
              </a:custDash>
            </a:ln>
          </p:spPr>
        </p:sp>
        <p:sp>
          <p:nvSpPr>
            <p:cNvPr id="56" name="Rectangle 56"/>
            <p:cNvSpPr/>
            <p:nvPr/>
          </p:nvSpPr>
          <p:spPr>
            <a:xfrm>
              <a:off x="10096500" y="4667250"/>
              <a:ext cx="2095500" cy="723900"/>
            </a:xfrm>
            <a:prstGeom prst="roundRect">
              <a:avLst>
                <a:gd name="adj" fmla="val 7895"/>
              </a:avLst>
            </a:prstGeom>
            <a:solidFill>
              <a:srgbClr val="161B22"/>
            </a:solidFill>
            <a:ln w="9525">
              <a:solidFill>
                <a:srgbClr val="F59E0B">
                  <a:alpha val="50000"/>
                </a:srgbClr>
              </a:solidFill>
            </a:ln>
          </p:spPr>
        </p:sp>
        <p:sp>
          <p:nvSpPr>
            <p:cNvPr id="57" name="TextBox 57"/>
            <p:cNvSpPr txBox="1"/>
            <p:nvPr/>
          </p:nvSpPr>
          <p:spPr>
            <a:xfrm>
              <a:off x="10642439" y="4717732"/>
              <a:ext cx="965523" cy="322707"/>
            </a:xfrm>
            <a:prstGeom prst="rect">
              <a:avLst/>
            </a:prstGeom>
            <a:noFill/>
            <a:ln>
              <a:noFill/>
            </a:ln>
          </p:spPr>
          <p:txBody>
            <a:bodyPr wrap="none" lIns="0" tIns="0" rIns="0" bIns="0" anchor="t" anchorCtr="0">
              <a:spAutoFit/>
            </a:bodyPr>
            <a:lstStyle/>
            <a:p>
              <a:pPr algn="ctr"/>
              <a:r>
                <a:rPr lang="en-US" sz="1650" b="1" dirty="0">
                  <a:solidFill>
                    <a:srgbClr val="F59E0B"/>
                  </a:solidFill>
                  <a:latin typeface="Georgia"/>
                  <a:ea typeface="Georgia"/>
                  <a:cs typeface="Georgia"/>
                </a:rPr>
                <a:t>2023-24</a:t>
              </a:r>
            </a:p>
          </p:txBody>
        </p:sp>
        <p:sp>
          <p:nvSpPr>
            <p:cNvPr id="58" name="TextBox 58"/>
            <p:cNvSpPr txBox="1"/>
            <p:nvPr/>
          </p:nvSpPr>
          <p:spPr>
            <a:xfrm>
              <a:off x="10324147" y="4956810"/>
              <a:ext cx="1602105" cy="234696"/>
            </a:xfrm>
            <a:prstGeom prst="rect">
              <a:avLst/>
            </a:prstGeom>
            <a:noFill/>
            <a:ln>
              <a:noFill/>
            </a:ln>
          </p:spPr>
          <p:txBody>
            <a:bodyPr wrap="none" lIns="0" tIns="0" rIns="0" bIns="0" anchor="t" anchorCtr="0">
              <a:spAutoFit/>
            </a:bodyPr>
            <a:lstStyle/>
            <a:p>
              <a:pPr algn="ctr"/>
              <a:r>
                <a:rPr lang="en-US" sz="1200" dirty="0">
                  <a:solidFill>
                    <a:srgbClr val="E8F5E9"/>
                  </a:solidFill>
                  <a:latin typeface="Arial"/>
                  <a:ea typeface="Arial"/>
                  <a:cs typeface="Arial"/>
                </a:rPr>
                <a:t>LLMs in clinical docs</a:t>
              </a:r>
            </a:p>
          </p:txBody>
        </p:sp>
        <p:sp>
          <p:nvSpPr>
            <p:cNvPr id="59" name="TextBox 59"/>
            <p:cNvSpPr txBox="1"/>
            <p:nvPr/>
          </p:nvSpPr>
          <p:spPr>
            <a:xfrm>
              <a:off x="10318612" y="5147310"/>
              <a:ext cx="1613176" cy="234696"/>
            </a:xfrm>
            <a:prstGeom prst="rect">
              <a:avLst/>
            </a:prstGeom>
            <a:noFill/>
            <a:ln>
              <a:noFill/>
            </a:ln>
          </p:spPr>
          <p:txBody>
            <a:bodyPr wrap="none" lIns="0" tIns="0" rIns="0" bIns="0" anchor="t" anchorCtr="0">
              <a:spAutoFit/>
            </a:bodyPr>
            <a:lstStyle/>
            <a:p>
              <a:pPr algn="ctr"/>
              <a:r>
                <a:rPr lang="en-US" sz="1200" dirty="0">
                  <a:solidFill>
                    <a:srgbClr val="90A4AE"/>
                  </a:solidFill>
                  <a:latin typeface="Arial"/>
                  <a:ea typeface="Arial"/>
                  <a:cs typeface="Arial"/>
                </a:rPr>
                <a:t>GPT-4 passes USMLE</a:t>
              </a:r>
            </a:p>
          </p:txBody>
        </p:sp>
        <p:sp>
          <p:nvSpPr>
            <p:cNvPr id="60" name="TextBox 60"/>
            <p:cNvSpPr txBox="1"/>
            <p:nvPr/>
          </p:nvSpPr>
          <p:spPr>
            <a:xfrm>
              <a:off x="10490854" y="5277802"/>
              <a:ext cx="1268692" cy="205359"/>
            </a:xfrm>
            <a:prstGeom prst="rect">
              <a:avLst/>
            </a:prstGeom>
            <a:noFill/>
            <a:ln>
              <a:noFill/>
            </a:ln>
          </p:spPr>
          <p:txBody>
            <a:bodyPr wrap="none" lIns="0" tIns="0" rIns="0" bIns="0" anchor="t" anchorCtr="0">
              <a:spAutoFit/>
            </a:bodyPr>
            <a:lstStyle/>
            <a:p>
              <a:pPr algn="ctr"/>
              <a:r>
                <a:rPr lang="en-US" sz="1050" dirty="0">
                  <a:solidFill>
                    <a:srgbClr val="546E7A"/>
                  </a:solidFill>
                  <a:latin typeface="Arial"/>
                  <a:ea typeface="Arial"/>
                  <a:cs typeface="Arial"/>
                </a:rPr>
                <a:t>at 90th percentile</a:t>
              </a:r>
            </a:p>
          </p:txBody>
        </p:sp>
      </p:grpSp>
      <p:sp>
        <p:nvSpPr>
          <p:cNvPr id="62" name="TextBox 62"/>
          <p:cNvSpPr txBox="1"/>
          <p:nvPr/>
        </p:nvSpPr>
        <p:spPr>
          <a:xfrm>
            <a:off x="2021026" y="6108382"/>
            <a:ext cx="8149948" cy="322707"/>
          </a:xfrm>
          <a:prstGeom prst="rect">
            <a:avLst/>
          </a:prstGeom>
          <a:noFill/>
          <a:ln>
            <a:noFill/>
          </a:ln>
        </p:spPr>
        <p:txBody>
          <a:bodyPr wrap="none" lIns="0" tIns="0" rIns="0" bIns="0" anchor="t" anchorCtr="0">
            <a:spAutoFit/>
          </a:bodyPr>
          <a:lstStyle/>
          <a:p>
            <a:pPr algn="ctr"/>
            <a:r>
              <a:rPr lang="en-US" sz="1650" dirty="0">
                <a:solidFill>
                  <a:srgbClr val="90A4AE"/>
                </a:solidFill>
                <a:latin typeface="Arial"/>
                <a:ea typeface="Arial"/>
                <a:cs typeface="Arial"/>
              </a:rPr>
              <a:t>AI adoption in healthcare is accelerating — each milestone built on the last.</a:t>
            </a:r>
          </a:p>
        </p:txBody>
      </p:sp>
      <p:grpSp>
        <p:nvGrpSpPr>
          <p:cNvPr id="66" name="Group 66"/>
          <p:cNvGrpSpPr/>
          <p:nvPr/>
        </p:nvGrpSpPr>
        <p:grpSpPr>
          <a:xfrm>
            <a:off x="603504" y="6534150"/>
            <a:ext cx="10984992" cy="276606"/>
            <a:chOff x="603504" y="6534150"/>
            <a:chExt cx="10984992" cy="276606"/>
          </a:xfrm>
        </p:grpSpPr>
        <p:sp>
          <p:nvSpPr>
            <p:cNvPr id="63" name="Line 63"/>
            <p:cNvSpPr/>
            <p:nvPr/>
          </p:nvSpPr>
          <p:spPr>
            <a:xfrm>
              <a:off x="609600" y="653415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64" name="TextBox 64"/>
            <p:cNvSpPr txBox="1"/>
            <p:nvPr/>
          </p:nvSpPr>
          <p:spPr>
            <a:xfrm>
              <a:off x="603504" y="657606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65" name="TextBox 65"/>
            <p:cNvSpPr txBox="1"/>
            <p:nvPr/>
          </p:nvSpPr>
          <p:spPr>
            <a:xfrm>
              <a:off x="11035132" y="657606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10 / 14</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grpSp>
      <p:grpSp>
        <p:nvGrpSpPr>
          <p:cNvPr id="9" name="Group 9"/>
          <p:cNvGrpSpPr/>
          <p:nvPr/>
        </p:nvGrpSpPr>
        <p:grpSpPr>
          <a:xfrm>
            <a:off x="609600" y="100965"/>
            <a:ext cx="10972800" cy="822960"/>
            <a:chOff x="609600" y="100965"/>
            <a:chExt cx="10972800" cy="822960"/>
          </a:xfrm>
        </p:grpSpPr>
        <p:sp>
          <p:nvSpPr>
            <p:cNvPr id="5" name="Rectangle 5"/>
            <p:cNvSpPr/>
            <p:nvPr/>
          </p:nvSpPr>
          <p:spPr>
            <a:xfrm>
              <a:off x="609600" y="171450"/>
              <a:ext cx="38100" cy="533400"/>
            </a:xfrm>
            <a:prstGeom prst="roundRect">
              <a:avLst>
                <a:gd name="adj" fmla="val 50000"/>
              </a:avLst>
            </a:prstGeom>
            <a:solidFill>
              <a:srgbClr val="FF5252"/>
            </a:solidFill>
            <a:ln>
              <a:noFill/>
            </a:ln>
          </p:spPr>
        </p:sp>
        <p:sp>
          <p:nvSpPr>
            <p:cNvPr id="6" name="TextBox 6"/>
            <p:cNvSpPr txBox="1"/>
            <p:nvPr/>
          </p:nvSpPr>
          <p:spPr>
            <a:xfrm>
              <a:off x="783336" y="100965"/>
              <a:ext cx="9116578" cy="645414"/>
            </a:xfrm>
            <a:prstGeom prst="rect">
              <a:avLst/>
            </a:prstGeom>
            <a:noFill/>
            <a:ln>
              <a:noFill/>
            </a:ln>
          </p:spPr>
          <p:txBody>
            <a:bodyPr wrap="none" lIns="0" tIns="0" rIns="0" bIns="0" anchor="t" anchorCtr="0">
              <a:spAutoFit/>
            </a:bodyPr>
            <a:lstStyle/>
            <a:p>
              <a:pPr algn="l"/>
              <a:r>
                <a:rPr lang="en-US" sz="3300" b="1" dirty="0">
                  <a:solidFill>
                    <a:srgbClr val="E8F5E9"/>
                  </a:solidFill>
                  <a:latin typeface="Georgia"/>
                  <a:ea typeface="Georgia"/>
                  <a:cs typeface="Georgia"/>
                </a:rPr>
                <a:t>Part 3 — Challenges We Cannot Ignore</a:t>
              </a:r>
            </a:p>
          </p:txBody>
        </p:sp>
        <p:sp>
          <p:nvSpPr>
            <p:cNvPr id="7" name="TextBox 7"/>
            <p:cNvSpPr txBox="1"/>
            <p:nvPr/>
          </p:nvSpPr>
          <p:spPr>
            <a:xfrm>
              <a:off x="792480" y="581025"/>
              <a:ext cx="8590534"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AI's power in healthcare comes with real risks requiring active governance to contain.</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9525">
              <a:solidFill>
                <a:srgbClr val="263238"/>
              </a:solidFill>
            </a:ln>
          </p:spPr>
        </p:sp>
      </p:grpSp>
      <p:grpSp>
        <p:nvGrpSpPr>
          <p:cNvPr id="13" name="Group 13"/>
          <p:cNvGrpSpPr/>
          <p:nvPr/>
        </p:nvGrpSpPr>
        <p:grpSpPr>
          <a:xfrm>
            <a:off x="609600" y="990600"/>
            <a:ext cx="1957121" cy="305181"/>
            <a:chOff x="609600" y="990600"/>
            <a:chExt cx="1957121" cy="305181"/>
          </a:xfrm>
        </p:grpSpPr>
        <p:sp>
          <p:nvSpPr>
            <p:cNvPr id="10" name="Rectangle 10"/>
            <p:cNvSpPr/>
            <p:nvPr/>
          </p:nvSpPr>
          <p:spPr>
            <a:xfrm>
              <a:off x="609600" y="990600"/>
              <a:ext cx="1905000" cy="304800"/>
            </a:xfrm>
            <a:prstGeom prst="roundRect">
              <a:avLst>
                <a:gd name="adj" fmla="val 12500"/>
              </a:avLst>
            </a:prstGeom>
            <a:solidFill>
              <a:srgbClr val="FF5252">
                <a:alpha val="15000"/>
              </a:srgbClr>
            </a:solidFill>
            <a:ln>
              <a:noFill/>
            </a:ln>
          </p:spPr>
        </p:sp>
        <p:sp>
          <p:nvSpPr>
            <p:cNvPr id="11" name="Rectangle 11"/>
            <p:cNvSpPr/>
            <p:nvPr/>
          </p:nvSpPr>
          <p:spPr>
            <a:xfrm>
              <a:off x="609600" y="990600"/>
              <a:ext cx="38100" cy="304800"/>
            </a:xfrm>
            <a:prstGeom prst="roundRect">
              <a:avLst>
                <a:gd name="adj" fmla="val 50000"/>
              </a:avLst>
            </a:prstGeom>
            <a:solidFill>
              <a:srgbClr val="FF5252"/>
            </a:solidFill>
            <a:ln>
              <a:noFill/>
            </a:ln>
          </p:spPr>
        </p:sp>
        <p:sp>
          <p:nvSpPr>
            <p:cNvPr id="12" name="TextBox 12"/>
            <p:cNvSpPr txBox="1"/>
            <p:nvPr/>
          </p:nvSpPr>
          <p:spPr>
            <a:xfrm>
              <a:off x="755904" y="1061085"/>
              <a:ext cx="1810817" cy="234696"/>
            </a:xfrm>
            <a:prstGeom prst="rect">
              <a:avLst/>
            </a:prstGeom>
            <a:noFill/>
            <a:ln>
              <a:noFill/>
            </a:ln>
          </p:spPr>
          <p:txBody>
            <a:bodyPr wrap="none" lIns="0" tIns="0" rIns="0" bIns="0" anchor="t" anchorCtr="0">
              <a:spAutoFit/>
            </a:bodyPr>
            <a:lstStyle/>
            <a:p>
              <a:pPr algn="l"/>
              <a:r>
                <a:rPr lang="en-US" sz="1200" b="1" spc="150" dirty="0">
                  <a:solidFill>
                    <a:srgbClr val="FF5252"/>
                  </a:solidFill>
                  <a:latin typeface="Arial"/>
                  <a:ea typeface="Arial"/>
                  <a:cs typeface="Arial"/>
                </a:rPr>
                <a:t>ETHICAL FRONTIER</a:t>
              </a:r>
            </a:p>
          </p:txBody>
        </p:sp>
      </p:grpSp>
      <p:grpSp>
        <p:nvGrpSpPr>
          <p:cNvPr id="21" name="Group 21"/>
          <p:cNvGrpSpPr/>
          <p:nvPr/>
        </p:nvGrpSpPr>
        <p:grpSpPr>
          <a:xfrm>
            <a:off x="609600" y="1333500"/>
            <a:ext cx="10972800" cy="5143500"/>
            <a:chOff x="609600" y="1333500"/>
            <a:chExt cx="10972800" cy="5143500"/>
          </a:xfrm>
        </p:grpSpPr>
        <p:sp>
          <p:nvSpPr>
            <p:cNvPr id="14" name="Line 14"/>
            <p:cNvSpPr/>
            <p:nvPr/>
          </p:nvSpPr>
          <p:spPr>
            <a:xfrm>
              <a:off x="6096000" y="1333500"/>
              <a:ext cx="9525" cy="5143500"/>
            </a:xfrm>
            <a:custGeom>
              <a:avLst/>
              <a:gdLst/>
              <a:ahLst/>
              <a:cxnLst/>
              <a:rect l="l" t="t" r="r" b="b"/>
              <a:pathLst>
                <a:path w="9525" h="5143500">
                  <a:moveTo>
                    <a:pt x="0" y="0"/>
                  </a:moveTo>
                  <a:lnTo>
                    <a:pt x="0" y="5143500"/>
                  </a:lnTo>
                </a:path>
              </a:pathLst>
            </a:custGeom>
            <a:noFill/>
            <a:ln w="14288">
              <a:solidFill>
                <a:srgbClr val="263238"/>
              </a:solidFill>
            </a:ln>
          </p:spPr>
        </p:sp>
        <p:sp>
          <p:nvSpPr>
            <p:cNvPr id="15" name="Line 15"/>
            <p:cNvSpPr/>
            <p:nvPr/>
          </p:nvSpPr>
          <p:spPr>
            <a:xfrm>
              <a:off x="609600" y="3905250"/>
              <a:ext cx="10972800" cy="9525"/>
            </a:xfrm>
            <a:custGeom>
              <a:avLst/>
              <a:gdLst/>
              <a:ahLst/>
              <a:cxnLst/>
              <a:rect l="l" t="t" r="r" b="b"/>
              <a:pathLst>
                <a:path w="10972800" h="9525">
                  <a:moveTo>
                    <a:pt x="0" y="0"/>
                  </a:moveTo>
                  <a:lnTo>
                    <a:pt x="10972800" y="0"/>
                  </a:lnTo>
                </a:path>
              </a:pathLst>
            </a:custGeom>
            <a:noFill/>
            <a:ln w="14288">
              <a:solidFill>
                <a:srgbClr val="263238"/>
              </a:solidFill>
            </a:ln>
          </p:spPr>
        </p:sp>
        <p:sp>
          <p:nvSpPr>
            <p:cNvPr id="16" name="Ellipse 16"/>
            <p:cNvSpPr/>
            <p:nvPr/>
          </p:nvSpPr>
          <p:spPr>
            <a:xfrm>
              <a:off x="5905500" y="3714750"/>
              <a:ext cx="381000" cy="381000"/>
            </a:xfrm>
            <a:prstGeom prst="ellipse">
              <a:avLst/>
            </a:prstGeom>
            <a:solidFill>
              <a:srgbClr val="0D1117"/>
            </a:solidFill>
            <a:ln w="14288">
              <a:solidFill>
                <a:srgbClr val="263238"/>
              </a:solidFill>
            </a:ln>
          </p:spPr>
        </p:sp>
        <p:grpSp>
          <p:nvGrpSpPr>
            <p:cNvPr id="20" name="Group 20"/>
            <p:cNvGrpSpPr/>
            <p:nvPr/>
          </p:nvGrpSpPr>
          <p:grpSpPr>
            <a:xfrm>
              <a:off x="5999939" y="3816361"/>
              <a:ext cx="192114" cy="165051"/>
              <a:chOff x="5999939" y="3816361"/>
              <a:chExt cx="192114" cy="165051"/>
            </a:xfrm>
          </p:grpSpPr>
          <p:sp>
            <p:nvSpPr>
              <p:cNvPr id="17" name="Freeform 17"/>
              <p:cNvSpPr/>
              <p:nvPr/>
            </p:nvSpPr>
            <p:spPr>
              <a:xfrm>
                <a:off x="6096000" y="3876675"/>
                <a:ext cx="9525" cy="38100"/>
              </a:xfrm>
              <a:custGeom>
                <a:avLst/>
                <a:gdLst/>
                <a:ahLst/>
                <a:cxnLst/>
                <a:rect l="l" t="t" r="r" b="b"/>
                <a:pathLst>
                  <a:path w="9525" h="38100">
                    <a:moveTo>
                      <a:pt x="0" y="0"/>
                    </a:moveTo>
                    <a:lnTo>
                      <a:pt x="0" y="38100"/>
                    </a:lnTo>
                  </a:path>
                </a:pathLst>
              </a:custGeom>
              <a:noFill/>
              <a:ln w="19050">
                <a:solidFill>
                  <a:srgbClr val="FF5252"/>
                </a:solidFill>
              </a:ln>
            </p:spPr>
          </p:sp>
          <p:sp>
            <p:nvSpPr>
              <p:cNvPr id="18" name="Freeform 18"/>
              <p:cNvSpPr/>
              <p:nvPr/>
            </p:nvSpPr>
            <p:spPr>
              <a:xfrm>
                <a:off x="5999939" y="381636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a:solidFill>
                  <a:srgbClr val="FF5252"/>
                </a:solidFill>
              </a:ln>
            </p:spPr>
          </p:sp>
          <p:sp>
            <p:nvSpPr>
              <p:cNvPr id="19" name="Freeform 19"/>
              <p:cNvSpPr/>
              <p:nvPr/>
            </p:nvSpPr>
            <p:spPr>
              <a:xfrm>
                <a:off x="6096000" y="3943350"/>
                <a:ext cx="9525" cy="9525"/>
              </a:xfrm>
              <a:custGeom>
                <a:avLst/>
                <a:gdLst/>
                <a:ahLst/>
                <a:cxnLst/>
                <a:rect l="l" t="t" r="r" b="b"/>
                <a:pathLst>
                  <a:path w="9525" h="9525">
                    <a:moveTo>
                      <a:pt x="0" y="0"/>
                    </a:moveTo>
                    <a:lnTo>
                      <a:pt x="95" y="0"/>
                    </a:lnTo>
                  </a:path>
                </a:pathLst>
              </a:custGeom>
              <a:noFill/>
              <a:ln w="19050">
                <a:solidFill>
                  <a:srgbClr val="FF5252"/>
                </a:solidFill>
              </a:ln>
            </p:spPr>
          </p:sp>
        </p:grpSp>
      </p:grpSp>
      <p:grpSp>
        <p:nvGrpSpPr>
          <p:cNvPr id="39" name="Group 39"/>
          <p:cNvGrpSpPr/>
          <p:nvPr/>
        </p:nvGrpSpPr>
        <p:grpSpPr>
          <a:xfrm>
            <a:off x="685800" y="1409700"/>
            <a:ext cx="5295900" cy="2400300"/>
            <a:chOff x="685800" y="1409700"/>
            <a:chExt cx="5295900" cy="2400300"/>
          </a:xfrm>
        </p:grpSpPr>
        <p:sp>
          <p:nvSpPr>
            <p:cNvPr id="22" name="Rectangle 22"/>
            <p:cNvSpPr/>
            <p:nvPr/>
          </p:nvSpPr>
          <p:spPr>
            <a:xfrm>
              <a:off x="685800" y="1409700"/>
              <a:ext cx="5295900" cy="2400300"/>
            </a:xfrm>
            <a:prstGeom prst="roundRect">
              <a:avLst>
                <a:gd name="adj" fmla="val 2381"/>
              </a:avLst>
            </a:prstGeom>
            <a:solidFill>
              <a:srgbClr val="161B22"/>
            </a:solidFill>
            <a:ln>
              <a:noFill/>
            </a:ln>
          </p:spPr>
        </p:sp>
        <p:sp>
          <p:nvSpPr>
            <p:cNvPr id="23" name="Rectangle 23"/>
            <p:cNvSpPr/>
            <p:nvPr/>
          </p:nvSpPr>
          <p:spPr>
            <a:xfrm>
              <a:off x="685800" y="1409700"/>
              <a:ext cx="57150" cy="2400300"/>
            </a:xfrm>
            <a:prstGeom prst="roundRect">
              <a:avLst>
                <a:gd name="adj" fmla="val 50000"/>
              </a:avLst>
            </a:prstGeom>
            <a:solidFill>
              <a:srgbClr val="FF5252"/>
            </a:solidFill>
            <a:ln>
              <a:noFill/>
            </a:ln>
          </p:spPr>
        </p:sp>
        <p:grpSp>
          <p:nvGrpSpPr>
            <p:cNvPr id="27" name="Group 27"/>
            <p:cNvGrpSpPr/>
            <p:nvPr/>
          </p:nvGrpSpPr>
          <p:grpSpPr>
            <a:xfrm>
              <a:off x="884609" y="1600216"/>
              <a:ext cx="288171" cy="247577"/>
              <a:chOff x="884609" y="1600216"/>
              <a:chExt cx="288171" cy="247577"/>
            </a:xfrm>
          </p:grpSpPr>
          <p:sp>
            <p:nvSpPr>
              <p:cNvPr id="24" name="Freeform 24"/>
              <p:cNvSpPr/>
              <p:nvPr/>
            </p:nvSpPr>
            <p:spPr>
              <a:xfrm>
                <a:off x="1028700" y="1690688"/>
                <a:ext cx="9525" cy="57150"/>
              </a:xfrm>
              <a:custGeom>
                <a:avLst/>
                <a:gdLst/>
                <a:ahLst/>
                <a:cxnLst/>
                <a:rect l="l" t="t" r="r" b="b"/>
                <a:pathLst>
                  <a:path w="9525" h="57150">
                    <a:moveTo>
                      <a:pt x="0" y="0"/>
                    </a:moveTo>
                    <a:lnTo>
                      <a:pt x="0" y="57150"/>
                    </a:lnTo>
                  </a:path>
                </a:pathLst>
              </a:custGeom>
              <a:noFill/>
              <a:ln w="19050">
                <a:solidFill>
                  <a:srgbClr val="FF5252"/>
                </a:solidFill>
              </a:ln>
            </p:spPr>
          </p:sp>
          <p:sp>
            <p:nvSpPr>
              <p:cNvPr id="25" name="Freeform 25"/>
              <p:cNvSpPr/>
              <p:nvPr/>
            </p:nvSpPr>
            <p:spPr>
              <a:xfrm>
                <a:off x="884609" y="1600216"/>
                <a:ext cx="288171" cy="247577"/>
              </a:xfrm>
              <a:custGeom>
                <a:avLst/>
                <a:gdLst/>
                <a:ahLst/>
                <a:cxnLst/>
                <a:rect l="l" t="t" r="r" b="b"/>
                <a:pathLst>
                  <a:path w="288171" h="247577">
                    <a:moveTo>
                      <a:pt x="120702" y="13191"/>
                    </a:moveTo>
                    <a:lnTo>
                      <a:pt x="4888" y="206558"/>
                    </a:lnTo>
                    <a:cubicBezTo>
                      <a:pt x="30" y="214971"/>
                      <a:pt x="0" y="225330"/>
                      <a:pt x="4810" y="233771"/>
                    </a:cubicBezTo>
                    <a:cubicBezTo>
                      <a:pt x="9620" y="242213"/>
                      <a:pt x="18548" y="247468"/>
                      <a:pt x="28262" y="247577"/>
                    </a:cubicBezTo>
                    <a:lnTo>
                      <a:pt x="259920" y="247577"/>
                    </a:lnTo>
                    <a:cubicBezTo>
                      <a:pt x="269630" y="247465"/>
                      <a:pt x="278553" y="242212"/>
                      <a:pt x="283362" y="233775"/>
                    </a:cubicBezTo>
                    <a:cubicBezTo>
                      <a:pt x="288171" y="225339"/>
                      <a:pt x="288145" y="214984"/>
                      <a:pt x="283294" y="206572"/>
                    </a:cubicBezTo>
                    <a:lnTo>
                      <a:pt x="167480" y="13176"/>
                    </a:lnTo>
                    <a:cubicBezTo>
                      <a:pt x="162524" y="4996"/>
                      <a:pt x="153655" y="0"/>
                      <a:pt x="144091" y="0"/>
                    </a:cubicBezTo>
                    <a:cubicBezTo>
                      <a:pt x="134527" y="0"/>
                      <a:pt x="125658" y="4996"/>
                      <a:pt x="120702" y="13176"/>
                    </a:cubicBezTo>
                  </a:path>
                </a:pathLst>
              </a:custGeom>
              <a:noFill/>
              <a:ln w="19050">
                <a:solidFill>
                  <a:srgbClr val="FF5252"/>
                </a:solidFill>
              </a:ln>
            </p:spPr>
          </p:sp>
          <p:sp>
            <p:nvSpPr>
              <p:cNvPr id="26" name="Freeform 26"/>
              <p:cNvSpPr/>
              <p:nvPr/>
            </p:nvSpPr>
            <p:spPr>
              <a:xfrm>
                <a:off x="1028700" y="1790700"/>
                <a:ext cx="9525" cy="9525"/>
              </a:xfrm>
              <a:custGeom>
                <a:avLst/>
                <a:gdLst/>
                <a:ahLst/>
                <a:cxnLst/>
                <a:rect l="l" t="t" r="r" b="b"/>
                <a:pathLst>
                  <a:path w="9525" h="9525">
                    <a:moveTo>
                      <a:pt x="0" y="0"/>
                    </a:moveTo>
                    <a:lnTo>
                      <a:pt x="143" y="0"/>
                    </a:lnTo>
                  </a:path>
                </a:pathLst>
              </a:custGeom>
              <a:noFill/>
              <a:ln w="19050">
                <a:solidFill>
                  <a:srgbClr val="FF5252"/>
                </a:solidFill>
              </a:ln>
            </p:spPr>
          </p:sp>
        </p:grpSp>
        <p:sp>
          <p:nvSpPr>
            <p:cNvPr id="28" name="TextBox 28"/>
            <p:cNvSpPr txBox="1"/>
            <p:nvPr/>
          </p:nvSpPr>
          <p:spPr>
            <a:xfrm>
              <a:off x="1286256" y="1577340"/>
              <a:ext cx="2005016" cy="352044"/>
            </a:xfrm>
            <a:prstGeom prst="rect">
              <a:avLst/>
            </a:prstGeom>
            <a:noFill/>
            <a:ln>
              <a:noFill/>
            </a:ln>
          </p:spPr>
          <p:txBody>
            <a:bodyPr wrap="none" lIns="0" tIns="0" rIns="0" bIns="0" anchor="t" anchorCtr="0">
              <a:spAutoFit/>
            </a:bodyPr>
            <a:lstStyle/>
            <a:p>
              <a:pPr algn="l"/>
              <a:r>
                <a:rPr lang="en-US" sz="1800" b="1" dirty="0">
                  <a:solidFill>
                    <a:srgbClr val="E8F5E9"/>
                  </a:solidFill>
                  <a:latin typeface="Arial"/>
                  <a:ea typeface="Arial"/>
                  <a:cs typeface="Arial"/>
                </a:rPr>
                <a:t>Algorithmic Bias</a:t>
              </a:r>
            </a:p>
          </p:txBody>
        </p:sp>
        <p:sp>
          <p:nvSpPr>
            <p:cNvPr id="29" name="Rectangle 29"/>
            <p:cNvSpPr/>
            <p:nvPr/>
          </p:nvSpPr>
          <p:spPr>
            <a:xfrm>
              <a:off x="857250" y="2000250"/>
              <a:ext cx="57150" cy="57150"/>
            </a:xfrm>
            <a:prstGeom prst="roundRect">
              <a:avLst>
                <a:gd name="adj" fmla="val 50000"/>
              </a:avLst>
            </a:prstGeom>
            <a:solidFill>
              <a:srgbClr val="FF5252"/>
            </a:solidFill>
            <a:ln>
              <a:noFill/>
            </a:ln>
          </p:spPr>
        </p:sp>
        <p:sp>
          <p:nvSpPr>
            <p:cNvPr id="30" name="TextBox 30"/>
            <p:cNvSpPr txBox="1"/>
            <p:nvPr/>
          </p:nvSpPr>
          <p:spPr>
            <a:xfrm>
              <a:off x="1002030" y="1924050"/>
              <a:ext cx="3713480"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Dermatology AI: 34% less accurate on</a:t>
              </a:r>
            </a:p>
          </p:txBody>
        </p:sp>
        <p:sp>
          <p:nvSpPr>
            <p:cNvPr id="31" name="TextBox 31"/>
            <p:cNvSpPr txBox="1"/>
            <p:nvPr/>
          </p:nvSpPr>
          <p:spPr>
            <a:xfrm>
              <a:off x="1002030" y="2133600"/>
              <a:ext cx="3670173"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darker skin tones — training data gap</a:t>
              </a:r>
            </a:p>
          </p:txBody>
        </p:sp>
        <p:sp>
          <p:nvSpPr>
            <p:cNvPr id="32" name="Rectangle 32"/>
            <p:cNvSpPr/>
            <p:nvPr/>
          </p:nvSpPr>
          <p:spPr>
            <a:xfrm>
              <a:off x="857250" y="2438400"/>
              <a:ext cx="57150" cy="57150"/>
            </a:xfrm>
            <a:prstGeom prst="roundRect">
              <a:avLst>
                <a:gd name="adj" fmla="val 50000"/>
              </a:avLst>
            </a:prstGeom>
            <a:solidFill>
              <a:srgbClr val="FF5252"/>
            </a:solidFill>
            <a:ln>
              <a:noFill/>
            </a:ln>
          </p:spPr>
        </p:sp>
        <p:sp>
          <p:nvSpPr>
            <p:cNvPr id="33" name="TextBox 33"/>
            <p:cNvSpPr txBox="1"/>
            <p:nvPr/>
          </p:nvSpPr>
          <p:spPr>
            <a:xfrm>
              <a:off x="1002030" y="2362200"/>
              <a:ext cx="3895075"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Pulse oximetry errors in Black patients</a:t>
              </a:r>
            </a:p>
          </p:txBody>
        </p:sp>
        <p:sp>
          <p:nvSpPr>
            <p:cNvPr id="34" name="TextBox 34"/>
            <p:cNvSpPr txBox="1"/>
            <p:nvPr/>
          </p:nvSpPr>
          <p:spPr>
            <a:xfrm>
              <a:off x="1002030" y="2571750"/>
              <a:ext cx="3056436"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amplified by AI clinical systems</a:t>
              </a:r>
            </a:p>
          </p:txBody>
        </p:sp>
        <p:sp>
          <p:nvSpPr>
            <p:cNvPr id="35" name="Rectangle 35"/>
            <p:cNvSpPr/>
            <p:nvPr/>
          </p:nvSpPr>
          <p:spPr>
            <a:xfrm>
              <a:off x="857250" y="2876550"/>
              <a:ext cx="57150" cy="57150"/>
            </a:xfrm>
            <a:prstGeom prst="roundRect">
              <a:avLst>
                <a:gd name="adj" fmla="val 50000"/>
              </a:avLst>
            </a:prstGeom>
            <a:solidFill>
              <a:srgbClr val="FF5252"/>
            </a:solidFill>
            <a:ln>
              <a:noFill/>
            </a:ln>
          </p:spPr>
        </p:sp>
        <p:sp>
          <p:nvSpPr>
            <p:cNvPr id="36" name="TextBox 36"/>
            <p:cNvSpPr txBox="1"/>
            <p:nvPr/>
          </p:nvSpPr>
          <p:spPr>
            <a:xfrm>
              <a:off x="1002030" y="2800350"/>
              <a:ext cx="361615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Solution: diverse training datasets,</a:t>
              </a:r>
            </a:p>
          </p:txBody>
        </p:sp>
        <p:sp>
          <p:nvSpPr>
            <p:cNvPr id="37" name="TextBox 37"/>
            <p:cNvSpPr txBox="1"/>
            <p:nvPr/>
          </p:nvSpPr>
          <p:spPr>
            <a:xfrm>
              <a:off x="1002030" y="3009900"/>
              <a:ext cx="3791331"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mandatory bias audits pre-deployment</a:t>
              </a:r>
            </a:p>
          </p:txBody>
        </p:sp>
        <p:sp>
          <p:nvSpPr>
            <p:cNvPr id="38" name="TextBox 38"/>
            <p:cNvSpPr txBox="1"/>
            <p:nvPr/>
          </p:nvSpPr>
          <p:spPr>
            <a:xfrm>
              <a:off x="1003554" y="3509010"/>
              <a:ext cx="3706552"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Risk level: HIGH — immediate governance needed</a:t>
              </a:r>
            </a:p>
          </p:txBody>
        </p:sp>
      </p:grpSp>
      <p:grpSp>
        <p:nvGrpSpPr>
          <p:cNvPr id="56" name="Group 56"/>
          <p:cNvGrpSpPr/>
          <p:nvPr/>
        </p:nvGrpSpPr>
        <p:grpSpPr>
          <a:xfrm>
            <a:off x="6248400" y="1409700"/>
            <a:ext cx="5295900" cy="2400300"/>
            <a:chOff x="6248400" y="1409700"/>
            <a:chExt cx="5295900" cy="2400300"/>
          </a:xfrm>
        </p:grpSpPr>
        <p:sp>
          <p:nvSpPr>
            <p:cNvPr id="40" name="Rectangle 40"/>
            <p:cNvSpPr/>
            <p:nvPr/>
          </p:nvSpPr>
          <p:spPr>
            <a:xfrm>
              <a:off x="6248400" y="1409700"/>
              <a:ext cx="5295900" cy="2400300"/>
            </a:xfrm>
            <a:prstGeom prst="roundRect">
              <a:avLst>
                <a:gd name="adj" fmla="val 2381"/>
              </a:avLst>
            </a:prstGeom>
            <a:solidFill>
              <a:srgbClr val="161B22"/>
            </a:solidFill>
            <a:ln>
              <a:noFill/>
            </a:ln>
          </p:spPr>
        </p:sp>
        <p:sp>
          <p:nvSpPr>
            <p:cNvPr id="41" name="Rectangle 41"/>
            <p:cNvSpPr/>
            <p:nvPr/>
          </p:nvSpPr>
          <p:spPr>
            <a:xfrm>
              <a:off x="6248400" y="1409700"/>
              <a:ext cx="57150" cy="2400300"/>
            </a:xfrm>
            <a:prstGeom prst="roundRect">
              <a:avLst>
                <a:gd name="adj" fmla="val 50000"/>
              </a:avLst>
            </a:prstGeom>
            <a:solidFill>
              <a:srgbClr val="F59E0B"/>
            </a:solidFill>
            <a:ln>
              <a:noFill/>
            </a:ln>
          </p:spPr>
        </p:sp>
        <p:grpSp>
          <p:nvGrpSpPr>
            <p:cNvPr id="44" name="Group 44"/>
            <p:cNvGrpSpPr/>
            <p:nvPr/>
          </p:nvGrpSpPr>
          <p:grpSpPr>
            <a:xfrm>
              <a:off x="6443431" y="1604962"/>
              <a:ext cx="279010" cy="257176"/>
              <a:chOff x="6443431" y="1604962"/>
              <a:chExt cx="279010" cy="257176"/>
            </a:xfrm>
          </p:grpSpPr>
          <p:sp>
            <p:nvSpPr>
              <p:cNvPr id="42" name="Freeform 42"/>
              <p:cNvSpPr/>
              <p:nvPr/>
            </p:nvSpPr>
            <p:spPr>
              <a:xfrm>
                <a:off x="6443431" y="1604962"/>
                <a:ext cx="279010" cy="254975"/>
              </a:xfrm>
              <a:custGeom>
                <a:avLst/>
                <a:gdLst/>
                <a:ahLst/>
                <a:cxnLst/>
                <a:rect l="l" t="t" r="r" b="b"/>
                <a:pathLst>
                  <a:path w="279010" h="254975">
                    <a:moveTo>
                      <a:pt x="140154" y="254975"/>
                    </a:moveTo>
                    <a:cubicBezTo>
                      <a:pt x="50649" y="227230"/>
                      <a:pt x="0" y="132765"/>
                      <a:pt x="26425" y="42862"/>
                    </a:cubicBezTo>
                    <a:cubicBezTo>
                      <a:pt x="70939" y="44899"/>
                      <a:pt x="114496" y="29526"/>
                      <a:pt x="147869" y="0"/>
                    </a:cubicBezTo>
                    <a:cubicBezTo>
                      <a:pt x="181242" y="29526"/>
                      <a:pt x="224800" y="44899"/>
                      <a:pt x="269313" y="42862"/>
                    </a:cubicBezTo>
                    <a:cubicBezTo>
                      <a:pt x="279010" y="75854"/>
                      <a:pt x="278561" y="110999"/>
                      <a:pt x="268027" y="143732"/>
                    </a:cubicBezTo>
                  </a:path>
                </a:pathLst>
              </a:custGeom>
              <a:noFill/>
              <a:ln w="19050">
                <a:solidFill>
                  <a:srgbClr val="F59E0B"/>
                </a:solidFill>
              </a:ln>
            </p:spPr>
          </p:sp>
          <p:sp>
            <p:nvSpPr>
              <p:cNvPr id="43" name="Freeform 43"/>
              <p:cNvSpPr/>
              <p:nvPr/>
            </p:nvSpPr>
            <p:spPr>
              <a:xfrm>
                <a:off x="6634162" y="1804988"/>
                <a:ext cx="85725" cy="57150"/>
              </a:xfrm>
              <a:custGeom>
                <a:avLst/>
                <a:gdLst/>
                <a:ahLst/>
                <a:cxnLst/>
                <a:rect l="l" t="t" r="r" b="b"/>
                <a:pathLst>
                  <a:path w="85725" h="57150">
                    <a:moveTo>
                      <a:pt x="0" y="28575"/>
                    </a:moveTo>
                    <a:lnTo>
                      <a:pt x="28575" y="57150"/>
                    </a:lnTo>
                    <a:lnTo>
                      <a:pt x="85725" y="0"/>
                    </a:lnTo>
                  </a:path>
                </a:pathLst>
              </a:custGeom>
              <a:noFill/>
              <a:ln w="19050">
                <a:solidFill>
                  <a:srgbClr val="F59E0B"/>
                </a:solidFill>
              </a:ln>
            </p:spPr>
          </p:sp>
        </p:grpSp>
        <p:sp>
          <p:nvSpPr>
            <p:cNvPr id="45" name="TextBox 45"/>
            <p:cNvSpPr txBox="1"/>
            <p:nvPr/>
          </p:nvSpPr>
          <p:spPr>
            <a:xfrm>
              <a:off x="6848856" y="1577340"/>
              <a:ext cx="2299821" cy="352044"/>
            </a:xfrm>
            <a:prstGeom prst="rect">
              <a:avLst/>
            </a:prstGeom>
            <a:noFill/>
            <a:ln>
              <a:noFill/>
            </a:ln>
          </p:spPr>
          <p:txBody>
            <a:bodyPr wrap="none" lIns="0" tIns="0" rIns="0" bIns="0" anchor="t" anchorCtr="0">
              <a:spAutoFit/>
            </a:bodyPr>
            <a:lstStyle/>
            <a:p>
              <a:pPr algn="l"/>
              <a:r>
                <a:rPr lang="en-US" sz="1800" b="1" dirty="0">
                  <a:solidFill>
                    <a:srgbClr val="E8F5E9"/>
                  </a:solidFill>
                  <a:latin typeface="Arial"/>
                  <a:ea typeface="Arial"/>
                  <a:cs typeface="Arial"/>
                </a:rPr>
                <a:t>Privacy &amp; Security</a:t>
              </a:r>
            </a:p>
          </p:txBody>
        </p:sp>
        <p:sp>
          <p:nvSpPr>
            <p:cNvPr id="46" name="Rectangle 46"/>
            <p:cNvSpPr/>
            <p:nvPr/>
          </p:nvSpPr>
          <p:spPr>
            <a:xfrm>
              <a:off x="6419850" y="2000250"/>
              <a:ext cx="57150" cy="57150"/>
            </a:xfrm>
            <a:prstGeom prst="roundRect">
              <a:avLst>
                <a:gd name="adj" fmla="val 50000"/>
              </a:avLst>
            </a:prstGeom>
            <a:solidFill>
              <a:srgbClr val="F59E0B"/>
            </a:solidFill>
            <a:ln>
              <a:noFill/>
            </a:ln>
          </p:spPr>
        </p:sp>
        <p:sp>
          <p:nvSpPr>
            <p:cNvPr id="47" name="TextBox 47"/>
            <p:cNvSpPr txBox="1"/>
            <p:nvPr/>
          </p:nvSpPr>
          <p:spPr>
            <a:xfrm>
              <a:off x="6564630" y="1924050"/>
              <a:ext cx="3515008"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De-identification of patient data is</a:t>
              </a:r>
            </a:p>
          </p:txBody>
        </p:sp>
        <p:sp>
          <p:nvSpPr>
            <p:cNvPr id="48" name="TextBox 48"/>
            <p:cNvSpPr txBox="1"/>
            <p:nvPr/>
          </p:nvSpPr>
          <p:spPr>
            <a:xfrm>
              <a:off x="6564630" y="2133600"/>
              <a:ext cx="4215384"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imperfect; re-identification risks persist</a:t>
              </a:r>
            </a:p>
          </p:txBody>
        </p:sp>
        <p:sp>
          <p:nvSpPr>
            <p:cNvPr id="49" name="Rectangle 49"/>
            <p:cNvSpPr/>
            <p:nvPr/>
          </p:nvSpPr>
          <p:spPr>
            <a:xfrm>
              <a:off x="6419850" y="2438400"/>
              <a:ext cx="57150" cy="57150"/>
            </a:xfrm>
            <a:prstGeom prst="roundRect">
              <a:avLst>
                <a:gd name="adj" fmla="val 50000"/>
              </a:avLst>
            </a:prstGeom>
            <a:solidFill>
              <a:srgbClr val="F59E0B"/>
            </a:solidFill>
            <a:ln>
              <a:noFill/>
            </a:ln>
          </p:spPr>
        </p:sp>
        <p:sp>
          <p:nvSpPr>
            <p:cNvPr id="50" name="TextBox 50"/>
            <p:cNvSpPr txBox="1"/>
            <p:nvPr/>
          </p:nvSpPr>
          <p:spPr>
            <a:xfrm>
              <a:off x="6564630" y="2362200"/>
              <a:ext cx="3679418"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Patient consent for AI model training</a:t>
              </a:r>
            </a:p>
          </p:txBody>
        </p:sp>
        <p:sp>
          <p:nvSpPr>
            <p:cNvPr id="51" name="TextBox 51"/>
            <p:cNvSpPr txBox="1"/>
            <p:nvPr/>
          </p:nvSpPr>
          <p:spPr>
            <a:xfrm>
              <a:off x="6564630" y="2571750"/>
              <a:ext cx="310476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lacks clear universal standards</a:t>
              </a:r>
            </a:p>
          </p:txBody>
        </p:sp>
        <p:sp>
          <p:nvSpPr>
            <p:cNvPr id="52" name="Rectangle 52"/>
            <p:cNvSpPr/>
            <p:nvPr/>
          </p:nvSpPr>
          <p:spPr>
            <a:xfrm>
              <a:off x="6419850" y="2876550"/>
              <a:ext cx="57150" cy="57150"/>
            </a:xfrm>
            <a:prstGeom prst="roundRect">
              <a:avLst>
                <a:gd name="adj" fmla="val 50000"/>
              </a:avLst>
            </a:prstGeom>
            <a:solidFill>
              <a:srgbClr val="F59E0B"/>
            </a:solidFill>
            <a:ln>
              <a:noFill/>
            </a:ln>
          </p:spPr>
        </p:sp>
        <p:sp>
          <p:nvSpPr>
            <p:cNvPr id="53" name="TextBox 53"/>
            <p:cNvSpPr txBox="1"/>
            <p:nvPr/>
          </p:nvSpPr>
          <p:spPr>
            <a:xfrm>
              <a:off x="6564630" y="2800350"/>
              <a:ext cx="345213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GDPR, HIPAA compliance for AI adds</a:t>
              </a:r>
            </a:p>
          </p:txBody>
        </p:sp>
        <p:sp>
          <p:nvSpPr>
            <p:cNvPr id="54" name="TextBox 54"/>
            <p:cNvSpPr txBox="1"/>
            <p:nvPr/>
          </p:nvSpPr>
          <p:spPr>
            <a:xfrm>
              <a:off x="6564630" y="3009900"/>
              <a:ext cx="362978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regulatory complexity to deployment</a:t>
              </a:r>
            </a:p>
          </p:txBody>
        </p:sp>
        <p:sp>
          <p:nvSpPr>
            <p:cNvPr id="55" name="TextBox 55"/>
            <p:cNvSpPr txBox="1"/>
            <p:nvPr/>
          </p:nvSpPr>
          <p:spPr>
            <a:xfrm>
              <a:off x="6566154" y="3509010"/>
              <a:ext cx="3756351"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EU AI Act: high-risk classification for health AI</a:t>
              </a:r>
            </a:p>
          </p:txBody>
        </p:sp>
      </p:grpSp>
      <p:grpSp>
        <p:nvGrpSpPr>
          <p:cNvPr id="75" name="Group 75"/>
          <p:cNvGrpSpPr/>
          <p:nvPr/>
        </p:nvGrpSpPr>
        <p:grpSpPr>
          <a:xfrm>
            <a:off x="685800" y="3981450"/>
            <a:ext cx="5295900" cy="2400300"/>
            <a:chOff x="685800" y="3981450"/>
            <a:chExt cx="5295900" cy="2400300"/>
          </a:xfrm>
        </p:grpSpPr>
        <p:sp>
          <p:nvSpPr>
            <p:cNvPr id="57" name="Rectangle 57"/>
            <p:cNvSpPr/>
            <p:nvPr/>
          </p:nvSpPr>
          <p:spPr>
            <a:xfrm>
              <a:off x="685800" y="3981450"/>
              <a:ext cx="5295900" cy="2400300"/>
            </a:xfrm>
            <a:prstGeom prst="roundRect">
              <a:avLst>
                <a:gd name="adj" fmla="val 2381"/>
              </a:avLst>
            </a:prstGeom>
            <a:solidFill>
              <a:srgbClr val="161B22"/>
            </a:solidFill>
            <a:ln>
              <a:noFill/>
            </a:ln>
          </p:spPr>
        </p:sp>
        <p:sp>
          <p:nvSpPr>
            <p:cNvPr id="58" name="Rectangle 58"/>
            <p:cNvSpPr/>
            <p:nvPr/>
          </p:nvSpPr>
          <p:spPr>
            <a:xfrm>
              <a:off x="685800" y="3981450"/>
              <a:ext cx="57150" cy="2400300"/>
            </a:xfrm>
            <a:prstGeom prst="roundRect">
              <a:avLst>
                <a:gd name="adj" fmla="val 50000"/>
              </a:avLst>
            </a:prstGeom>
            <a:solidFill>
              <a:srgbClr val="26A69A"/>
            </a:solidFill>
            <a:ln>
              <a:noFill/>
            </a:ln>
          </p:spPr>
        </p:sp>
        <p:grpSp>
          <p:nvGrpSpPr>
            <p:cNvPr id="63" name="Group 63"/>
            <p:cNvGrpSpPr/>
            <p:nvPr/>
          </p:nvGrpSpPr>
          <p:grpSpPr>
            <a:xfrm>
              <a:off x="900112" y="4176712"/>
              <a:ext cx="257175" cy="257176"/>
              <a:chOff x="900112" y="4176712"/>
              <a:chExt cx="257175" cy="257176"/>
            </a:xfrm>
          </p:grpSpPr>
          <p:sp>
            <p:nvSpPr>
              <p:cNvPr id="59" name="Freeform 59"/>
              <p:cNvSpPr/>
              <p:nvPr/>
            </p:nvSpPr>
            <p:spPr>
              <a:xfrm>
                <a:off x="928688" y="41767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26A69A"/>
                </a:solidFill>
              </a:ln>
            </p:spPr>
          </p:sp>
          <p:sp>
            <p:nvSpPr>
              <p:cNvPr id="60" name="Freeform 60"/>
              <p:cNvSpPr/>
              <p:nvPr/>
            </p:nvSpPr>
            <p:spPr>
              <a:xfrm>
                <a:off x="900112" y="43481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26A69A"/>
                </a:solidFill>
              </a:ln>
            </p:spPr>
          </p:sp>
          <p:sp>
            <p:nvSpPr>
              <p:cNvPr id="61" name="Freeform 61"/>
              <p:cNvSpPr/>
              <p:nvPr/>
            </p:nvSpPr>
            <p:spPr>
              <a:xfrm>
                <a:off x="1085850" y="41785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26A69A"/>
                </a:solidFill>
              </a:ln>
            </p:spPr>
          </p:sp>
          <p:sp>
            <p:nvSpPr>
              <p:cNvPr id="62" name="Freeform 62"/>
              <p:cNvSpPr/>
              <p:nvPr/>
            </p:nvSpPr>
            <p:spPr>
              <a:xfrm>
                <a:off x="1114425" y="43503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26A69A"/>
                </a:solidFill>
              </a:ln>
            </p:spPr>
          </p:sp>
        </p:grpSp>
        <p:sp>
          <p:nvSpPr>
            <p:cNvPr id="64" name="TextBox 64"/>
            <p:cNvSpPr txBox="1"/>
            <p:nvPr/>
          </p:nvSpPr>
          <p:spPr>
            <a:xfrm>
              <a:off x="1286256" y="4149090"/>
              <a:ext cx="2297811" cy="352044"/>
            </a:xfrm>
            <a:prstGeom prst="rect">
              <a:avLst/>
            </a:prstGeom>
            <a:noFill/>
            <a:ln>
              <a:noFill/>
            </a:ln>
          </p:spPr>
          <p:txBody>
            <a:bodyPr wrap="none" lIns="0" tIns="0" rIns="0" bIns="0" anchor="t" anchorCtr="0">
              <a:spAutoFit/>
            </a:bodyPr>
            <a:lstStyle/>
            <a:p>
              <a:pPr algn="l"/>
              <a:r>
                <a:rPr lang="en-US" sz="1800" b="1" dirty="0">
                  <a:solidFill>
                    <a:srgbClr val="E8F5E9"/>
                  </a:solidFill>
                  <a:latin typeface="Arial"/>
                  <a:ea typeface="Arial"/>
                  <a:cs typeface="Arial"/>
                </a:rPr>
                <a:t>Accountability Gap</a:t>
              </a:r>
            </a:p>
          </p:txBody>
        </p:sp>
        <p:sp>
          <p:nvSpPr>
            <p:cNvPr id="65" name="Rectangle 65"/>
            <p:cNvSpPr/>
            <p:nvPr/>
          </p:nvSpPr>
          <p:spPr>
            <a:xfrm>
              <a:off x="857250" y="4572000"/>
              <a:ext cx="57150" cy="57150"/>
            </a:xfrm>
            <a:prstGeom prst="roundRect">
              <a:avLst>
                <a:gd name="adj" fmla="val 50000"/>
              </a:avLst>
            </a:prstGeom>
            <a:solidFill>
              <a:srgbClr val="26A69A"/>
            </a:solidFill>
            <a:ln>
              <a:noFill/>
            </a:ln>
          </p:spPr>
        </p:sp>
        <p:sp>
          <p:nvSpPr>
            <p:cNvPr id="66" name="TextBox 66"/>
            <p:cNvSpPr txBox="1"/>
            <p:nvPr/>
          </p:nvSpPr>
          <p:spPr>
            <a:xfrm>
              <a:off x="1002030" y="4495800"/>
              <a:ext cx="3540760"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When AI makes an error: developer,</a:t>
              </a:r>
            </a:p>
          </p:txBody>
        </p:sp>
        <p:sp>
          <p:nvSpPr>
            <p:cNvPr id="67" name="TextBox 67"/>
            <p:cNvSpPr txBox="1"/>
            <p:nvPr/>
          </p:nvSpPr>
          <p:spPr>
            <a:xfrm>
              <a:off x="1002030" y="4705350"/>
              <a:ext cx="2973515"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hospital, or clinician is liable?</a:t>
              </a:r>
            </a:p>
          </p:txBody>
        </p:sp>
        <p:sp>
          <p:nvSpPr>
            <p:cNvPr id="68" name="Rectangle 68"/>
            <p:cNvSpPr/>
            <p:nvPr/>
          </p:nvSpPr>
          <p:spPr>
            <a:xfrm>
              <a:off x="857250" y="5010150"/>
              <a:ext cx="57150" cy="57150"/>
            </a:xfrm>
            <a:prstGeom prst="roundRect">
              <a:avLst>
                <a:gd name="adj" fmla="val 50000"/>
              </a:avLst>
            </a:prstGeom>
            <a:solidFill>
              <a:srgbClr val="26A69A"/>
            </a:solidFill>
            <a:ln>
              <a:noFill/>
            </a:ln>
          </p:spPr>
        </p:sp>
        <p:sp>
          <p:nvSpPr>
            <p:cNvPr id="69" name="TextBox 69"/>
            <p:cNvSpPr txBox="1"/>
            <p:nvPr/>
          </p:nvSpPr>
          <p:spPr>
            <a:xfrm>
              <a:off x="1002030" y="4933950"/>
              <a:ext cx="3171952"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"Black box" models block clinical</a:t>
              </a:r>
            </a:p>
          </p:txBody>
        </p:sp>
        <p:sp>
          <p:nvSpPr>
            <p:cNvPr id="70" name="TextBox 70"/>
            <p:cNvSpPr txBox="1"/>
            <p:nvPr/>
          </p:nvSpPr>
          <p:spPr>
            <a:xfrm>
              <a:off x="1002030" y="5143500"/>
              <a:ext cx="2983611"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trust and regulatory approval</a:t>
              </a:r>
            </a:p>
          </p:txBody>
        </p:sp>
        <p:sp>
          <p:nvSpPr>
            <p:cNvPr id="71" name="Rectangle 71"/>
            <p:cNvSpPr/>
            <p:nvPr/>
          </p:nvSpPr>
          <p:spPr>
            <a:xfrm>
              <a:off x="857250" y="5448300"/>
              <a:ext cx="57150" cy="57150"/>
            </a:xfrm>
            <a:prstGeom prst="roundRect">
              <a:avLst>
                <a:gd name="adj" fmla="val 50000"/>
              </a:avLst>
            </a:prstGeom>
            <a:solidFill>
              <a:srgbClr val="26A69A"/>
            </a:solidFill>
            <a:ln>
              <a:noFill/>
            </a:ln>
          </p:spPr>
        </p:sp>
        <p:sp>
          <p:nvSpPr>
            <p:cNvPr id="72" name="TextBox 72"/>
            <p:cNvSpPr txBox="1"/>
            <p:nvPr/>
          </p:nvSpPr>
          <p:spPr>
            <a:xfrm>
              <a:off x="1002030" y="5372100"/>
              <a:ext cx="305463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Need for explainable AI (XAI) in</a:t>
              </a:r>
            </a:p>
          </p:txBody>
        </p:sp>
        <p:sp>
          <p:nvSpPr>
            <p:cNvPr id="73" name="TextBox 73"/>
            <p:cNvSpPr txBox="1"/>
            <p:nvPr/>
          </p:nvSpPr>
          <p:spPr>
            <a:xfrm>
              <a:off x="1002030" y="5581650"/>
              <a:ext cx="2892743"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high-stakes clinical decisions</a:t>
              </a:r>
            </a:p>
          </p:txBody>
        </p:sp>
        <p:sp>
          <p:nvSpPr>
            <p:cNvPr id="74" name="TextBox 74"/>
            <p:cNvSpPr txBox="1"/>
            <p:nvPr/>
          </p:nvSpPr>
          <p:spPr>
            <a:xfrm>
              <a:off x="1003554" y="6042660"/>
              <a:ext cx="3446621"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WHO AI Ethics Guidance 2021 addresses this</a:t>
              </a:r>
            </a:p>
          </p:txBody>
        </p:sp>
      </p:grpSp>
      <p:grpSp>
        <p:nvGrpSpPr>
          <p:cNvPr id="93" name="Group 93"/>
          <p:cNvGrpSpPr/>
          <p:nvPr/>
        </p:nvGrpSpPr>
        <p:grpSpPr>
          <a:xfrm>
            <a:off x="6248400" y="3981450"/>
            <a:ext cx="5295900" cy="2400300"/>
            <a:chOff x="6248400" y="3981450"/>
            <a:chExt cx="5295900" cy="2400300"/>
          </a:xfrm>
        </p:grpSpPr>
        <p:sp>
          <p:nvSpPr>
            <p:cNvPr id="76" name="Rectangle 76"/>
            <p:cNvSpPr/>
            <p:nvPr/>
          </p:nvSpPr>
          <p:spPr>
            <a:xfrm>
              <a:off x="6248400" y="3981450"/>
              <a:ext cx="5295900" cy="2400300"/>
            </a:xfrm>
            <a:prstGeom prst="roundRect">
              <a:avLst>
                <a:gd name="adj" fmla="val 2381"/>
              </a:avLst>
            </a:prstGeom>
            <a:solidFill>
              <a:srgbClr val="161B22"/>
            </a:solidFill>
            <a:ln>
              <a:noFill/>
            </a:ln>
          </p:spPr>
        </p:sp>
        <p:sp>
          <p:nvSpPr>
            <p:cNvPr id="77" name="Rectangle 77"/>
            <p:cNvSpPr/>
            <p:nvPr/>
          </p:nvSpPr>
          <p:spPr>
            <a:xfrm>
              <a:off x="6248400" y="3981450"/>
              <a:ext cx="57150" cy="2400300"/>
            </a:xfrm>
            <a:prstGeom prst="roundRect">
              <a:avLst>
                <a:gd name="adj" fmla="val 50000"/>
              </a:avLst>
            </a:prstGeom>
            <a:solidFill>
              <a:srgbClr val="00796B"/>
            </a:solidFill>
            <a:ln>
              <a:noFill/>
            </a:ln>
          </p:spPr>
        </p:sp>
        <p:grpSp>
          <p:nvGrpSpPr>
            <p:cNvPr id="81" name="Group 81"/>
            <p:cNvGrpSpPr/>
            <p:nvPr/>
          </p:nvGrpSpPr>
          <p:grpSpPr>
            <a:xfrm>
              <a:off x="6462712" y="4176712"/>
              <a:ext cx="257175" cy="257175"/>
              <a:chOff x="6462712" y="4176712"/>
              <a:chExt cx="257175" cy="257175"/>
            </a:xfrm>
          </p:grpSpPr>
          <p:sp>
            <p:nvSpPr>
              <p:cNvPr id="78" name="Freeform 78"/>
              <p:cNvSpPr/>
              <p:nvPr/>
            </p:nvSpPr>
            <p:spPr>
              <a:xfrm>
                <a:off x="6462712" y="4176712"/>
                <a:ext cx="257175" cy="128588"/>
              </a:xfrm>
              <a:custGeom>
                <a:avLst/>
                <a:gdLst/>
                <a:ahLst/>
                <a:cxnLst/>
                <a:rect l="l" t="t" r="r" b="b"/>
                <a:pathLst>
                  <a:path w="257175" h="128588">
                    <a:moveTo>
                      <a:pt x="0" y="128588"/>
                    </a:moveTo>
                    <a:lnTo>
                      <a:pt x="14288" y="128588"/>
                    </a:lnTo>
                    <a:moveTo>
                      <a:pt x="128588" y="0"/>
                    </a:moveTo>
                    <a:lnTo>
                      <a:pt x="128588" y="14288"/>
                    </a:lnTo>
                    <a:moveTo>
                      <a:pt x="242888" y="128588"/>
                    </a:moveTo>
                    <a:lnTo>
                      <a:pt x="257175" y="128588"/>
                    </a:lnTo>
                    <a:moveTo>
                      <a:pt x="37147" y="37147"/>
                    </a:moveTo>
                    <a:lnTo>
                      <a:pt x="47149" y="47149"/>
                    </a:lnTo>
                    <a:moveTo>
                      <a:pt x="220028" y="37147"/>
                    </a:moveTo>
                    <a:lnTo>
                      <a:pt x="210026" y="47149"/>
                    </a:lnTo>
                  </a:path>
                </a:pathLst>
              </a:custGeom>
              <a:noFill/>
              <a:ln w="19050">
                <a:solidFill>
                  <a:srgbClr val="00796B"/>
                </a:solidFill>
              </a:ln>
            </p:spPr>
          </p:sp>
          <p:sp>
            <p:nvSpPr>
              <p:cNvPr id="79" name="Freeform 79"/>
              <p:cNvSpPr/>
              <p:nvPr/>
            </p:nvSpPr>
            <p:spPr>
              <a:xfrm>
                <a:off x="6513805" y="4233862"/>
                <a:ext cx="154990" cy="200025"/>
              </a:xfrm>
              <a:custGeom>
                <a:avLst/>
                <a:gdLst/>
                <a:ahLst/>
                <a:cxnLst/>
                <a:rect l="l" t="t" r="r" b="b"/>
                <a:pathLst>
                  <a:path w="154990" h="200025">
                    <a:moveTo>
                      <a:pt x="34633" y="128588"/>
                    </a:moveTo>
                    <a:cubicBezTo>
                      <a:pt x="10034" y="110138"/>
                      <a:pt x="0" y="78018"/>
                      <a:pt x="9724" y="48847"/>
                    </a:cubicBezTo>
                    <a:cubicBezTo>
                      <a:pt x="19447" y="19676"/>
                      <a:pt x="46746" y="0"/>
                      <a:pt x="77495" y="0"/>
                    </a:cubicBezTo>
                    <a:cubicBezTo>
                      <a:pt x="108244" y="0"/>
                      <a:pt x="135543" y="19676"/>
                      <a:pt x="145267" y="48847"/>
                    </a:cubicBezTo>
                    <a:cubicBezTo>
                      <a:pt x="154990" y="78018"/>
                      <a:pt x="144957" y="110138"/>
                      <a:pt x="120358" y="128588"/>
                    </a:cubicBezTo>
                    <a:cubicBezTo>
                      <a:pt x="109044" y="139786"/>
                      <a:pt x="103739" y="155703"/>
                      <a:pt x="106070" y="171450"/>
                    </a:cubicBezTo>
                    <a:cubicBezTo>
                      <a:pt x="106070" y="187232"/>
                      <a:pt x="93277" y="200025"/>
                      <a:pt x="77495" y="200025"/>
                    </a:cubicBezTo>
                    <a:cubicBezTo>
                      <a:pt x="61714" y="200025"/>
                      <a:pt x="48920" y="187232"/>
                      <a:pt x="48920" y="171450"/>
                    </a:cubicBezTo>
                    <a:cubicBezTo>
                      <a:pt x="51252" y="155703"/>
                      <a:pt x="45946" y="139786"/>
                      <a:pt x="34633" y="128588"/>
                    </a:cubicBezTo>
                  </a:path>
                </a:pathLst>
              </a:custGeom>
              <a:noFill/>
              <a:ln w="19050">
                <a:solidFill>
                  <a:srgbClr val="00796B"/>
                </a:solidFill>
              </a:ln>
            </p:spPr>
          </p:sp>
          <p:sp>
            <p:nvSpPr>
              <p:cNvPr id="80" name="Freeform 80"/>
              <p:cNvSpPr/>
              <p:nvPr/>
            </p:nvSpPr>
            <p:spPr>
              <a:xfrm>
                <a:off x="6558439" y="4376738"/>
                <a:ext cx="65723" cy="9525"/>
              </a:xfrm>
              <a:custGeom>
                <a:avLst/>
                <a:gdLst/>
                <a:ahLst/>
                <a:cxnLst/>
                <a:rect l="l" t="t" r="r" b="b"/>
                <a:pathLst>
                  <a:path w="65723" h="9525">
                    <a:moveTo>
                      <a:pt x="0" y="0"/>
                    </a:moveTo>
                    <a:lnTo>
                      <a:pt x="65723" y="0"/>
                    </a:lnTo>
                  </a:path>
                </a:pathLst>
              </a:custGeom>
              <a:noFill/>
              <a:ln w="19050">
                <a:solidFill>
                  <a:srgbClr val="00796B"/>
                </a:solidFill>
              </a:ln>
            </p:spPr>
          </p:sp>
        </p:grpSp>
        <p:sp>
          <p:nvSpPr>
            <p:cNvPr id="82" name="TextBox 82"/>
            <p:cNvSpPr txBox="1"/>
            <p:nvPr/>
          </p:nvSpPr>
          <p:spPr>
            <a:xfrm>
              <a:off x="6848856" y="4149090"/>
              <a:ext cx="1726221" cy="352044"/>
            </a:xfrm>
            <a:prstGeom prst="rect">
              <a:avLst/>
            </a:prstGeom>
            <a:noFill/>
            <a:ln>
              <a:noFill/>
            </a:ln>
          </p:spPr>
          <p:txBody>
            <a:bodyPr wrap="none" lIns="0" tIns="0" rIns="0" bIns="0" anchor="t" anchorCtr="0">
              <a:spAutoFit/>
            </a:bodyPr>
            <a:lstStyle/>
            <a:p>
              <a:pPr algn="l"/>
              <a:r>
                <a:rPr lang="en-US" sz="1800" b="1" dirty="0">
                  <a:solidFill>
                    <a:srgbClr val="E8F5E9"/>
                  </a:solidFill>
                  <a:latin typeface="Arial"/>
                  <a:ea typeface="Arial"/>
                  <a:cs typeface="Arial"/>
                </a:rPr>
                <a:t>Access Equity</a:t>
              </a:r>
            </a:p>
          </p:txBody>
        </p:sp>
        <p:sp>
          <p:nvSpPr>
            <p:cNvPr id="83" name="Rectangle 83"/>
            <p:cNvSpPr/>
            <p:nvPr/>
          </p:nvSpPr>
          <p:spPr>
            <a:xfrm>
              <a:off x="6419850" y="4572000"/>
              <a:ext cx="57150" cy="57150"/>
            </a:xfrm>
            <a:prstGeom prst="roundRect">
              <a:avLst>
                <a:gd name="adj" fmla="val 50000"/>
              </a:avLst>
            </a:prstGeom>
            <a:solidFill>
              <a:srgbClr val="00796B"/>
            </a:solidFill>
            <a:ln>
              <a:noFill/>
            </a:ln>
          </p:spPr>
        </p:sp>
        <p:sp>
          <p:nvSpPr>
            <p:cNvPr id="84" name="TextBox 84"/>
            <p:cNvSpPr txBox="1"/>
            <p:nvPr/>
          </p:nvSpPr>
          <p:spPr>
            <a:xfrm>
              <a:off x="6564630" y="4495800"/>
              <a:ext cx="3945726"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AI tools concentrated in well-resourced</a:t>
              </a:r>
            </a:p>
          </p:txBody>
        </p:sp>
        <p:sp>
          <p:nvSpPr>
            <p:cNvPr id="85" name="TextBox 85"/>
            <p:cNvSpPr txBox="1"/>
            <p:nvPr/>
          </p:nvSpPr>
          <p:spPr>
            <a:xfrm>
              <a:off x="6564630" y="4705350"/>
              <a:ext cx="3761042"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systems — risk of widening disparities</a:t>
              </a:r>
            </a:p>
          </p:txBody>
        </p:sp>
        <p:sp>
          <p:nvSpPr>
            <p:cNvPr id="86" name="Rectangle 86"/>
            <p:cNvSpPr/>
            <p:nvPr/>
          </p:nvSpPr>
          <p:spPr>
            <a:xfrm>
              <a:off x="6419850" y="5010150"/>
              <a:ext cx="57150" cy="57150"/>
            </a:xfrm>
            <a:prstGeom prst="roundRect">
              <a:avLst>
                <a:gd name="adj" fmla="val 50000"/>
              </a:avLst>
            </a:prstGeom>
            <a:solidFill>
              <a:srgbClr val="00796B"/>
            </a:solidFill>
            <a:ln>
              <a:noFill/>
            </a:ln>
          </p:spPr>
        </p:sp>
        <p:sp>
          <p:nvSpPr>
            <p:cNvPr id="87" name="TextBox 87"/>
            <p:cNvSpPr txBox="1"/>
            <p:nvPr/>
          </p:nvSpPr>
          <p:spPr>
            <a:xfrm>
              <a:off x="6564630" y="4933950"/>
              <a:ext cx="346886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Low-income countries need AI most</a:t>
              </a:r>
            </a:p>
          </p:txBody>
        </p:sp>
        <p:sp>
          <p:nvSpPr>
            <p:cNvPr id="88" name="TextBox 88"/>
            <p:cNvSpPr txBox="1"/>
            <p:nvPr/>
          </p:nvSpPr>
          <p:spPr>
            <a:xfrm>
              <a:off x="6564630" y="5143500"/>
              <a:ext cx="394277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but have least infrastructure to deploy</a:t>
              </a:r>
            </a:p>
          </p:txBody>
        </p:sp>
        <p:sp>
          <p:nvSpPr>
            <p:cNvPr id="89" name="Rectangle 89"/>
            <p:cNvSpPr/>
            <p:nvPr/>
          </p:nvSpPr>
          <p:spPr>
            <a:xfrm>
              <a:off x="6419850" y="5448300"/>
              <a:ext cx="57150" cy="57150"/>
            </a:xfrm>
            <a:prstGeom prst="roundRect">
              <a:avLst>
                <a:gd name="adj" fmla="val 50000"/>
              </a:avLst>
            </a:prstGeom>
            <a:solidFill>
              <a:srgbClr val="00796B"/>
            </a:solidFill>
            <a:ln>
              <a:noFill/>
            </a:ln>
          </p:spPr>
        </p:sp>
        <p:sp>
          <p:nvSpPr>
            <p:cNvPr id="90" name="TextBox 90"/>
            <p:cNvSpPr txBox="1"/>
            <p:nvPr/>
          </p:nvSpPr>
          <p:spPr>
            <a:xfrm>
              <a:off x="6564630" y="5372100"/>
              <a:ext cx="4091109"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Solution: open-source models, federated</a:t>
              </a:r>
            </a:p>
          </p:txBody>
        </p:sp>
        <p:sp>
          <p:nvSpPr>
            <p:cNvPr id="91" name="TextBox 91"/>
            <p:cNvSpPr txBox="1"/>
            <p:nvPr/>
          </p:nvSpPr>
          <p:spPr>
            <a:xfrm>
              <a:off x="6564630" y="5581650"/>
              <a:ext cx="3609594"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learning, international partnerships</a:t>
              </a:r>
            </a:p>
          </p:txBody>
        </p:sp>
        <p:sp>
          <p:nvSpPr>
            <p:cNvPr id="92" name="TextBox 92"/>
            <p:cNvSpPr txBox="1"/>
            <p:nvPr/>
          </p:nvSpPr>
          <p:spPr>
            <a:xfrm>
              <a:off x="6566154" y="6042660"/>
              <a:ext cx="3540690"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Goal: democratize specialist-level AI globally</a:t>
              </a:r>
            </a:p>
          </p:txBody>
        </p:sp>
      </p:grpSp>
      <p:grpSp>
        <p:nvGrpSpPr>
          <p:cNvPr id="97" name="Group 97"/>
          <p:cNvGrpSpPr/>
          <p:nvPr/>
        </p:nvGrpSpPr>
        <p:grpSpPr>
          <a:xfrm>
            <a:off x="603504" y="6534150"/>
            <a:ext cx="10984992" cy="276606"/>
            <a:chOff x="603504" y="6534150"/>
            <a:chExt cx="10984992" cy="276606"/>
          </a:xfrm>
        </p:grpSpPr>
        <p:sp>
          <p:nvSpPr>
            <p:cNvPr id="94" name="Line 94"/>
            <p:cNvSpPr/>
            <p:nvPr/>
          </p:nvSpPr>
          <p:spPr>
            <a:xfrm>
              <a:off x="609600" y="653415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95" name="TextBox 95"/>
            <p:cNvSpPr txBox="1"/>
            <p:nvPr/>
          </p:nvSpPr>
          <p:spPr>
            <a:xfrm>
              <a:off x="603504" y="657606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96" name="TextBox 96"/>
            <p:cNvSpPr txBox="1"/>
            <p:nvPr/>
          </p:nvSpPr>
          <p:spPr>
            <a:xfrm>
              <a:off x="11035132" y="657606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11 / 14</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sp>
          <p:nvSpPr>
            <p:cNvPr id="4" name="Ellipse 4"/>
            <p:cNvSpPr/>
            <p:nvPr/>
          </p:nvSpPr>
          <p:spPr>
            <a:xfrm>
              <a:off x="2857500" y="190500"/>
              <a:ext cx="6477000" cy="6477000"/>
            </a:xfrm>
            <a:prstGeom prst="ellipse">
              <a:avLst/>
            </a:prstGeom>
            <a:gradFill>
              <a:gsLst>
                <a:gs pos="0">
                  <a:srgbClr val="00E5FF">
                    <a:alpha val="10000"/>
                  </a:srgbClr>
                </a:gs>
                <a:gs pos="100000">
                  <a:srgbClr val="00E5FF">
                    <a:alpha val="0"/>
                  </a:srgbClr>
                </a:gs>
              </a:gsLst>
              <a:path path="circle">
                <a:fillToRect l="50000" t="50000" r="50000" b="50000"/>
              </a:path>
            </a:gradFill>
            <a:ln>
              <a:noFill/>
            </a:ln>
          </p:spPr>
        </p:sp>
      </p:grpSp>
      <p:grpSp>
        <p:nvGrpSpPr>
          <p:cNvPr id="16" name="Group 16"/>
          <p:cNvGrpSpPr/>
          <p:nvPr/>
        </p:nvGrpSpPr>
        <p:grpSpPr>
          <a:xfrm>
            <a:off x="952500" y="962025"/>
            <a:ext cx="10287000" cy="5895975"/>
            <a:chOff x="952500" y="962025"/>
            <a:chExt cx="10287000" cy="5895975"/>
          </a:xfrm>
        </p:grpSpPr>
        <p:sp>
          <p:nvSpPr>
            <p:cNvPr id="6" name="Line 6"/>
            <p:cNvSpPr/>
            <p:nvPr/>
          </p:nvSpPr>
          <p:spPr>
            <a:xfrm>
              <a:off x="1524000" y="4000500"/>
              <a:ext cx="9525" cy="2857500"/>
            </a:xfrm>
            <a:custGeom>
              <a:avLst/>
              <a:gdLst/>
              <a:ahLst/>
              <a:cxnLst/>
              <a:rect l="l" t="t" r="r" b="b"/>
              <a:pathLst>
                <a:path w="9525" h="2857500">
                  <a:moveTo>
                    <a:pt x="0" y="2857500"/>
                  </a:moveTo>
                  <a:lnTo>
                    <a:pt x="0" y="0"/>
                  </a:lnTo>
                </a:path>
              </a:pathLst>
            </a:custGeom>
            <a:noFill/>
            <a:ln w="9525">
              <a:solidFill>
                <a:srgbClr val="00796B">
                  <a:alpha val="30000"/>
                </a:srgbClr>
              </a:solidFill>
            </a:ln>
          </p:spPr>
        </p:sp>
        <p:sp>
          <p:nvSpPr>
            <p:cNvPr id="7" name="Line 7"/>
            <p:cNvSpPr/>
            <p:nvPr/>
          </p:nvSpPr>
          <p:spPr>
            <a:xfrm>
              <a:off x="1905000" y="4572000"/>
              <a:ext cx="9525" cy="2286000"/>
            </a:xfrm>
            <a:custGeom>
              <a:avLst/>
              <a:gdLst/>
              <a:ahLst/>
              <a:cxnLst/>
              <a:rect l="l" t="t" r="r" b="b"/>
              <a:pathLst>
                <a:path w="9525" h="2286000">
                  <a:moveTo>
                    <a:pt x="0" y="2286000"/>
                  </a:moveTo>
                  <a:lnTo>
                    <a:pt x="0" y="0"/>
                  </a:lnTo>
                </a:path>
              </a:pathLst>
            </a:custGeom>
            <a:noFill/>
            <a:ln w="14288">
              <a:solidFill>
                <a:srgbClr val="00796B">
                  <a:alpha val="40000"/>
                </a:srgbClr>
              </a:solidFill>
            </a:ln>
          </p:spPr>
        </p:sp>
        <p:sp>
          <p:nvSpPr>
            <p:cNvPr id="8" name="Line 8"/>
            <p:cNvSpPr/>
            <p:nvPr/>
          </p:nvSpPr>
          <p:spPr>
            <a:xfrm>
              <a:off x="2286000" y="4953000"/>
              <a:ext cx="9525" cy="1905000"/>
            </a:xfrm>
            <a:custGeom>
              <a:avLst/>
              <a:gdLst/>
              <a:ahLst/>
              <a:cxnLst/>
              <a:rect l="l" t="t" r="r" b="b"/>
              <a:pathLst>
                <a:path w="9525" h="1905000">
                  <a:moveTo>
                    <a:pt x="0" y="1905000"/>
                  </a:moveTo>
                  <a:lnTo>
                    <a:pt x="0" y="0"/>
                  </a:lnTo>
                </a:path>
              </a:pathLst>
            </a:custGeom>
            <a:noFill/>
            <a:ln w="9525">
              <a:solidFill>
                <a:srgbClr val="00E5FF">
                  <a:alpha val="25000"/>
                </a:srgbClr>
              </a:solidFill>
            </a:ln>
          </p:spPr>
        </p:sp>
        <p:sp>
          <p:nvSpPr>
            <p:cNvPr id="9" name="Line 9"/>
            <p:cNvSpPr/>
            <p:nvPr/>
          </p:nvSpPr>
          <p:spPr>
            <a:xfrm>
              <a:off x="9906000" y="4000500"/>
              <a:ext cx="9525" cy="2857500"/>
            </a:xfrm>
            <a:custGeom>
              <a:avLst/>
              <a:gdLst/>
              <a:ahLst/>
              <a:cxnLst/>
              <a:rect l="l" t="t" r="r" b="b"/>
              <a:pathLst>
                <a:path w="9525" h="2857500">
                  <a:moveTo>
                    <a:pt x="0" y="2857500"/>
                  </a:moveTo>
                  <a:lnTo>
                    <a:pt x="0" y="0"/>
                  </a:lnTo>
                </a:path>
              </a:pathLst>
            </a:custGeom>
            <a:noFill/>
            <a:ln w="9525">
              <a:solidFill>
                <a:srgbClr val="00796B">
                  <a:alpha val="30000"/>
                </a:srgbClr>
              </a:solidFill>
            </a:ln>
          </p:spPr>
        </p:sp>
        <p:sp>
          <p:nvSpPr>
            <p:cNvPr id="10" name="Line 10"/>
            <p:cNvSpPr/>
            <p:nvPr/>
          </p:nvSpPr>
          <p:spPr>
            <a:xfrm>
              <a:off x="10287000" y="4572000"/>
              <a:ext cx="9525" cy="2286000"/>
            </a:xfrm>
            <a:custGeom>
              <a:avLst/>
              <a:gdLst/>
              <a:ahLst/>
              <a:cxnLst/>
              <a:rect l="l" t="t" r="r" b="b"/>
              <a:pathLst>
                <a:path w="9525" h="2286000">
                  <a:moveTo>
                    <a:pt x="0" y="2286000"/>
                  </a:moveTo>
                  <a:lnTo>
                    <a:pt x="0" y="0"/>
                  </a:lnTo>
                </a:path>
              </a:pathLst>
            </a:custGeom>
            <a:noFill/>
            <a:ln w="14288">
              <a:solidFill>
                <a:srgbClr val="00796B">
                  <a:alpha val="40000"/>
                </a:srgbClr>
              </a:solidFill>
            </a:ln>
          </p:spPr>
        </p:sp>
        <p:sp>
          <p:nvSpPr>
            <p:cNvPr id="11" name="Line 11"/>
            <p:cNvSpPr/>
            <p:nvPr/>
          </p:nvSpPr>
          <p:spPr>
            <a:xfrm>
              <a:off x="10668000" y="4953000"/>
              <a:ext cx="9525" cy="1905000"/>
            </a:xfrm>
            <a:custGeom>
              <a:avLst/>
              <a:gdLst/>
              <a:ahLst/>
              <a:cxnLst/>
              <a:rect l="l" t="t" r="r" b="b"/>
              <a:pathLst>
                <a:path w="9525" h="1905000">
                  <a:moveTo>
                    <a:pt x="0" y="1905000"/>
                  </a:moveTo>
                  <a:lnTo>
                    <a:pt x="0" y="0"/>
                  </a:lnTo>
                </a:path>
              </a:pathLst>
            </a:custGeom>
            <a:noFill/>
            <a:ln w="9525">
              <a:solidFill>
                <a:srgbClr val="00E5FF">
                  <a:alpha val="25000"/>
                </a:srgbClr>
              </a:solidFill>
            </a:ln>
          </p:spPr>
        </p:sp>
        <p:sp>
          <p:nvSpPr>
            <p:cNvPr id="12" name="Ellipse 12"/>
            <p:cNvSpPr/>
            <p:nvPr/>
          </p:nvSpPr>
          <p:spPr>
            <a:xfrm>
              <a:off x="1866900" y="4533900"/>
              <a:ext cx="76200" cy="76200"/>
            </a:xfrm>
            <a:prstGeom prst="ellipse">
              <a:avLst/>
            </a:prstGeom>
            <a:solidFill>
              <a:srgbClr val="00E5FF">
                <a:alpha val="70000"/>
              </a:srgbClr>
            </a:solidFill>
            <a:ln>
              <a:noFill/>
            </a:ln>
          </p:spPr>
        </p:sp>
        <p:sp>
          <p:nvSpPr>
            <p:cNvPr id="13" name="Ellipse 13"/>
            <p:cNvSpPr/>
            <p:nvPr/>
          </p:nvSpPr>
          <p:spPr>
            <a:xfrm>
              <a:off x="10248900" y="4533900"/>
              <a:ext cx="76200" cy="76200"/>
            </a:xfrm>
            <a:prstGeom prst="ellipse">
              <a:avLst/>
            </a:prstGeom>
            <a:solidFill>
              <a:srgbClr val="00E5FF">
                <a:alpha val="70000"/>
              </a:srgbClr>
            </a:solidFill>
            <a:ln>
              <a:noFill/>
            </a:ln>
          </p:spPr>
        </p:sp>
        <p:sp>
          <p:nvSpPr>
            <p:cNvPr id="14" name="Polygon 14"/>
            <p:cNvSpPr/>
            <p:nvPr/>
          </p:nvSpPr>
          <p:spPr>
            <a:xfrm>
              <a:off x="952500" y="962025"/>
              <a:ext cx="304800" cy="342900"/>
            </a:xfrm>
            <a:custGeom>
              <a:avLst/>
              <a:gdLst/>
              <a:ahLst/>
              <a:cxnLst/>
              <a:rect l="l" t="t" r="r" b="b"/>
              <a:pathLst>
                <a:path w="304800" h="342900">
                  <a:moveTo>
                    <a:pt x="0" y="85725"/>
                  </a:moveTo>
                  <a:lnTo>
                    <a:pt x="152400" y="0"/>
                  </a:lnTo>
                  <a:lnTo>
                    <a:pt x="304800" y="85725"/>
                  </a:lnTo>
                  <a:lnTo>
                    <a:pt x="304800" y="257175"/>
                  </a:lnTo>
                  <a:lnTo>
                    <a:pt x="152400" y="342900"/>
                  </a:lnTo>
                  <a:lnTo>
                    <a:pt x="0" y="257175"/>
                  </a:lnTo>
                  <a:close/>
                </a:path>
              </a:pathLst>
            </a:custGeom>
            <a:noFill/>
            <a:ln w="9525">
              <a:solidFill>
                <a:srgbClr val="00E5FF">
                  <a:alpha val="30000"/>
                </a:srgbClr>
              </a:solidFill>
            </a:ln>
          </p:spPr>
        </p:sp>
        <p:sp>
          <p:nvSpPr>
            <p:cNvPr id="15" name="Polygon 15"/>
            <p:cNvSpPr/>
            <p:nvPr/>
          </p:nvSpPr>
          <p:spPr>
            <a:xfrm>
              <a:off x="10934700" y="5457825"/>
              <a:ext cx="304800" cy="342900"/>
            </a:xfrm>
            <a:custGeom>
              <a:avLst/>
              <a:gdLst/>
              <a:ahLst/>
              <a:cxnLst/>
              <a:rect l="l" t="t" r="r" b="b"/>
              <a:pathLst>
                <a:path w="304800" h="342900">
                  <a:moveTo>
                    <a:pt x="0" y="85725"/>
                  </a:moveTo>
                  <a:lnTo>
                    <a:pt x="152400" y="0"/>
                  </a:lnTo>
                  <a:lnTo>
                    <a:pt x="304800" y="85725"/>
                  </a:lnTo>
                  <a:lnTo>
                    <a:pt x="304800" y="257175"/>
                  </a:lnTo>
                  <a:lnTo>
                    <a:pt x="152400" y="342900"/>
                  </a:lnTo>
                  <a:lnTo>
                    <a:pt x="0" y="257175"/>
                  </a:lnTo>
                  <a:close/>
                </a:path>
              </a:pathLst>
            </a:custGeom>
            <a:noFill/>
            <a:ln w="9525">
              <a:solidFill>
                <a:srgbClr val="00E5FF">
                  <a:alpha val="30000"/>
                </a:srgbClr>
              </a:solidFill>
            </a:ln>
          </p:spPr>
        </p:sp>
      </p:grpSp>
      <p:grpSp>
        <p:nvGrpSpPr>
          <p:cNvPr id="18" name="Group 18"/>
          <p:cNvGrpSpPr/>
          <p:nvPr/>
        </p:nvGrpSpPr>
        <p:grpSpPr>
          <a:xfrm>
            <a:off x="3859073" y="1371600"/>
            <a:ext cx="4473854" cy="5162550"/>
            <a:chOff x="3859073" y="1371600"/>
            <a:chExt cx="4473854" cy="5162550"/>
          </a:xfrm>
        </p:grpSpPr>
        <p:sp>
          <p:nvSpPr>
            <p:cNvPr id="17" name="TextBox 17"/>
            <p:cNvSpPr txBox="1"/>
            <p:nvPr/>
          </p:nvSpPr>
          <p:spPr>
            <a:xfrm>
              <a:off x="3859073" y="1371600"/>
              <a:ext cx="4473854" cy="5162550"/>
            </a:xfrm>
            <a:prstGeom prst="rect">
              <a:avLst/>
            </a:prstGeom>
            <a:noFill/>
            <a:ln>
              <a:noFill/>
            </a:ln>
          </p:spPr>
          <p:txBody>
            <a:bodyPr wrap="none" lIns="0" tIns="0" rIns="0" bIns="0" anchor="t" anchorCtr="0">
              <a:spAutoFit/>
            </a:bodyPr>
            <a:lstStyle/>
            <a:p>
              <a:pPr algn="ctr"/>
              <a:r>
                <a:rPr lang="en-US" sz="27000" b="1" dirty="0">
                  <a:solidFill>
                    <a:srgbClr val="00796B">
                      <a:alphaMod val="4000"/>
                    </a:srgbClr>
                  </a:solidFill>
                  <a:latin typeface="Georgia"/>
                  <a:ea typeface="Georgia"/>
                  <a:cs typeface="Georgia"/>
                </a:rPr>
                <a:t>03</a:t>
              </a:r>
            </a:p>
          </p:txBody>
        </p:sp>
      </p:grpSp>
      <p:grpSp>
        <p:nvGrpSpPr>
          <p:cNvPr id="34" name="Group 34"/>
          <p:cNvGrpSpPr/>
          <p:nvPr/>
        </p:nvGrpSpPr>
        <p:grpSpPr>
          <a:xfrm>
            <a:off x="1600200" y="2327910"/>
            <a:ext cx="8991600" cy="2510790"/>
            <a:chOff x="1600200" y="2327910"/>
            <a:chExt cx="8991600" cy="2510790"/>
          </a:xfrm>
        </p:grpSpPr>
        <p:sp>
          <p:nvSpPr>
            <p:cNvPr id="19" name="TextBox 19"/>
            <p:cNvSpPr txBox="1"/>
            <p:nvPr/>
          </p:nvSpPr>
          <p:spPr>
            <a:xfrm>
              <a:off x="5383682" y="2327910"/>
              <a:ext cx="1424635" cy="234696"/>
            </a:xfrm>
            <a:prstGeom prst="rect">
              <a:avLst/>
            </a:prstGeom>
            <a:noFill/>
            <a:ln>
              <a:noFill/>
            </a:ln>
          </p:spPr>
          <p:txBody>
            <a:bodyPr wrap="none" lIns="0" tIns="0" rIns="0" bIns="0" anchor="t" anchorCtr="0">
              <a:spAutoFit/>
            </a:bodyPr>
            <a:lstStyle/>
            <a:p>
              <a:pPr algn="ctr"/>
              <a:r>
                <a:rPr lang="en-US" sz="1200" b="1" spc="300" dirty="0">
                  <a:solidFill>
                    <a:srgbClr val="00E5FF">
                      <a:alphaMod val="80000"/>
                    </a:srgbClr>
                  </a:solidFill>
                  <a:latin typeface="Arial"/>
                  <a:ea typeface="Arial"/>
                  <a:cs typeface="Arial"/>
                </a:rPr>
                <a:t>PART 4 OF 4</a:t>
              </a:r>
            </a:p>
          </p:txBody>
        </p:sp>
        <p:sp>
          <p:nvSpPr>
            <p:cNvPr id="20" name="Rectangle 20"/>
            <p:cNvSpPr/>
            <p:nvPr/>
          </p:nvSpPr>
          <p:spPr>
            <a:xfrm>
              <a:off x="5143500" y="2590800"/>
              <a:ext cx="1905000" cy="19050"/>
            </a:xfrm>
            <a:prstGeom prst="roundRect">
              <a:avLst>
                <a:gd name="adj" fmla="val 50000"/>
              </a:avLst>
            </a:prstGeom>
            <a:gradFill>
              <a:gsLst>
                <a:gs pos="0">
                  <a:srgbClr val="00796B"/>
                </a:gs>
                <a:gs pos="100000">
                  <a:srgbClr val="00E5FF"/>
                </a:gs>
              </a:gsLst>
              <a:lin ang="0" scaled="1"/>
            </a:gradFill>
            <a:ln>
              <a:noFill/>
            </a:ln>
          </p:spPr>
        </p:sp>
        <p:sp>
          <p:nvSpPr>
            <p:cNvPr id="21" name="TextBox 21"/>
            <p:cNvSpPr txBox="1"/>
            <p:nvPr/>
          </p:nvSpPr>
          <p:spPr>
            <a:xfrm>
              <a:off x="3018008" y="2731770"/>
              <a:ext cx="6155985" cy="1047750"/>
            </a:xfrm>
            <a:prstGeom prst="rect">
              <a:avLst/>
            </a:prstGeom>
            <a:noFill/>
            <a:ln>
              <a:noFill/>
            </a:ln>
          </p:spPr>
          <p:txBody>
            <a:bodyPr wrap="none" lIns="0" tIns="0" rIns="0" bIns="0" anchor="t" anchorCtr="0">
              <a:spAutoFit/>
            </a:bodyPr>
            <a:lstStyle/>
            <a:p>
              <a:pPr algn="ctr"/>
              <a:r>
                <a:rPr lang="en-US" sz="5400" b="1" dirty="0">
                  <a:solidFill>
                    <a:srgbClr val="E8F5E9"/>
                  </a:solidFill>
                  <a:latin typeface="Georgia"/>
                  <a:ea typeface="Georgia"/>
                  <a:cs typeface="Georgia"/>
                </a:rPr>
                <a:t>The Road Ahead</a:t>
              </a:r>
            </a:p>
          </p:txBody>
        </p:sp>
        <p:sp>
          <p:nvSpPr>
            <p:cNvPr id="22" name="TextBox 22"/>
            <p:cNvSpPr txBox="1"/>
            <p:nvPr/>
          </p:nvSpPr>
          <p:spPr>
            <a:xfrm>
              <a:off x="1950518" y="3627120"/>
              <a:ext cx="8290964" cy="469392"/>
            </a:xfrm>
            <a:prstGeom prst="rect">
              <a:avLst/>
            </a:prstGeom>
            <a:noFill/>
            <a:ln>
              <a:noFill/>
            </a:ln>
          </p:spPr>
          <p:txBody>
            <a:bodyPr wrap="none" lIns="0" tIns="0" rIns="0" bIns="0" anchor="t" anchorCtr="0">
              <a:spAutoFit/>
            </a:bodyPr>
            <a:lstStyle/>
            <a:p>
              <a:pPr algn="ctr"/>
              <a:r>
                <a:rPr lang="en-US" sz="2400" dirty="0">
                  <a:solidFill>
                    <a:srgbClr val="90A4AE"/>
                  </a:solidFill>
                  <a:latin typeface="Arial"/>
                  <a:ea typeface="Arial"/>
                  <a:cs typeface="Arial"/>
                </a:rPr>
                <a:t>From today's tools to tomorrow's standard of care</a:t>
              </a:r>
            </a:p>
          </p:txBody>
        </p:sp>
        <p:sp>
          <p:nvSpPr>
            <p:cNvPr id="23" name="Rectangle 23"/>
            <p:cNvSpPr/>
            <p:nvPr/>
          </p:nvSpPr>
          <p:spPr>
            <a:xfrm>
              <a:off x="5143500" y="4076700"/>
              <a:ext cx="1905000" cy="19050"/>
            </a:xfrm>
            <a:prstGeom prst="roundRect">
              <a:avLst>
                <a:gd name="adj" fmla="val 50000"/>
              </a:avLst>
            </a:prstGeom>
            <a:gradFill>
              <a:gsLst>
                <a:gs pos="0">
                  <a:srgbClr val="00796B"/>
                </a:gs>
                <a:gs pos="100000">
                  <a:srgbClr val="00E5FF"/>
                </a:gs>
              </a:gsLst>
              <a:lin ang="0" scaled="1"/>
            </a:gradFill>
            <a:ln>
              <a:noFill/>
            </a:ln>
          </p:spPr>
        </p:sp>
        <p:sp>
          <p:nvSpPr>
            <p:cNvPr id="24" name="Rectangle 24"/>
            <p:cNvSpPr/>
            <p:nvPr/>
          </p:nvSpPr>
          <p:spPr>
            <a:xfrm>
              <a:off x="1600200" y="4419600"/>
              <a:ext cx="2514600" cy="419100"/>
            </a:xfrm>
            <a:prstGeom prst="roundRect">
              <a:avLst>
                <a:gd name="adj" fmla="val 50000"/>
              </a:avLst>
            </a:prstGeom>
            <a:solidFill>
              <a:srgbClr val="161B22"/>
            </a:solidFill>
            <a:ln w="9525">
              <a:solidFill>
                <a:srgbClr val="263238"/>
              </a:solidFill>
            </a:ln>
          </p:spPr>
        </p:sp>
        <p:sp>
          <p:nvSpPr>
            <p:cNvPr id="25" name="TextBox 25"/>
            <p:cNvSpPr txBox="1"/>
            <p:nvPr/>
          </p:nvSpPr>
          <p:spPr>
            <a:xfrm>
              <a:off x="1999586" y="4531042"/>
              <a:ext cx="1715829" cy="264033"/>
            </a:xfrm>
            <a:prstGeom prst="rect">
              <a:avLst/>
            </a:prstGeom>
            <a:noFill/>
            <a:ln>
              <a:noFill/>
            </a:ln>
          </p:spPr>
          <p:txBody>
            <a:bodyPr wrap="none" lIns="0" tIns="0" rIns="0" bIns="0" anchor="t" anchorCtr="0">
              <a:spAutoFit/>
            </a:bodyPr>
            <a:lstStyle/>
            <a:p>
              <a:pPr algn="ctr"/>
              <a:r>
                <a:rPr lang="en-US" sz="1350" dirty="0">
                  <a:solidFill>
                    <a:srgbClr val="26A69A"/>
                  </a:solidFill>
                  <a:latin typeface="Arial"/>
                  <a:ea typeface="Arial"/>
                  <a:cs typeface="Arial"/>
                </a:rPr>
                <a:t>Near-term 2024-27</a:t>
              </a:r>
            </a:p>
          </p:txBody>
        </p:sp>
        <p:sp>
          <p:nvSpPr>
            <p:cNvPr id="26" name="Rectangle 26"/>
            <p:cNvSpPr/>
            <p:nvPr/>
          </p:nvSpPr>
          <p:spPr>
            <a:xfrm>
              <a:off x="4838700" y="4419600"/>
              <a:ext cx="2514600" cy="419100"/>
            </a:xfrm>
            <a:prstGeom prst="roundRect">
              <a:avLst>
                <a:gd name="adj" fmla="val 50000"/>
              </a:avLst>
            </a:prstGeom>
            <a:solidFill>
              <a:srgbClr val="161B22"/>
            </a:solidFill>
            <a:ln w="9525">
              <a:solidFill>
                <a:srgbClr val="263238"/>
              </a:solidFill>
            </a:ln>
          </p:spPr>
        </p:sp>
        <p:sp>
          <p:nvSpPr>
            <p:cNvPr id="27" name="TextBox 27"/>
            <p:cNvSpPr txBox="1"/>
            <p:nvPr/>
          </p:nvSpPr>
          <p:spPr>
            <a:xfrm>
              <a:off x="5292193" y="4531042"/>
              <a:ext cx="1607613" cy="264033"/>
            </a:xfrm>
            <a:prstGeom prst="rect">
              <a:avLst/>
            </a:prstGeom>
            <a:noFill/>
            <a:ln>
              <a:noFill/>
            </a:ln>
          </p:spPr>
          <p:txBody>
            <a:bodyPr wrap="none" lIns="0" tIns="0" rIns="0" bIns="0" anchor="t" anchorCtr="0">
              <a:spAutoFit/>
            </a:bodyPr>
            <a:lstStyle/>
            <a:p>
              <a:pPr algn="ctr"/>
              <a:r>
                <a:rPr lang="en-US" sz="1350" dirty="0">
                  <a:solidFill>
                    <a:srgbClr val="00E5FF"/>
                  </a:solidFill>
                  <a:latin typeface="Arial"/>
                  <a:ea typeface="Arial"/>
                  <a:cs typeface="Arial"/>
                </a:rPr>
                <a:t>Mid-term 2027-32</a:t>
              </a:r>
            </a:p>
          </p:txBody>
        </p:sp>
        <p:sp>
          <p:nvSpPr>
            <p:cNvPr id="28" name="Rectangle 28"/>
            <p:cNvSpPr/>
            <p:nvPr/>
          </p:nvSpPr>
          <p:spPr>
            <a:xfrm>
              <a:off x="8077200" y="4419600"/>
              <a:ext cx="2514600" cy="419100"/>
            </a:xfrm>
            <a:prstGeom prst="roundRect">
              <a:avLst>
                <a:gd name="adj" fmla="val 50000"/>
              </a:avLst>
            </a:prstGeom>
            <a:solidFill>
              <a:srgbClr val="161B22"/>
            </a:solidFill>
            <a:ln w="9525">
              <a:solidFill>
                <a:srgbClr val="263238"/>
              </a:solidFill>
            </a:ln>
          </p:spPr>
        </p:sp>
        <p:sp>
          <p:nvSpPr>
            <p:cNvPr id="29" name="TextBox 29"/>
            <p:cNvSpPr txBox="1"/>
            <p:nvPr/>
          </p:nvSpPr>
          <p:spPr>
            <a:xfrm>
              <a:off x="8577248" y="4531042"/>
              <a:ext cx="1514504" cy="264033"/>
            </a:xfrm>
            <a:prstGeom prst="rect">
              <a:avLst/>
            </a:prstGeom>
            <a:noFill/>
            <a:ln>
              <a:noFill/>
            </a:ln>
          </p:spPr>
          <p:txBody>
            <a:bodyPr wrap="none" lIns="0" tIns="0" rIns="0" bIns="0" anchor="t" anchorCtr="0">
              <a:spAutoFit/>
            </a:bodyPr>
            <a:lstStyle/>
            <a:p>
              <a:pPr algn="ctr"/>
              <a:r>
                <a:rPr lang="en-US" sz="1350" dirty="0">
                  <a:solidFill>
                    <a:srgbClr val="00796B"/>
                  </a:solidFill>
                  <a:latin typeface="Arial"/>
                  <a:ea typeface="Arial"/>
                  <a:cs typeface="Arial"/>
                </a:rPr>
                <a:t>Long-term 2032+</a:t>
              </a:r>
            </a:p>
          </p:txBody>
        </p:sp>
        <p:sp>
          <p:nvSpPr>
            <p:cNvPr id="30" name="Line 30"/>
            <p:cNvSpPr/>
            <p:nvPr/>
          </p:nvSpPr>
          <p:spPr>
            <a:xfrm>
              <a:off x="4114800" y="4629150"/>
              <a:ext cx="704850" cy="9525"/>
            </a:xfrm>
            <a:custGeom>
              <a:avLst/>
              <a:gdLst/>
              <a:ahLst/>
              <a:cxnLst/>
              <a:rect l="l" t="t" r="r" b="b"/>
              <a:pathLst>
                <a:path w="704850" h="9525">
                  <a:moveTo>
                    <a:pt x="0" y="0"/>
                  </a:moveTo>
                  <a:lnTo>
                    <a:pt x="704850" y="0"/>
                  </a:lnTo>
                </a:path>
              </a:pathLst>
            </a:custGeom>
            <a:noFill/>
            <a:ln w="14288">
              <a:solidFill>
                <a:srgbClr val="263238"/>
              </a:solidFill>
            </a:ln>
          </p:spPr>
        </p:sp>
        <p:sp>
          <p:nvSpPr>
            <p:cNvPr id="31" name="Polygon 31"/>
            <p:cNvSpPr/>
            <p:nvPr/>
          </p:nvSpPr>
          <p:spPr>
            <a:xfrm>
              <a:off x="4800600" y="4581525"/>
              <a:ext cx="38100" cy="95250"/>
            </a:xfrm>
            <a:custGeom>
              <a:avLst/>
              <a:gdLst/>
              <a:ahLst/>
              <a:cxnLst/>
              <a:rect l="l" t="t" r="r" b="b"/>
              <a:pathLst>
                <a:path w="38100" h="95250">
                  <a:moveTo>
                    <a:pt x="0" y="0"/>
                  </a:moveTo>
                  <a:lnTo>
                    <a:pt x="38100" y="47625"/>
                  </a:lnTo>
                  <a:lnTo>
                    <a:pt x="0" y="95250"/>
                  </a:lnTo>
                  <a:close/>
                </a:path>
              </a:pathLst>
            </a:custGeom>
            <a:solidFill>
              <a:srgbClr val="263238"/>
            </a:solidFill>
            <a:ln>
              <a:noFill/>
            </a:ln>
          </p:spPr>
        </p:sp>
        <p:sp>
          <p:nvSpPr>
            <p:cNvPr id="32" name="Line 32"/>
            <p:cNvSpPr/>
            <p:nvPr/>
          </p:nvSpPr>
          <p:spPr>
            <a:xfrm>
              <a:off x="7353300" y="4629150"/>
              <a:ext cx="704850" cy="9525"/>
            </a:xfrm>
            <a:custGeom>
              <a:avLst/>
              <a:gdLst/>
              <a:ahLst/>
              <a:cxnLst/>
              <a:rect l="l" t="t" r="r" b="b"/>
              <a:pathLst>
                <a:path w="704850" h="9525">
                  <a:moveTo>
                    <a:pt x="0" y="0"/>
                  </a:moveTo>
                  <a:lnTo>
                    <a:pt x="704850" y="0"/>
                  </a:lnTo>
                </a:path>
              </a:pathLst>
            </a:custGeom>
            <a:noFill/>
            <a:ln w="14288">
              <a:solidFill>
                <a:srgbClr val="263238"/>
              </a:solidFill>
            </a:ln>
          </p:spPr>
        </p:sp>
        <p:sp>
          <p:nvSpPr>
            <p:cNvPr id="33" name="Polygon 33"/>
            <p:cNvSpPr/>
            <p:nvPr/>
          </p:nvSpPr>
          <p:spPr>
            <a:xfrm>
              <a:off x="8039100" y="4581525"/>
              <a:ext cx="38100" cy="95250"/>
            </a:xfrm>
            <a:custGeom>
              <a:avLst/>
              <a:gdLst/>
              <a:ahLst/>
              <a:cxnLst/>
              <a:rect l="l" t="t" r="r" b="b"/>
              <a:pathLst>
                <a:path w="38100" h="95250">
                  <a:moveTo>
                    <a:pt x="0" y="0"/>
                  </a:moveTo>
                  <a:lnTo>
                    <a:pt x="38100" y="47625"/>
                  </a:lnTo>
                  <a:lnTo>
                    <a:pt x="0" y="95250"/>
                  </a:lnTo>
                  <a:close/>
                </a:path>
              </a:pathLst>
            </a:custGeom>
            <a:solidFill>
              <a:srgbClr val="263238"/>
            </a:solidFill>
            <a:ln>
              <a:noFill/>
            </a:ln>
          </p:spPr>
        </p:sp>
      </p:grpSp>
      <p:grpSp>
        <p:nvGrpSpPr>
          <p:cNvPr id="38" name="Group 38"/>
          <p:cNvGrpSpPr/>
          <p:nvPr/>
        </p:nvGrpSpPr>
        <p:grpSpPr>
          <a:xfrm>
            <a:off x="603504" y="6591300"/>
            <a:ext cx="10984992" cy="276606"/>
            <a:chOff x="603504" y="6591300"/>
            <a:chExt cx="10984992" cy="276606"/>
          </a:xfrm>
        </p:grpSpPr>
        <p:sp>
          <p:nvSpPr>
            <p:cNvPr id="35" name="Line 35"/>
            <p:cNvSpPr/>
            <p:nvPr/>
          </p:nvSpPr>
          <p:spPr>
            <a:xfrm>
              <a:off x="609600" y="659130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36" name="TextBox 36"/>
            <p:cNvSpPr txBox="1"/>
            <p:nvPr/>
          </p:nvSpPr>
          <p:spPr>
            <a:xfrm>
              <a:off x="603504" y="66332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37" name="TextBox 37"/>
            <p:cNvSpPr txBox="1"/>
            <p:nvPr/>
          </p:nvSpPr>
          <p:spPr>
            <a:xfrm>
              <a:off x="11035132" y="66332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12 / 14</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grpSp>
      <p:grpSp>
        <p:nvGrpSpPr>
          <p:cNvPr id="9" name="Group 9"/>
          <p:cNvGrpSpPr/>
          <p:nvPr/>
        </p:nvGrpSpPr>
        <p:grpSpPr>
          <a:xfrm>
            <a:off x="609600" y="158115"/>
            <a:ext cx="13204640" cy="803910"/>
            <a:chOff x="609600" y="158115"/>
            <a:chExt cx="13204640" cy="803910"/>
          </a:xfrm>
        </p:grpSpPr>
        <p:sp>
          <p:nvSpPr>
            <p:cNvPr id="5" name="Rectangle 5"/>
            <p:cNvSpPr/>
            <p:nvPr/>
          </p:nvSpPr>
          <p:spPr>
            <a:xfrm>
              <a:off x="609600" y="228600"/>
              <a:ext cx="38100" cy="533400"/>
            </a:xfrm>
            <a:prstGeom prst="roundRect">
              <a:avLst>
                <a:gd name="adj" fmla="val 50000"/>
              </a:avLst>
            </a:prstGeom>
            <a:gradFill>
              <a:gsLst>
                <a:gs pos="0">
                  <a:srgbClr val="00796B"/>
                </a:gs>
                <a:gs pos="100000">
                  <a:srgbClr val="00E5FF"/>
                </a:gs>
              </a:gsLst>
              <a:lin ang="0" scaled="1"/>
            </a:gradFill>
            <a:ln>
              <a:noFill/>
            </a:ln>
          </p:spPr>
        </p:sp>
        <p:sp>
          <p:nvSpPr>
            <p:cNvPr id="6" name="TextBox 6"/>
            <p:cNvSpPr txBox="1"/>
            <p:nvPr/>
          </p:nvSpPr>
          <p:spPr>
            <a:xfrm>
              <a:off x="783336" y="158115"/>
              <a:ext cx="13030904" cy="645414"/>
            </a:xfrm>
            <a:prstGeom prst="rect">
              <a:avLst/>
            </a:prstGeom>
            <a:noFill/>
            <a:ln>
              <a:noFill/>
            </a:ln>
          </p:spPr>
          <p:txBody>
            <a:bodyPr wrap="none" lIns="0" tIns="0" rIns="0" bIns="0" anchor="t" anchorCtr="0">
              <a:spAutoFit/>
            </a:bodyPr>
            <a:lstStyle/>
            <a:p>
              <a:pPr algn="l"/>
              <a:r>
                <a:rPr lang="en-US" sz="3300" b="1" dirty="0">
                  <a:solidFill>
                    <a:srgbClr val="E8F5E9"/>
                  </a:solidFill>
                  <a:latin typeface="Georgia"/>
                  <a:ea typeface="Georgia"/>
                  <a:cs typeface="Georgia"/>
                </a:rPr>
                <a:t>From Today's Tools to Tomorrow's Standard of Care</a:t>
              </a:r>
            </a:p>
          </p:txBody>
        </p:sp>
        <p:sp>
          <p:nvSpPr>
            <p:cNvPr id="7" name="TextBox 7"/>
            <p:cNvSpPr txBox="1"/>
            <p:nvPr/>
          </p:nvSpPr>
          <p:spPr>
            <a:xfrm>
              <a:off x="792480" y="638175"/>
              <a:ext cx="9903085"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AI in healthcare follows a 3-horizon roadmap — leading organizations act on all three simultaneously.</a:t>
              </a:r>
            </a:p>
          </p:txBody>
        </p:sp>
        <p:sp>
          <p:nvSpPr>
            <p:cNvPr id="8" name="Line 8"/>
            <p:cNvSpPr/>
            <p:nvPr/>
          </p:nvSpPr>
          <p:spPr>
            <a:xfrm>
              <a:off x="609600" y="952500"/>
              <a:ext cx="10972800" cy="9525"/>
            </a:xfrm>
            <a:custGeom>
              <a:avLst/>
              <a:gdLst/>
              <a:ahLst/>
              <a:cxnLst/>
              <a:rect l="l" t="t" r="r" b="b"/>
              <a:pathLst>
                <a:path w="10972800" h="9525">
                  <a:moveTo>
                    <a:pt x="0" y="0"/>
                  </a:moveTo>
                  <a:lnTo>
                    <a:pt x="10972800" y="0"/>
                  </a:lnTo>
                </a:path>
              </a:pathLst>
            </a:custGeom>
            <a:noFill/>
            <a:ln w="9525">
              <a:solidFill>
                <a:srgbClr val="263238"/>
              </a:solidFill>
            </a:ln>
          </p:spPr>
        </p:sp>
      </p:grpSp>
      <p:grpSp>
        <p:nvGrpSpPr>
          <p:cNvPr id="26" name="Group 26"/>
          <p:cNvGrpSpPr/>
          <p:nvPr/>
        </p:nvGrpSpPr>
        <p:grpSpPr>
          <a:xfrm>
            <a:off x="609600" y="1085850"/>
            <a:ext cx="10972800" cy="1657350"/>
            <a:chOff x="609600" y="1085850"/>
            <a:chExt cx="10972800" cy="1657350"/>
          </a:xfrm>
        </p:grpSpPr>
        <p:sp>
          <p:nvSpPr>
            <p:cNvPr id="10" name="Rectangle 10"/>
            <p:cNvSpPr/>
            <p:nvPr/>
          </p:nvSpPr>
          <p:spPr>
            <a:xfrm>
              <a:off x="609600" y="1085850"/>
              <a:ext cx="10972800" cy="1657350"/>
            </a:xfrm>
            <a:prstGeom prst="roundRect">
              <a:avLst>
                <a:gd name="adj" fmla="val 4598"/>
              </a:avLst>
            </a:prstGeom>
            <a:solidFill>
              <a:srgbClr val="161B22"/>
            </a:solidFill>
            <a:ln>
              <a:noFill/>
            </a:ln>
          </p:spPr>
        </p:sp>
        <p:sp>
          <p:nvSpPr>
            <p:cNvPr id="11" name="Rectangle 11"/>
            <p:cNvSpPr/>
            <p:nvPr/>
          </p:nvSpPr>
          <p:spPr>
            <a:xfrm>
              <a:off x="609600" y="1085850"/>
              <a:ext cx="76200" cy="1657350"/>
            </a:xfrm>
            <a:prstGeom prst="roundRect">
              <a:avLst>
                <a:gd name="adj" fmla="val 50000"/>
              </a:avLst>
            </a:prstGeom>
            <a:solidFill>
              <a:srgbClr val="4CAF50"/>
            </a:solidFill>
            <a:ln>
              <a:noFill/>
            </a:ln>
          </p:spPr>
        </p:sp>
        <p:sp>
          <p:nvSpPr>
            <p:cNvPr id="12" name="Rectangle 12"/>
            <p:cNvSpPr/>
            <p:nvPr/>
          </p:nvSpPr>
          <p:spPr>
            <a:xfrm>
              <a:off x="685800" y="1085850"/>
              <a:ext cx="10896600" cy="495300"/>
            </a:xfrm>
            <a:prstGeom prst="roundRect">
              <a:avLst>
                <a:gd name="adj" fmla="val 15385"/>
              </a:avLst>
            </a:prstGeom>
            <a:solidFill>
              <a:srgbClr val="1C2333"/>
            </a:solidFill>
            <a:ln>
              <a:noFill/>
            </a:ln>
          </p:spPr>
        </p:sp>
        <p:sp>
          <p:nvSpPr>
            <p:cNvPr id="13" name="Ellipse 13"/>
            <p:cNvSpPr/>
            <p:nvPr/>
          </p:nvSpPr>
          <p:spPr>
            <a:xfrm>
              <a:off x="914400" y="1181100"/>
              <a:ext cx="304800" cy="304800"/>
            </a:xfrm>
            <a:prstGeom prst="ellipse">
              <a:avLst/>
            </a:prstGeom>
            <a:solidFill>
              <a:srgbClr val="4CAF50">
                <a:alpha val="20000"/>
              </a:srgbClr>
            </a:solidFill>
            <a:ln w="14288">
              <a:solidFill>
                <a:srgbClr val="4CAF50"/>
              </a:solidFill>
            </a:ln>
          </p:spPr>
        </p:sp>
        <p:sp>
          <p:nvSpPr>
            <p:cNvPr id="14" name="TextBox 14"/>
            <p:cNvSpPr txBox="1"/>
            <p:nvPr/>
          </p:nvSpPr>
          <p:spPr>
            <a:xfrm>
              <a:off x="1004495" y="1244918"/>
              <a:ext cx="124610" cy="264033"/>
            </a:xfrm>
            <a:prstGeom prst="rect">
              <a:avLst/>
            </a:prstGeom>
            <a:noFill/>
            <a:ln>
              <a:noFill/>
            </a:ln>
          </p:spPr>
          <p:txBody>
            <a:bodyPr wrap="none" lIns="0" tIns="0" rIns="0" bIns="0" anchor="t" anchorCtr="0">
              <a:spAutoFit/>
            </a:bodyPr>
            <a:lstStyle/>
            <a:p>
              <a:pPr algn="ctr"/>
              <a:r>
                <a:rPr lang="en-US" sz="1350" b="1" dirty="0">
                  <a:solidFill>
                    <a:srgbClr val="4CAF50"/>
                  </a:solidFill>
                  <a:latin typeface="Georgia"/>
                  <a:ea typeface="Georgia"/>
                  <a:cs typeface="Georgia"/>
                </a:rPr>
                <a:t>1</a:t>
              </a:r>
            </a:p>
          </p:txBody>
        </p:sp>
        <p:sp>
          <p:nvSpPr>
            <p:cNvPr id="15" name="TextBox 15"/>
            <p:cNvSpPr txBox="1"/>
            <p:nvPr/>
          </p:nvSpPr>
          <p:spPr>
            <a:xfrm>
              <a:off x="1361694" y="1180148"/>
              <a:ext cx="5475658" cy="381381"/>
            </a:xfrm>
            <a:prstGeom prst="rect">
              <a:avLst/>
            </a:prstGeom>
            <a:noFill/>
            <a:ln>
              <a:noFill/>
            </a:ln>
          </p:spPr>
          <p:txBody>
            <a:bodyPr wrap="none" lIns="0" tIns="0" rIns="0" bIns="0" anchor="t" anchorCtr="0">
              <a:spAutoFit/>
            </a:bodyPr>
            <a:lstStyle/>
            <a:p>
              <a:pPr algn="l"/>
              <a:r>
                <a:rPr lang="en-US" sz="1950" b="1" dirty="0">
                  <a:solidFill>
                    <a:srgbClr val="4CAF50"/>
                  </a:solidFill>
                  <a:latin typeface="Georgia"/>
                  <a:ea typeface="Georgia"/>
                  <a:cs typeface="Georgia"/>
                </a:rPr>
                <a:t>Near-term 2024-2027 — Deploying Now</a:t>
              </a:r>
            </a:p>
          </p:txBody>
        </p:sp>
        <p:sp>
          <p:nvSpPr>
            <p:cNvPr id="16" name="Rectangle 16"/>
            <p:cNvSpPr/>
            <p:nvPr/>
          </p:nvSpPr>
          <p:spPr>
            <a:xfrm>
              <a:off x="8572500" y="1162050"/>
              <a:ext cx="1905000" cy="266700"/>
            </a:xfrm>
            <a:prstGeom prst="roundRect">
              <a:avLst>
                <a:gd name="adj" fmla="val 14286"/>
              </a:avLst>
            </a:prstGeom>
            <a:solidFill>
              <a:srgbClr val="4CAF50">
                <a:alpha val="15000"/>
              </a:srgbClr>
            </a:solidFill>
            <a:ln>
              <a:noFill/>
            </a:ln>
          </p:spPr>
        </p:sp>
        <p:sp>
          <p:nvSpPr>
            <p:cNvPr id="17" name="TextBox 17"/>
            <p:cNvSpPr txBox="1"/>
            <p:nvPr/>
          </p:nvSpPr>
          <p:spPr>
            <a:xfrm>
              <a:off x="9186062" y="1213485"/>
              <a:ext cx="677875" cy="234696"/>
            </a:xfrm>
            <a:prstGeom prst="rect">
              <a:avLst/>
            </a:prstGeom>
            <a:noFill/>
            <a:ln>
              <a:noFill/>
            </a:ln>
          </p:spPr>
          <p:txBody>
            <a:bodyPr wrap="none" lIns="0" tIns="0" rIns="0" bIns="0" anchor="t" anchorCtr="0">
              <a:spAutoFit/>
            </a:bodyPr>
            <a:lstStyle/>
            <a:p>
              <a:pPr algn="ctr"/>
              <a:r>
                <a:rPr lang="en-US" sz="1200" dirty="0">
                  <a:solidFill>
                    <a:srgbClr val="4CAF50"/>
                  </a:solidFill>
                  <a:latin typeface="Arial"/>
                  <a:ea typeface="Arial"/>
                  <a:cs typeface="Arial"/>
                </a:rPr>
                <a:t>● ACTIVE</a:t>
              </a:r>
            </a:p>
          </p:txBody>
        </p:sp>
        <p:sp>
          <p:nvSpPr>
            <p:cNvPr id="18" name="Rectangle 18"/>
            <p:cNvSpPr/>
            <p:nvPr/>
          </p:nvSpPr>
          <p:spPr>
            <a:xfrm>
              <a:off x="838200" y="1733550"/>
              <a:ext cx="57150" cy="57150"/>
            </a:xfrm>
            <a:prstGeom prst="roundRect">
              <a:avLst>
                <a:gd name="adj" fmla="val 50000"/>
              </a:avLst>
            </a:prstGeom>
            <a:solidFill>
              <a:srgbClr val="4CAF50"/>
            </a:solidFill>
            <a:ln>
              <a:noFill/>
            </a:ln>
          </p:spPr>
        </p:sp>
        <p:sp>
          <p:nvSpPr>
            <p:cNvPr id="19" name="TextBox 19"/>
            <p:cNvSpPr txBox="1"/>
            <p:nvPr/>
          </p:nvSpPr>
          <p:spPr>
            <a:xfrm>
              <a:off x="982980" y="1657350"/>
              <a:ext cx="5008874" cy="293370"/>
            </a:xfrm>
            <a:prstGeom prst="rect">
              <a:avLst/>
            </a:prstGeom>
            <a:noFill/>
            <a:ln>
              <a:noFill/>
            </a:ln>
          </p:spPr>
          <p:txBody>
            <a:bodyPr wrap="none" lIns="0" tIns="0" rIns="0" bIns="0" anchor="t" anchorCtr="0">
              <a:spAutoFit/>
            </a:bodyPr>
            <a:lstStyle/>
            <a:p>
              <a:pPr algn="l"/>
              <a:r>
                <a:rPr lang="en-US" sz="1500" dirty="0">
                  <a:solidFill>
                    <a:srgbClr val="E8F5E9"/>
                  </a:solidFill>
                  <a:latin typeface="Arial"/>
                  <a:ea typeface="Arial"/>
                  <a:cs typeface="Arial"/>
                </a:rPr>
                <a:t>Foundation models / LLMs in clinical documentation</a:t>
              </a:r>
            </a:p>
          </p:txBody>
        </p:sp>
        <p:sp>
          <p:nvSpPr>
            <p:cNvPr id="20" name="Rectangle 20"/>
            <p:cNvSpPr/>
            <p:nvPr/>
          </p:nvSpPr>
          <p:spPr>
            <a:xfrm>
              <a:off x="4000500" y="1733550"/>
              <a:ext cx="57150" cy="57150"/>
            </a:xfrm>
            <a:prstGeom prst="roundRect">
              <a:avLst>
                <a:gd name="adj" fmla="val 50000"/>
              </a:avLst>
            </a:prstGeom>
            <a:solidFill>
              <a:srgbClr val="4CAF50"/>
            </a:solidFill>
            <a:ln>
              <a:noFill/>
            </a:ln>
          </p:spPr>
        </p:sp>
        <p:sp>
          <p:nvSpPr>
            <p:cNvPr id="21" name="TextBox 21"/>
            <p:cNvSpPr txBox="1"/>
            <p:nvPr/>
          </p:nvSpPr>
          <p:spPr>
            <a:xfrm>
              <a:off x="4145280" y="1657350"/>
              <a:ext cx="3552215"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AI-assisted triage for primary care</a:t>
              </a:r>
            </a:p>
          </p:txBody>
        </p:sp>
        <p:sp>
          <p:nvSpPr>
            <p:cNvPr id="22" name="Rectangle 22"/>
            <p:cNvSpPr/>
            <p:nvPr/>
          </p:nvSpPr>
          <p:spPr>
            <a:xfrm>
              <a:off x="838200" y="2133600"/>
              <a:ext cx="57150" cy="57150"/>
            </a:xfrm>
            <a:prstGeom prst="roundRect">
              <a:avLst>
                <a:gd name="adj" fmla="val 50000"/>
              </a:avLst>
            </a:prstGeom>
            <a:solidFill>
              <a:srgbClr val="4CAF50"/>
            </a:solidFill>
            <a:ln>
              <a:noFill/>
            </a:ln>
          </p:spPr>
        </p:sp>
        <p:sp>
          <p:nvSpPr>
            <p:cNvPr id="23" name="TextBox 23"/>
            <p:cNvSpPr txBox="1"/>
            <p:nvPr/>
          </p:nvSpPr>
          <p:spPr>
            <a:xfrm>
              <a:off x="982980" y="2057400"/>
              <a:ext cx="4945621"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Multi-modal AI: imaging + genomics + EHR combined</a:t>
              </a:r>
            </a:p>
          </p:txBody>
        </p:sp>
        <p:sp>
          <p:nvSpPr>
            <p:cNvPr id="24" name="Rectangle 24"/>
            <p:cNvSpPr/>
            <p:nvPr/>
          </p:nvSpPr>
          <p:spPr>
            <a:xfrm>
              <a:off x="6667500" y="2133600"/>
              <a:ext cx="57150" cy="57150"/>
            </a:xfrm>
            <a:prstGeom prst="roundRect">
              <a:avLst>
                <a:gd name="adj" fmla="val 50000"/>
              </a:avLst>
            </a:prstGeom>
            <a:solidFill>
              <a:srgbClr val="4CAF50"/>
            </a:solidFill>
            <a:ln>
              <a:noFill/>
            </a:ln>
          </p:spPr>
        </p:sp>
        <p:sp>
          <p:nvSpPr>
            <p:cNvPr id="25" name="TextBox 25"/>
            <p:cNvSpPr txBox="1"/>
            <p:nvPr/>
          </p:nvSpPr>
          <p:spPr>
            <a:xfrm>
              <a:off x="6812280" y="2057400"/>
              <a:ext cx="4631956"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AI-designed clinical trials, faster recruitment</a:t>
              </a:r>
            </a:p>
          </p:txBody>
        </p:sp>
      </p:grpSp>
      <p:grpSp>
        <p:nvGrpSpPr>
          <p:cNvPr id="43" name="Group 43"/>
          <p:cNvGrpSpPr/>
          <p:nvPr/>
        </p:nvGrpSpPr>
        <p:grpSpPr>
          <a:xfrm>
            <a:off x="609600" y="2914650"/>
            <a:ext cx="10972800" cy="1657350"/>
            <a:chOff x="609600" y="2914650"/>
            <a:chExt cx="10972800" cy="1657350"/>
          </a:xfrm>
        </p:grpSpPr>
        <p:sp>
          <p:nvSpPr>
            <p:cNvPr id="27" name="Rectangle 27"/>
            <p:cNvSpPr/>
            <p:nvPr/>
          </p:nvSpPr>
          <p:spPr>
            <a:xfrm>
              <a:off x="609600" y="2914650"/>
              <a:ext cx="10972800" cy="1657350"/>
            </a:xfrm>
            <a:prstGeom prst="roundRect">
              <a:avLst>
                <a:gd name="adj" fmla="val 4598"/>
              </a:avLst>
            </a:prstGeom>
            <a:solidFill>
              <a:srgbClr val="161B22"/>
            </a:solidFill>
            <a:ln>
              <a:noFill/>
            </a:ln>
          </p:spPr>
        </p:sp>
        <p:sp>
          <p:nvSpPr>
            <p:cNvPr id="28" name="Rectangle 28"/>
            <p:cNvSpPr/>
            <p:nvPr/>
          </p:nvSpPr>
          <p:spPr>
            <a:xfrm>
              <a:off x="609600" y="2914650"/>
              <a:ext cx="76200" cy="1657350"/>
            </a:xfrm>
            <a:prstGeom prst="roundRect">
              <a:avLst>
                <a:gd name="adj" fmla="val 50000"/>
              </a:avLst>
            </a:prstGeom>
            <a:solidFill>
              <a:srgbClr val="00E5FF"/>
            </a:solidFill>
            <a:ln>
              <a:noFill/>
            </a:ln>
          </p:spPr>
        </p:sp>
        <p:sp>
          <p:nvSpPr>
            <p:cNvPr id="29" name="Rectangle 29"/>
            <p:cNvSpPr/>
            <p:nvPr/>
          </p:nvSpPr>
          <p:spPr>
            <a:xfrm>
              <a:off x="685800" y="2914650"/>
              <a:ext cx="10896600" cy="495300"/>
            </a:xfrm>
            <a:prstGeom prst="roundRect">
              <a:avLst>
                <a:gd name="adj" fmla="val 15385"/>
              </a:avLst>
            </a:prstGeom>
            <a:solidFill>
              <a:srgbClr val="1C2333"/>
            </a:solidFill>
            <a:ln>
              <a:noFill/>
            </a:ln>
          </p:spPr>
        </p:sp>
        <p:sp>
          <p:nvSpPr>
            <p:cNvPr id="30" name="Ellipse 30"/>
            <p:cNvSpPr/>
            <p:nvPr/>
          </p:nvSpPr>
          <p:spPr>
            <a:xfrm>
              <a:off x="914400" y="3009900"/>
              <a:ext cx="304800" cy="304800"/>
            </a:xfrm>
            <a:prstGeom prst="ellipse">
              <a:avLst/>
            </a:prstGeom>
            <a:solidFill>
              <a:srgbClr val="00E5FF">
                <a:alpha val="20000"/>
              </a:srgbClr>
            </a:solidFill>
            <a:ln w="14288">
              <a:solidFill>
                <a:srgbClr val="00E5FF"/>
              </a:solidFill>
            </a:ln>
          </p:spPr>
        </p:sp>
        <p:sp>
          <p:nvSpPr>
            <p:cNvPr id="31" name="TextBox 31"/>
            <p:cNvSpPr txBox="1"/>
            <p:nvPr/>
          </p:nvSpPr>
          <p:spPr>
            <a:xfrm>
              <a:off x="1004495" y="3073718"/>
              <a:ext cx="124610" cy="264033"/>
            </a:xfrm>
            <a:prstGeom prst="rect">
              <a:avLst/>
            </a:prstGeom>
            <a:noFill/>
            <a:ln>
              <a:noFill/>
            </a:ln>
          </p:spPr>
          <p:txBody>
            <a:bodyPr wrap="none" lIns="0" tIns="0" rIns="0" bIns="0" anchor="t" anchorCtr="0">
              <a:spAutoFit/>
            </a:bodyPr>
            <a:lstStyle/>
            <a:p>
              <a:pPr algn="ctr"/>
              <a:r>
                <a:rPr lang="en-US" sz="1350" b="1" dirty="0">
                  <a:solidFill>
                    <a:srgbClr val="00E5FF"/>
                  </a:solidFill>
                  <a:latin typeface="Georgia"/>
                  <a:ea typeface="Georgia"/>
                  <a:cs typeface="Georgia"/>
                </a:rPr>
                <a:t>2</a:t>
              </a:r>
            </a:p>
          </p:txBody>
        </p:sp>
        <p:sp>
          <p:nvSpPr>
            <p:cNvPr id="32" name="TextBox 32"/>
            <p:cNvSpPr txBox="1"/>
            <p:nvPr/>
          </p:nvSpPr>
          <p:spPr>
            <a:xfrm>
              <a:off x="1361694" y="3008948"/>
              <a:ext cx="7015583" cy="381381"/>
            </a:xfrm>
            <a:prstGeom prst="rect">
              <a:avLst/>
            </a:prstGeom>
            <a:noFill/>
            <a:ln>
              <a:noFill/>
            </a:ln>
          </p:spPr>
          <p:txBody>
            <a:bodyPr wrap="none" lIns="0" tIns="0" rIns="0" bIns="0" anchor="t" anchorCtr="0">
              <a:spAutoFit/>
            </a:bodyPr>
            <a:lstStyle/>
            <a:p>
              <a:pPr algn="l"/>
              <a:r>
                <a:rPr lang="en-US" sz="1950" b="1" dirty="0">
                  <a:solidFill>
                    <a:srgbClr val="00E5FF"/>
                  </a:solidFill>
                  <a:latin typeface="Georgia"/>
                  <a:ea typeface="Georgia"/>
                  <a:cs typeface="Georgia"/>
                </a:rPr>
                <a:t>Mid-term 2027-2032 — Transformation Underway</a:t>
              </a:r>
            </a:p>
          </p:txBody>
        </p:sp>
        <p:sp>
          <p:nvSpPr>
            <p:cNvPr id="33" name="Rectangle 33"/>
            <p:cNvSpPr/>
            <p:nvPr/>
          </p:nvSpPr>
          <p:spPr>
            <a:xfrm>
              <a:off x="8572500" y="2990850"/>
              <a:ext cx="1905000" cy="266700"/>
            </a:xfrm>
            <a:prstGeom prst="roundRect">
              <a:avLst>
                <a:gd name="adj" fmla="val 14286"/>
              </a:avLst>
            </a:prstGeom>
            <a:solidFill>
              <a:srgbClr val="00E5FF">
                <a:alpha val="10000"/>
              </a:srgbClr>
            </a:solidFill>
            <a:ln>
              <a:noFill/>
            </a:ln>
          </p:spPr>
        </p:sp>
        <p:sp>
          <p:nvSpPr>
            <p:cNvPr id="34" name="TextBox 34"/>
            <p:cNvSpPr txBox="1"/>
            <p:nvPr/>
          </p:nvSpPr>
          <p:spPr>
            <a:xfrm>
              <a:off x="8955634" y="3042285"/>
              <a:ext cx="1138733" cy="234696"/>
            </a:xfrm>
            <a:prstGeom prst="rect">
              <a:avLst/>
            </a:prstGeom>
            <a:noFill/>
            <a:ln>
              <a:noFill/>
            </a:ln>
          </p:spPr>
          <p:txBody>
            <a:bodyPr wrap="none" lIns="0" tIns="0" rIns="0" bIns="0" anchor="t" anchorCtr="0">
              <a:spAutoFit/>
            </a:bodyPr>
            <a:lstStyle/>
            <a:p>
              <a:pPr algn="ctr"/>
              <a:r>
                <a:rPr lang="en-US" sz="1200" dirty="0">
                  <a:solidFill>
                    <a:srgbClr val="00E5FF"/>
                  </a:solidFill>
                  <a:latin typeface="Arial"/>
                  <a:ea typeface="Arial"/>
                  <a:cs typeface="Arial"/>
                </a:rPr>
                <a:t>▸ IN PROGRESS</a:t>
              </a:r>
            </a:p>
          </p:txBody>
        </p:sp>
        <p:sp>
          <p:nvSpPr>
            <p:cNvPr id="35" name="Rectangle 35"/>
            <p:cNvSpPr/>
            <p:nvPr/>
          </p:nvSpPr>
          <p:spPr>
            <a:xfrm>
              <a:off x="838200" y="3562350"/>
              <a:ext cx="57150" cy="57150"/>
            </a:xfrm>
            <a:prstGeom prst="roundRect">
              <a:avLst>
                <a:gd name="adj" fmla="val 50000"/>
              </a:avLst>
            </a:prstGeom>
            <a:solidFill>
              <a:srgbClr val="00E5FF"/>
            </a:solidFill>
            <a:ln>
              <a:noFill/>
            </a:ln>
          </p:spPr>
        </p:sp>
        <p:sp>
          <p:nvSpPr>
            <p:cNvPr id="36" name="TextBox 36"/>
            <p:cNvSpPr txBox="1"/>
            <p:nvPr/>
          </p:nvSpPr>
          <p:spPr>
            <a:xfrm>
              <a:off x="982980" y="3486150"/>
              <a:ext cx="4965427" cy="293370"/>
            </a:xfrm>
            <a:prstGeom prst="rect">
              <a:avLst/>
            </a:prstGeom>
            <a:noFill/>
            <a:ln>
              <a:noFill/>
            </a:ln>
          </p:spPr>
          <p:txBody>
            <a:bodyPr wrap="none" lIns="0" tIns="0" rIns="0" bIns="0" anchor="t" anchorCtr="0">
              <a:spAutoFit/>
            </a:bodyPr>
            <a:lstStyle/>
            <a:p>
              <a:pPr algn="l"/>
              <a:r>
                <a:rPr lang="en-US" sz="1500" dirty="0">
                  <a:solidFill>
                    <a:srgbClr val="E8F5E9"/>
                  </a:solidFill>
                  <a:latin typeface="Arial"/>
                  <a:ea typeface="Arial"/>
                  <a:cs typeface="Arial"/>
                </a:rPr>
                <a:t>AI surgical co-pilots and robotic guidance systems</a:t>
              </a:r>
            </a:p>
          </p:txBody>
        </p:sp>
        <p:sp>
          <p:nvSpPr>
            <p:cNvPr id="37" name="Rectangle 37"/>
            <p:cNvSpPr/>
            <p:nvPr/>
          </p:nvSpPr>
          <p:spPr>
            <a:xfrm>
              <a:off x="5238750" y="3562350"/>
              <a:ext cx="57150" cy="57150"/>
            </a:xfrm>
            <a:prstGeom prst="roundRect">
              <a:avLst>
                <a:gd name="adj" fmla="val 50000"/>
              </a:avLst>
            </a:prstGeom>
            <a:solidFill>
              <a:srgbClr val="00E5FF"/>
            </a:solidFill>
            <a:ln>
              <a:noFill/>
            </a:ln>
          </p:spPr>
        </p:sp>
        <p:sp>
          <p:nvSpPr>
            <p:cNvPr id="38" name="TextBox 38"/>
            <p:cNvSpPr txBox="1"/>
            <p:nvPr/>
          </p:nvSpPr>
          <p:spPr>
            <a:xfrm>
              <a:off x="5383530" y="3486150"/>
              <a:ext cx="4538151"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Real-time ICU AI monitoring + decision support</a:t>
              </a:r>
            </a:p>
          </p:txBody>
        </p:sp>
        <p:sp>
          <p:nvSpPr>
            <p:cNvPr id="39" name="Rectangle 39"/>
            <p:cNvSpPr/>
            <p:nvPr/>
          </p:nvSpPr>
          <p:spPr>
            <a:xfrm>
              <a:off x="838200" y="3962400"/>
              <a:ext cx="57150" cy="57150"/>
            </a:xfrm>
            <a:prstGeom prst="roundRect">
              <a:avLst>
                <a:gd name="adj" fmla="val 50000"/>
              </a:avLst>
            </a:prstGeom>
            <a:solidFill>
              <a:srgbClr val="00E5FF"/>
            </a:solidFill>
            <a:ln>
              <a:noFill/>
            </a:ln>
          </p:spPr>
        </p:sp>
        <p:sp>
          <p:nvSpPr>
            <p:cNvPr id="40" name="TextBox 40"/>
            <p:cNvSpPr txBox="1"/>
            <p:nvPr/>
          </p:nvSpPr>
          <p:spPr>
            <a:xfrm>
              <a:off x="982980" y="3886200"/>
              <a:ext cx="5746436"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Wearable-driven predictive preventive health management</a:t>
              </a:r>
            </a:p>
          </p:txBody>
        </p:sp>
        <p:sp>
          <p:nvSpPr>
            <p:cNvPr id="41" name="Rectangle 41"/>
            <p:cNvSpPr/>
            <p:nvPr/>
          </p:nvSpPr>
          <p:spPr>
            <a:xfrm>
              <a:off x="6667500" y="3962400"/>
              <a:ext cx="57150" cy="57150"/>
            </a:xfrm>
            <a:prstGeom prst="roundRect">
              <a:avLst>
                <a:gd name="adj" fmla="val 50000"/>
              </a:avLst>
            </a:prstGeom>
            <a:solidFill>
              <a:srgbClr val="00E5FF"/>
            </a:solidFill>
            <a:ln>
              <a:noFill/>
            </a:ln>
          </p:spPr>
        </p:sp>
        <p:sp>
          <p:nvSpPr>
            <p:cNvPr id="42" name="TextBox 42"/>
            <p:cNvSpPr txBox="1"/>
            <p:nvPr/>
          </p:nvSpPr>
          <p:spPr>
            <a:xfrm>
              <a:off x="6812280" y="3886200"/>
              <a:ext cx="3955856"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AI-personalized drug dosing in real-time</a:t>
              </a:r>
            </a:p>
          </p:txBody>
        </p:sp>
      </p:grpSp>
      <p:grpSp>
        <p:nvGrpSpPr>
          <p:cNvPr id="60" name="Group 60"/>
          <p:cNvGrpSpPr/>
          <p:nvPr/>
        </p:nvGrpSpPr>
        <p:grpSpPr>
          <a:xfrm>
            <a:off x="609600" y="4743450"/>
            <a:ext cx="10983637" cy="1657350"/>
            <a:chOff x="609600" y="4743450"/>
            <a:chExt cx="10983637" cy="1657350"/>
          </a:xfrm>
        </p:grpSpPr>
        <p:sp>
          <p:nvSpPr>
            <p:cNvPr id="44" name="Rectangle 44"/>
            <p:cNvSpPr/>
            <p:nvPr/>
          </p:nvSpPr>
          <p:spPr>
            <a:xfrm>
              <a:off x="609600" y="4743450"/>
              <a:ext cx="10972800" cy="1657350"/>
            </a:xfrm>
            <a:prstGeom prst="roundRect">
              <a:avLst>
                <a:gd name="adj" fmla="val 4598"/>
              </a:avLst>
            </a:prstGeom>
            <a:solidFill>
              <a:srgbClr val="161B22"/>
            </a:solidFill>
            <a:ln>
              <a:noFill/>
            </a:ln>
          </p:spPr>
        </p:sp>
        <p:sp>
          <p:nvSpPr>
            <p:cNvPr id="45" name="Rectangle 45"/>
            <p:cNvSpPr/>
            <p:nvPr/>
          </p:nvSpPr>
          <p:spPr>
            <a:xfrm>
              <a:off x="609600" y="4743450"/>
              <a:ext cx="76200" cy="1657350"/>
            </a:xfrm>
            <a:prstGeom prst="roundRect">
              <a:avLst>
                <a:gd name="adj" fmla="val 50000"/>
              </a:avLst>
            </a:prstGeom>
            <a:solidFill>
              <a:srgbClr val="26A69A"/>
            </a:solidFill>
            <a:ln>
              <a:noFill/>
            </a:ln>
          </p:spPr>
        </p:sp>
        <p:sp>
          <p:nvSpPr>
            <p:cNvPr id="46" name="Rectangle 46"/>
            <p:cNvSpPr/>
            <p:nvPr/>
          </p:nvSpPr>
          <p:spPr>
            <a:xfrm>
              <a:off x="685800" y="4743450"/>
              <a:ext cx="10896600" cy="495300"/>
            </a:xfrm>
            <a:prstGeom prst="roundRect">
              <a:avLst>
                <a:gd name="adj" fmla="val 15385"/>
              </a:avLst>
            </a:prstGeom>
            <a:solidFill>
              <a:srgbClr val="1C2333"/>
            </a:solidFill>
            <a:ln>
              <a:noFill/>
            </a:ln>
          </p:spPr>
        </p:sp>
        <p:sp>
          <p:nvSpPr>
            <p:cNvPr id="47" name="Ellipse 47"/>
            <p:cNvSpPr/>
            <p:nvPr/>
          </p:nvSpPr>
          <p:spPr>
            <a:xfrm>
              <a:off x="914400" y="4838700"/>
              <a:ext cx="304800" cy="304800"/>
            </a:xfrm>
            <a:prstGeom prst="ellipse">
              <a:avLst/>
            </a:prstGeom>
            <a:solidFill>
              <a:srgbClr val="26A69A">
                <a:alpha val="20000"/>
              </a:srgbClr>
            </a:solidFill>
            <a:ln w="14288">
              <a:solidFill>
                <a:srgbClr val="26A69A"/>
              </a:solidFill>
            </a:ln>
          </p:spPr>
        </p:sp>
        <p:sp>
          <p:nvSpPr>
            <p:cNvPr id="48" name="TextBox 48"/>
            <p:cNvSpPr txBox="1"/>
            <p:nvPr/>
          </p:nvSpPr>
          <p:spPr>
            <a:xfrm>
              <a:off x="1004495" y="4902518"/>
              <a:ext cx="124610" cy="264033"/>
            </a:xfrm>
            <a:prstGeom prst="rect">
              <a:avLst/>
            </a:prstGeom>
            <a:noFill/>
            <a:ln>
              <a:noFill/>
            </a:ln>
          </p:spPr>
          <p:txBody>
            <a:bodyPr wrap="none" lIns="0" tIns="0" rIns="0" bIns="0" anchor="t" anchorCtr="0">
              <a:spAutoFit/>
            </a:bodyPr>
            <a:lstStyle/>
            <a:p>
              <a:pPr algn="ctr"/>
              <a:r>
                <a:rPr lang="en-US" sz="1350" b="1" dirty="0">
                  <a:solidFill>
                    <a:srgbClr val="26A69A"/>
                  </a:solidFill>
                  <a:latin typeface="Georgia"/>
                  <a:ea typeface="Georgia"/>
                  <a:cs typeface="Georgia"/>
                </a:rPr>
                <a:t>3</a:t>
              </a:r>
            </a:p>
          </p:txBody>
        </p:sp>
        <p:sp>
          <p:nvSpPr>
            <p:cNvPr id="49" name="TextBox 49"/>
            <p:cNvSpPr txBox="1"/>
            <p:nvPr/>
          </p:nvSpPr>
          <p:spPr>
            <a:xfrm>
              <a:off x="1361694" y="4837748"/>
              <a:ext cx="6596591" cy="381381"/>
            </a:xfrm>
            <a:prstGeom prst="rect">
              <a:avLst/>
            </a:prstGeom>
            <a:noFill/>
            <a:ln>
              <a:noFill/>
            </a:ln>
          </p:spPr>
          <p:txBody>
            <a:bodyPr wrap="none" lIns="0" tIns="0" rIns="0" bIns="0" anchor="t" anchorCtr="0">
              <a:spAutoFit/>
            </a:bodyPr>
            <a:lstStyle/>
            <a:p>
              <a:pPr algn="l"/>
              <a:r>
                <a:rPr lang="en-US" sz="1950" b="1" dirty="0">
                  <a:solidFill>
                    <a:srgbClr val="26A69A"/>
                  </a:solidFill>
                  <a:latin typeface="Georgia"/>
                  <a:ea typeface="Georgia"/>
                  <a:cs typeface="Georgia"/>
                </a:rPr>
                <a:t>Long-term 2032+ — The New Standard of Care</a:t>
              </a:r>
            </a:p>
          </p:txBody>
        </p:sp>
        <p:sp>
          <p:nvSpPr>
            <p:cNvPr id="50" name="Rectangle 50"/>
            <p:cNvSpPr/>
            <p:nvPr/>
          </p:nvSpPr>
          <p:spPr>
            <a:xfrm>
              <a:off x="8572500" y="4819650"/>
              <a:ext cx="1905000" cy="266700"/>
            </a:xfrm>
            <a:prstGeom prst="roundRect">
              <a:avLst>
                <a:gd name="adj" fmla="val 14286"/>
              </a:avLst>
            </a:prstGeom>
            <a:solidFill>
              <a:srgbClr val="26A69A">
                <a:alpha val="10000"/>
              </a:srgbClr>
            </a:solidFill>
            <a:ln>
              <a:noFill/>
            </a:ln>
          </p:spPr>
        </p:sp>
        <p:sp>
          <p:nvSpPr>
            <p:cNvPr id="51" name="TextBox 51"/>
            <p:cNvSpPr txBox="1"/>
            <p:nvPr/>
          </p:nvSpPr>
          <p:spPr>
            <a:xfrm>
              <a:off x="9104986" y="4871085"/>
              <a:ext cx="840029" cy="234696"/>
            </a:xfrm>
            <a:prstGeom prst="rect">
              <a:avLst/>
            </a:prstGeom>
            <a:noFill/>
            <a:ln>
              <a:noFill/>
            </a:ln>
          </p:spPr>
          <p:txBody>
            <a:bodyPr wrap="none" lIns="0" tIns="0" rIns="0" bIns="0" anchor="t" anchorCtr="0">
              <a:spAutoFit/>
            </a:bodyPr>
            <a:lstStyle/>
            <a:p>
              <a:pPr algn="ctr"/>
              <a:r>
                <a:rPr lang="en-US" sz="1200" dirty="0">
                  <a:solidFill>
                    <a:srgbClr val="26A69A"/>
                  </a:solidFill>
                  <a:latin typeface="Arial"/>
                  <a:ea typeface="Arial"/>
                  <a:cs typeface="Arial"/>
                </a:rPr>
                <a:t>◆ HORIZON</a:t>
              </a:r>
            </a:p>
          </p:txBody>
        </p:sp>
        <p:sp>
          <p:nvSpPr>
            <p:cNvPr id="52" name="Rectangle 52"/>
            <p:cNvSpPr/>
            <p:nvPr/>
          </p:nvSpPr>
          <p:spPr>
            <a:xfrm>
              <a:off x="838200" y="5391150"/>
              <a:ext cx="57150" cy="57150"/>
            </a:xfrm>
            <a:prstGeom prst="roundRect">
              <a:avLst>
                <a:gd name="adj" fmla="val 50000"/>
              </a:avLst>
            </a:prstGeom>
            <a:solidFill>
              <a:srgbClr val="26A69A"/>
            </a:solidFill>
            <a:ln>
              <a:noFill/>
            </a:ln>
          </p:spPr>
        </p:sp>
        <p:sp>
          <p:nvSpPr>
            <p:cNvPr id="53" name="TextBox 53"/>
            <p:cNvSpPr txBox="1"/>
            <p:nvPr/>
          </p:nvSpPr>
          <p:spPr>
            <a:xfrm>
              <a:off x="982980" y="5314950"/>
              <a:ext cx="4524348" cy="293370"/>
            </a:xfrm>
            <a:prstGeom prst="rect">
              <a:avLst/>
            </a:prstGeom>
            <a:noFill/>
            <a:ln>
              <a:noFill/>
            </a:ln>
          </p:spPr>
          <p:txBody>
            <a:bodyPr wrap="none" lIns="0" tIns="0" rIns="0" bIns="0" anchor="t" anchorCtr="0">
              <a:spAutoFit/>
            </a:bodyPr>
            <a:lstStyle/>
            <a:p>
              <a:pPr algn="l"/>
              <a:r>
                <a:rPr lang="en-US" sz="1500" dirty="0">
                  <a:solidFill>
                    <a:srgbClr val="E8F5E9"/>
                  </a:solidFill>
                  <a:latin typeface="Arial"/>
                  <a:ea typeface="Arial"/>
                  <a:cs typeface="Arial"/>
                </a:rPr>
                <a:t>Precision medicine at population scale globally</a:t>
              </a:r>
            </a:p>
          </p:txBody>
        </p:sp>
        <p:sp>
          <p:nvSpPr>
            <p:cNvPr id="54" name="Rectangle 54"/>
            <p:cNvSpPr/>
            <p:nvPr/>
          </p:nvSpPr>
          <p:spPr>
            <a:xfrm>
              <a:off x="5524500" y="5391150"/>
              <a:ext cx="57150" cy="57150"/>
            </a:xfrm>
            <a:prstGeom prst="roundRect">
              <a:avLst>
                <a:gd name="adj" fmla="val 50000"/>
              </a:avLst>
            </a:prstGeom>
            <a:solidFill>
              <a:srgbClr val="26A69A"/>
            </a:solidFill>
            <a:ln>
              <a:noFill/>
            </a:ln>
          </p:spPr>
        </p:sp>
        <p:sp>
          <p:nvSpPr>
            <p:cNvPr id="55" name="TextBox 55"/>
            <p:cNvSpPr txBox="1"/>
            <p:nvPr/>
          </p:nvSpPr>
          <p:spPr>
            <a:xfrm>
              <a:off x="5669280" y="5314950"/>
              <a:ext cx="592395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AI eliminating diagnostic delays in resource-limited settings</a:t>
              </a:r>
            </a:p>
          </p:txBody>
        </p:sp>
        <p:sp>
          <p:nvSpPr>
            <p:cNvPr id="56" name="Rectangle 56"/>
            <p:cNvSpPr/>
            <p:nvPr/>
          </p:nvSpPr>
          <p:spPr>
            <a:xfrm>
              <a:off x="838200" y="5791200"/>
              <a:ext cx="57150" cy="57150"/>
            </a:xfrm>
            <a:prstGeom prst="roundRect">
              <a:avLst>
                <a:gd name="adj" fmla="val 50000"/>
              </a:avLst>
            </a:prstGeom>
            <a:solidFill>
              <a:srgbClr val="26A69A"/>
            </a:solidFill>
            <a:ln>
              <a:noFill/>
            </a:ln>
          </p:spPr>
        </p:sp>
        <p:sp>
          <p:nvSpPr>
            <p:cNvPr id="57" name="TextBox 57"/>
            <p:cNvSpPr txBox="1"/>
            <p:nvPr/>
          </p:nvSpPr>
          <p:spPr>
            <a:xfrm>
              <a:off x="982980" y="5715000"/>
              <a:ext cx="605167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Democratization of specialist-level AI care across all nations</a:t>
              </a:r>
            </a:p>
          </p:txBody>
        </p:sp>
        <p:sp>
          <p:nvSpPr>
            <p:cNvPr id="58" name="Rectangle 58"/>
            <p:cNvSpPr/>
            <p:nvPr/>
          </p:nvSpPr>
          <p:spPr>
            <a:xfrm>
              <a:off x="7239000" y="5791200"/>
              <a:ext cx="57150" cy="57150"/>
            </a:xfrm>
            <a:prstGeom prst="roundRect">
              <a:avLst>
                <a:gd name="adj" fmla="val 50000"/>
              </a:avLst>
            </a:prstGeom>
            <a:solidFill>
              <a:srgbClr val="26A69A"/>
            </a:solidFill>
            <a:ln>
              <a:noFill/>
            </a:ln>
          </p:spPr>
        </p:sp>
        <p:sp>
          <p:nvSpPr>
            <p:cNvPr id="59" name="TextBox 59"/>
            <p:cNvSpPr txBox="1"/>
            <p:nvPr/>
          </p:nvSpPr>
          <p:spPr>
            <a:xfrm>
              <a:off x="7383780" y="5715000"/>
              <a:ext cx="4164187" cy="293370"/>
            </a:xfrm>
            <a:prstGeom prst="rect">
              <a:avLst/>
            </a:prstGeom>
            <a:noFill/>
            <a:ln>
              <a:noFill/>
            </a:ln>
          </p:spPr>
          <p:txBody>
            <a:bodyPr wrap="none" lIns="0" tIns="0" rIns="0" bIns="0" anchor="t" anchorCtr="0">
              <a:spAutoFit/>
            </a:bodyPr>
            <a:lstStyle/>
            <a:p>
              <a:pPr algn="l"/>
              <a:r>
                <a:rPr lang="en-US" sz="1500" dirty="0">
                  <a:solidFill>
                    <a:srgbClr val="90A4AE"/>
                  </a:solidFill>
                  <a:latin typeface="Arial"/>
                  <a:ea typeface="Arial"/>
                  <a:cs typeface="Arial"/>
                </a:rPr>
                <a:t>Continuous real-world AI learning systems</a:t>
              </a:r>
            </a:p>
          </p:txBody>
        </p:sp>
      </p:grpSp>
      <p:grpSp>
        <p:nvGrpSpPr>
          <p:cNvPr id="64" name="Group 64"/>
          <p:cNvGrpSpPr/>
          <p:nvPr/>
        </p:nvGrpSpPr>
        <p:grpSpPr>
          <a:xfrm>
            <a:off x="603504" y="6553200"/>
            <a:ext cx="10984992" cy="276606"/>
            <a:chOff x="603504" y="6553200"/>
            <a:chExt cx="10984992" cy="276606"/>
          </a:xfrm>
        </p:grpSpPr>
        <p:sp>
          <p:nvSpPr>
            <p:cNvPr id="61" name="Line 61"/>
            <p:cNvSpPr/>
            <p:nvPr/>
          </p:nvSpPr>
          <p:spPr>
            <a:xfrm>
              <a:off x="609600" y="655320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62" name="TextBox 62"/>
            <p:cNvSpPr txBox="1"/>
            <p:nvPr/>
          </p:nvSpPr>
          <p:spPr>
            <a:xfrm>
              <a:off x="603504" y="65951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63" name="TextBox 63"/>
            <p:cNvSpPr txBox="1"/>
            <p:nvPr/>
          </p:nvSpPr>
          <p:spPr>
            <a:xfrm>
              <a:off x="11035132" y="65951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13 / 14</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sp>
        <p:sp>
          <p:nvSpPr>
            <p:cNvPr id="3" name="Freeform 3"/>
            <p:cNvSpPr/>
            <p:nvPr/>
          </p:nvSpPr>
          <p:spPr>
            <a:xfrm>
              <a:off x="0" y="0"/>
              <a:ext cx="12192000" cy="6858000"/>
            </a:xfrm>
            <a:custGeom>
              <a:avLst/>
              <a:gdLst/>
              <a:ahLst/>
              <a:cxnLst/>
              <a:rect l="l" t="t" r="r" b="b"/>
              <a:pathLst>
                <a:path w="12192000" h="6858000">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4762">
              <a:solidFill>
                <a:srgbClr val="1A2332"/>
              </a:solidFill>
            </a:ln>
          </p:spPr>
        </p:sp>
        <p:sp>
          <p:nvSpPr>
            <p:cNvPr id="4" name="Ellipse 4"/>
            <p:cNvSpPr/>
            <p:nvPr/>
          </p:nvSpPr>
          <p:spPr>
            <a:xfrm>
              <a:off x="1524000" y="1143000"/>
              <a:ext cx="9144000" cy="5334000"/>
            </a:xfrm>
            <a:prstGeom prst="ellipse">
              <a:avLst/>
            </a:prstGeom>
            <a:gradFill>
              <a:gsLst>
                <a:gs pos="0">
                  <a:srgbClr val="00796B">
                    <a:alpha val="12000"/>
                  </a:srgbClr>
                </a:gs>
                <a:gs pos="100000">
                  <a:srgbClr val="00796B">
                    <a:alpha val="0"/>
                  </a:srgbClr>
                </a:gs>
              </a:gsLst>
              <a:path path="circle">
                <a:fillToRect l="50000" t="50000" r="50000" b="50000"/>
              </a:path>
            </a:gradFill>
            <a:ln>
              <a:noFill/>
            </a:ln>
          </p:spPr>
        </p:sp>
        <p:sp>
          <p:nvSpPr>
            <p:cNvPr id="5" name="Rectangle 5"/>
            <p:cNvSpPr/>
            <p:nvPr/>
          </p:nvSpPr>
          <p:spPr>
            <a:xfrm>
              <a:off x="0" y="0"/>
              <a:ext cx="12192000" cy="6858000"/>
            </a:xfrm>
            <a:prstGeom prst="rect">
              <a:avLst/>
            </a:prstGeom>
            <a:gradFill>
              <a:gsLst>
                <a:gs pos="0">
                  <a:srgbClr val="0D1117">
                    <a:alpha val="97000"/>
                  </a:srgbClr>
                </a:gs>
                <a:gs pos="70000">
                  <a:srgbClr val="0D1117">
                    <a:alpha val="60000"/>
                  </a:srgbClr>
                </a:gs>
                <a:gs pos="100000">
                  <a:srgbClr val="0D1117">
                    <a:alpha val="10000"/>
                  </a:srgbClr>
                </a:gs>
              </a:gsLst>
              <a:lin ang="0" scaled="1"/>
            </a:gradFill>
            <a:ln>
              <a:noFill/>
            </a:ln>
          </p:spPr>
        </p:sp>
      </p:grpSp>
      <p:grpSp>
        <p:nvGrpSpPr>
          <p:cNvPr id="20" name="Group 20"/>
          <p:cNvGrpSpPr/>
          <p:nvPr/>
        </p:nvGrpSpPr>
        <p:grpSpPr>
          <a:xfrm>
            <a:off x="0" y="0"/>
            <a:ext cx="12192000" cy="6858000"/>
            <a:chOff x="0" y="0"/>
            <a:chExt cx="12192000" cy="6858000"/>
          </a:xfrm>
        </p:grpSpPr>
        <p:sp>
          <p:nvSpPr>
            <p:cNvPr id="7" name="Line 7"/>
            <p:cNvSpPr/>
            <p:nvPr/>
          </p:nvSpPr>
          <p:spPr>
            <a:xfrm>
              <a:off x="0" y="1905000"/>
              <a:ext cx="1714500" cy="9525"/>
            </a:xfrm>
            <a:custGeom>
              <a:avLst/>
              <a:gdLst/>
              <a:ahLst/>
              <a:cxnLst/>
              <a:rect l="l" t="t" r="r" b="b"/>
              <a:pathLst>
                <a:path w="1714500" h="9525">
                  <a:moveTo>
                    <a:pt x="0" y="0"/>
                  </a:moveTo>
                  <a:lnTo>
                    <a:pt x="1714500" y="0"/>
                  </a:lnTo>
                </a:path>
              </a:pathLst>
            </a:custGeom>
            <a:noFill/>
            <a:ln w="9525">
              <a:solidFill>
                <a:srgbClr val="00796B">
                  <a:alpha val="40000"/>
                </a:srgbClr>
              </a:solidFill>
            </a:ln>
          </p:spPr>
        </p:sp>
        <p:sp>
          <p:nvSpPr>
            <p:cNvPr id="8" name="Line 8"/>
            <p:cNvSpPr/>
            <p:nvPr/>
          </p:nvSpPr>
          <p:spPr>
            <a:xfrm>
              <a:off x="952500" y="0"/>
              <a:ext cx="9525" cy="2286000"/>
            </a:xfrm>
            <a:custGeom>
              <a:avLst/>
              <a:gdLst/>
              <a:ahLst/>
              <a:cxnLst/>
              <a:rect l="l" t="t" r="r" b="b"/>
              <a:pathLst>
                <a:path w="9525" h="2286000">
                  <a:moveTo>
                    <a:pt x="0" y="0"/>
                  </a:moveTo>
                  <a:lnTo>
                    <a:pt x="0" y="2286000"/>
                  </a:lnTo>
                </a:path>
              </a:pathLst>
            </a:custGeom>
            <a:noFill/>
            <a:ln w="9525">
              <a:solidFill>
                <a:srgbClr val="00796B">
                  <a:alpha val="40000"/>
                </a:srgbClr>
              </a:solidFill>
            </a:ln>
          </p:spPr>
        </p:sp>
        <p:sp>
          <p:nvSpPr>
            <p:cNvPr id="9" name="Ellipse 9"/>
            <p:cNvSpPr/>
            <p:nvPr/>
          </p:nvSpPr>
          <p:spPr>
            <a:xfrm>
              <a:off x="904875" y="1857375"/>
              <a:ext cx="95250" cy="95250"/>
            </a:xfrm>
            <a:prstGeom prst="ellipse">
              <a:avLst/>
            </a:prstGeom>
            <a:solidFill>
              <a:srgbClr val="00E5FF">
                <a:alpha val="50000"/>
              </a:srgbClr>
            </a:solidFill>
            <a:ln>
              <a:noFill/>
            </a:ln>
          </p:spPr>
        </p:sp>
        <p:sp>
          <p:nvSpPr>
            <p:cNvPr id="10" name="Line 10"/>
            <p:cNvSpPr/>
            <p:nvPr/>
          </p:nvSpPr>
          <p:spPr>
            <a:xfrm>
              <a:off x="10477500" y="4953000"/>
              <a:ext cx="1714500" cy="9525"/>
            </a:xfrm>
            <a:custGeom>
              <a:avLst/>
              <a:gdLst/>
              <a:ahLst/>
              <a:cxnLst/>
              <a:rect l="l" t="t" r="r" b="b"/>
              <a:pathLst>
                <a:path w="1714500" h="9525">
                  <a:moveTo>
                    <a:pt x="1714500" y="0"/>
                  </a:moveTo>
                  <a:lnTo>
                    <a:pt x="0" y="0"/>
                  </a:lnTo>
                </a:path>
              </a:pathLst>
            </a:custGeom>
            <a:noFill/>
            <a:ln w="9525">
              <a:solidFill>
                <a:srgbClr val="00796B">
                  <a:alpha val="40000"/>
                </a:srgbClr>
              </a:solidFill>
            </a:ln>
          </p:spPr>
        </p:sp>
        <p:sp>
          <p:nvSpPr>
            <p:cNvPr id="11" name="Line 11"/>
            <p:cNvSpPr/>
            <p:nvPr/>
          </p:nvSpPr>
          <p:spPr>
            <a:xfrm>
              <a:off x="11239500" y="4572000"/>
              <a:ext cx="9525" cy="2286000"/>
            </a:xfrm>
            <a:custGeom>
              <a:avLst/>
              <a:gdLst/>
              <a:ahLst/>
              <a:cxnLst/>
              <a:rect l="l" t="t" r="r" b="b"/>
              <a:pathLst>
                <a:path w="9525" h="2286000">
                  <a:moveTo>
                    <a:pt x="0" y="2286000"/>
                  </a:moveTo>
                  <a:lnTo>
                    <a:pt x="0" y="0"/>
                  </a:lnTo>
                </a:path>
              </a:pathLst>
            </a:custGeom>
            <a:noFill/>
            <a:ln w="9525">
              <a:solidFill>
                <a:srgbClr val="00796B">
                  <a:alpha val="40000"/>
                </a:srgbClr>
              </a:solidFill>
            </a:ln>
          </p:spPr>
        </p:sp>
        <p:sp>
          <p:nvSpPr>
            <p:cNvPr id="12" name="Ellipse 12"/>
            <p:cNvSpPr/>
            <p:nvPr/>
          </p:nvSpPr>
          <p:spPr>
            <a:xfrm>
              <a:off x="11191875" y="4905375"/>
              <a:ext cx="95250" cy="95250"/>
            </a:xfrm>
            <a:prstGeom prst="ellipse">
              <a:avLst/>
            </a:prstGeom>
            <a:solidFill>
              <a:srgbClr val="00E5FF">
                <a:alpha val="50000"/>
              </a:srgbClr>
            </a:solidFill>
            <a:ln>
              <a:noFill/>
            </a:ln>
          </p:spPr>
        </p:sp>
        <p:sp>
          <p:nvSpPr>
            <p:cNvPr id="13" name="Polygon 13"/>
            <p:cNvSpPr/>
            <p:nvPr/>
          </p:nvSpPr>
          <p:spPr>
            <a:xfrm>
              <a:off x="10096500" y="866775"/>
              <a:ext cx="304800" cy="342900"/>
            </a:xfrm>
            <a:custGeom>
              <a:avLst/>
              <a:gdLst/>
              <a:ahLst/>
              <a:cxnLst/>
              <a:rect l="l" t="t" r="r" b="b"/>
              <a:pathLst>
                <a:path w="304800" h="342900">
                  <a:moveTo>
                    <a:pt x="0" y="85725"/>
                  </a:moveTo>
                  <a:lnTo>
                    <a:pt x="152400" y="0"/>
                  </a:lnTo>
                  <a:lnTo>
                    <a:pt x="304800" y="85725"/>
                  </a:lnTo>
                  <a:lnTo>
                    <a:pt x="304800" y="257175"/>
                  </a:lnTo>
                  <a:lnTo>
                    <a:pt x="152400" y="342900"/>
                  </a:lnTo>
                  <a:lnTo>
                    <a:pt x="0" y="257175"/>
                  </a:lnTo>
                  <a:close/>
                </a:path>
              </a:pathLst>
            </a:custGeom>
            <a:noFill/>
            <a:ln w="9525">
              <a:solidFill>
                <a:srgbClr val="00E5FF">
                  <a:alpha val="25000"/>
                </a:srgbClr>
              </a:solidFill>
            </a:ln>
          </p:spPr>
        </p:sp>
        <p:sp>
          <p:nvSpPr>
            <p:cNvPr id="14" name="Polygon 14"/>
            <p:cNvSpPr/>
            <p:nvPr/>
          </p:nvSpPr>
          <p:spPr>
            <a:xfrm>
              <a:off x="1714500" y="5248275"/>
              <a:ext cx="304800" cy="342900"/>
            </a:xfrm>
            <a:custGeom>
              <a:avLst/>
              <a:gdLst/>
              <a:ahLst/>
              <a:cxnLst/>
              <a:rect l="l" t="t" r="r" b="b"/>
              <a:pathLst>
                <a:path w="304800" h="342900">
                  <a:moveTo>
                    <a:pt x="0" y="85725"/>
                  </a:moveTo>
                  <a:lnTo>
                    <a:pt x="152400" y="0"/>
                  </a:lnTo>
                  <a:lnTo>
                    <a:pt x="304800" y="85725"/>
                  </a:lnTo>
                  <a:lnTo>
                    <a:pt x="304800" y="257175"/>
                  </a:lnTo>
                  <a:lnTo>
                    <a:pt x="152400" y="342900"/>
                  </a:lnTo>
                  <a:lnTo>
                    <a:pt x="0" y="257175"/>
                  </a:lnTo>
                  <a:close/>
                </a:path>
              </a:pathLst>
            </a:custGeom>
            <a:noFill/>
            <a:ln w="9525">
              <a:solidFill>
                <a:srgbClr val="00E5FF">
                  <a:alpha val="25000"/>
                </a:srgbClr>
              </a:solidFill>
            </a:ln>
          </p:spPr>
        </p:sp>
        <p:sp>
          <p:nvSpPr>
            <p:cNvPr id="15" name="Line 15"/>
            <p:cNvSpPr/>
            <p:nvPr/>
          </p:nvSpPr>
          <p:spPr>
            <a:xfrm>
              <a:off x="8191500" y="0"/>
              <a:ext cx="9525" cy="2667000"/>
            </a:xfrm>
            <a:custGeom>
              <a:avLst/>
              <a:gdLst/>
              <a:ahLst/>
              <a:cxnLst/>
              <a:rect l="l" t="t" r="r" b="b"/>
              <a:pathLst>
                <a:path w="9525" h="2667000">
                  <a:moveTo>
                    <a:pt x="0" y="0"/>
                  </a:moveTo>
                  <a:lnTo>
                    <a:pt x="0" y="2667000"/>
                  </a:lnTo>
                </a:path>
              </a:pathLst>
            </a:custGeom>
            <a:noFill/>
            <a:ln w="7620">
              <a:solidFill>
                <a:srgbClr val="00796B">
                  <a:alpha val="30000"/>
                </a:srgbClr>
              </a:solidFill>
            </a:ln>
          </p:spPr>
        </p:sp>
        <p:sp>
          <p:nvSpPr>
            <p:cNvPr id="16" name="Line 16"/>
            <p:cNvSpPr/>
            <p:nvPr/>
          </p:nvSpPr>
          <p:spPr>
            <a:xfrm>
              <a:off x="9144000" y="0"/>
              <a:ext cx="9525" cy="2095500"/>
            </a:xfrm>
            <a:custGeom>
              <a:avLst/>
              <a:gdLst/>
              <a:ahLst/>
              <a:cxnLst/>
              <a:rect l="l" t="t" r="r" b="b"/>
              <a:pathLst>
                <a:path w="9525" h="2095500">
                  <a:moveTo>
                    <a:pt x="0" y="0"/>
                  </a:moveTo>
                  <a:lnTo>
                    <a:pt x="0" y="2095500"/>
                  </a:lnTo>
                </a:path>
              </a:pathLst>
            </a:custGeom>
            <a:noFill/>
            <a:ln w="7620">
              <a:solidFill>
                <a:srgbClr val="00E5FF">
                  <a:alpha val="20000"/>
                </a:srgbClr>
              </a:solidFill>
            </a:ln>
          </p:spPr>
        </p:sp>
        <p:sp>
          <p:nvSpPr>
            <p:cNvPr id="17" name="Ellipse 17"/>
            <p:cNvSpPr/>
            <p:nvPr/>
          </p:nvSpPr>
          <p:spPr>
            <a:xfrm>
              <a:off x="7791450" y="1123950"/>
              <a:ext cx="38100" cy="38100"/>
            </a:xfrm>
            <a:prstGeom prst="ellipse">
              <a:avLst/>
            </a:prstGeom>
            <a:solidFill>
              <a:srgbClr val="00E5FF">
                <a:alpha val="50000"/>
              </a:srgbClr>
            </a:solidFill>
            <a:ln>
              <a:noFill/>
            </a:ln>
          </p:spPr>
        </p:sp>
        <p:sp>
          <p:nvSpPr>
            <p:cNvPr id="18" name="Ellipse 18"/>
            <p:cNvSpPr/>
            <p:nvPr/>
          </p:nvSpPr>
          <p:spPr>
            <a:xfrm>
              <a:off x="9505950" y="742950"/>
              <a:ext cx="38100" cy="38100"/>
            </a:xfrm>
            <a:prstGeom prst="ellipse">
              <a:avLst/>
            </a:prstGeom>
            <a:solidFill>
              <a:srgbClr val="00E5FF">
                <a:alpha val="40000"/>
              </a:srgbClr>
            </a:solidFill>
            <a:ln>
              <a:noFill/>
            </a:ln>
          </p:spPr>
        </p:sp>
        <p:sp>
          <p:nvSpPr>
            <p:cNvPr id="19" name="Ellipse 19"/>
            <p:cNvSpPr/>
            <p:nvPr/>
          </p:nvSpPr>
          <p:spPr>
            <a:xfrm>
              <a:off x="8748712" y="1509712"/>
              <a:ext cx="28575" cy="28575"/>
            </a:xfrm>
            <a:prstGeom prst="ellipse">
              <a:avLst/>
            </a:prstGeom>
            <a:solidFill>
              <a:srgbClr val="26A69A">
                <a:alpha val="50000"/>
              </a:srgbClr>
            </a:solidFill>
            <a:ln>
              <a:noFill/>
            </a:ln>
          </p:spPr>
        </p:sp>
      </p:grpSp>
      <p:grpSp>
        <p:nvGrpSpPr>
          <p:cNvPr id="22" name="Group 22"/>
          <p:cNvGrpSpPr/>
          <p:nvPr/>
        </p:nvGrpSpPr>
        <p:grpSpPr>
          <a:xfrm>
            <a:off x="609600" y="1790700"/>
            <a:ext cx="38100" cy="3162300"/>
            <a:chOff x="609600" y="1790700"/>
            <a:chExt cx="38100" cy="3162300"/>
          </a:xfrm>
        </p:grpSpPr>
        <p:sp>
          <p:nvSpPr>
            <p:cNvPr id="21" name="Rectangle 21"/>
            <p:cNvSpPr/>
            <p:nvPr/>
          </p:nvSpPr>
          <p:spPr>
            <a:xfrm>
              <a:off x="609600" y="1790700"/>
              <a:ext cx="38100" cy="3162300"/>
            </a:xfrm>
            <a:prstGeom prst="roundRect">
              <a:avLst>
                <a:gd name="adj" fmla="val 50000"/>
              </a:avLst>
            </a:prstGeom>
            <a:gradFill>
              <a:gsLst>
                <a:gs pos="0">
                  <a:srgbClr val="00796B"/>
                </a:gs>
                <a:gs pos="100000">
                  <a:srgbClr val="00E5FF"/>
                </a:gs>
              </a:gsLst>
              <a:lin ang="0" scaled="1"/>
            </a:gradFill>
            <a:ln>
              <a:noFill/>
            </a:ln>
          </p:spPr>
        </p:sp>
      </p:grpSp>
      <p:grpSp>
        <p:nvGrpSpPr>
          <p:cNvPr id="36" name="Group 36"/>
          <p:cNvGrpSpPr/>
          <p:nvPr/>
        </p:nvGrpSpPr>
        <p:grpSpPr>
          <a:xfrm>
            <a:off x="560138" y="2004060"/>
            <a:ext cx="6432697" cy="3768090"/>
            <a:chOff x="560138" y="2004060"/>
            <a:chExt cx="6432697" cy="3768090"/>
          </a:xfrm>
        </p:grpSpPr>
        <p:sp>
          <p:nvSpPr>
            <p:cNvPr id="23" name="TextBox 23"/>
            <p:cNvSpPr txBox="1"/>
            <p:nvPr/>
          </p:nvSpPr>
          <p:spPr>
            <a:xfrm>
              <a:off x="794004" y="2004060"/>
              <a:ext cx="2525146" cy="234696"/>
            </a:xfrm>
            <a:prstGeom prst="rect">
              <a:avLst/>
            </a:prstGeom>
            <a:noFill/>
            <a:ln>
              <a:noFill/>
            </a:ln>
          </p:spPr>
          <p:txBody>
            <a:bodyPr wrap="none" lIns="0" tIns="0" rIns="0" bIns="0" anchor="t" anchorCtr="0">
              <a:spAutoFit/>
            </a:bodyPr>
            <a:lstStyle/>
            <a:p>
              <a:pPr algn="l"/>
              <a:r>
                <a:rPr lang="en-US" sz="1200" b="1" spc="225" dirty="0">
                  <a:solidFill>
                    <a:srgbClr val="00E5FF">
                      <a:alphaMod val="80000"/>
                    </a:srgbClr>
                  </a:solidFill>
                  <a:latin typeface="Arial"/>
                  <a:ea typeface="Arial"/>
                  <a:cs typeface="Arial"/>
                </a:rPr>
                <a:t>THE INVITATION TO ACT</a:t>
              </a:r>
            </a:p>
          </p:txBody>
        </p:sp>
        <p:sp>
          <p:nvSpPr>
            <p:cNvPr id="24" name="TextBox 24"/>
            <p:cNvSpPr txBox="1"/>
            <p:nvPr/>
          </p:nvSpPr>
          <p:spPr>
            <a:xfrm>
              <a:off x="781050" y="2442210"/>
              <a:ext cx="6211785" cy="819150"/>
            </a:xfrm>
            <a:prstGeom prst="rect">
              <a:avLst/>
            </a:prstGeom>
            <a:noFill/>
            <a:ln>
              <a:noFill/>
            </a:ln>
          </p:spPr>
          <p:txBody>
            <a:bodyPr wrap="none" lIns="0" tIns="0" rIns="0" bIns="0" anchor="t" anchorCtr="0">
              <a:spAutoFit/>
            </a:bodyPr>
            <a:lstStyle/>
            <a:p>
              <a:pPr algn="l"/>
              <a:r>
                <a:rPr lang="en-US" sz="4200" b="1" dirty="0">
                  <a:solidFill>
                    <a:srgbClr val="E8F5E9"/>
                  </a:solidFill>
                  <a:latin typeface="Georgia"/>
                  <a:ea typeface="Georgia"/>
                  <a:cs typeface="Georgia"/>
                </a:rPr>
                <a:t>The Transformation</a:t>
              </a:r>
            </a:p>
          </p:txBody>
        </p:sp>
        <p:sp>
          <p:nvSpPr>
            <p:cNvPr id="25" name="TextBox 25"/>
            <p:cNvSpPr txBox="1"/>
            <p:nvPr/>
          </p:nvSpPr>
          <p:spPr>
            <a:xfrm>
              <a:off x="781050" y="3051810"/>
              <a:ext cx="6023680" cy="819150"/>
            </a:xfrm>
            <a:prstGeom prst="rect">
              <a:avLst/>
            </a:prstGeom>
            <a:noFill/>
            <a:ln>
              <a:noFill/>
            </a:ln>
          </p:spPr>
          <p:txBody>
            <a:bodyPr wrap="none" lIns="0" tIns="0" rIns="0" bIns="0" anchor="t" anchorCtr="0">
              <a:spAutoFit/>
            </a:bodyPr>
            <a:lstStyle/>
            <a:p>
              <a:pPr algn="l"/>
              <a:r>
                <a:rPr lang="en-US" sz="4200" b="1" dirty="0">
                  <a:gradFill>
                    <a:gsLst>
                      <a:gs pos="0">
                        <a:srgbClr val="00796B"/>
                      </a:gs>
                      <a:gs pos="100000">
                        <a:srgbClr val="00E5FF"/>
                      </a:gs>
                    </a:gsLst>
                    <a:lin ang="0" scaled="1"/>
                  </a:gradFill>
                  <a:effectLst>
                    <a:glow rad="95250">
                      <a:srgbClr val="00E5FF">
                        <a:alpha val="35000"/>
                      </a:srgbClr>
                    </a:glow>
                  </a:effectLst>
                  <a:latin typeface="Georgia"/>
                  <a:ea typeface="Georgia"/>
                  <a:cs typeface="Georgia"/>
                </a:rPr>
                <a:t>Has Already Begun.</a:t>
              </a:r>
            </a:p>
          </p:txBody>
        </p:sp>
        <p:sp>
          <p:nvSpPr>
            <p:cNvPr id="26" name="Rectangle 26"/>
            <p:cNvSpPr/>
            <p:nvPr/>
          </p:nvSpPr>
          <p:spPr>
            <a:xfrm>
              <a:off x="800100" y="3733800"/>
              <a:ext cx="5334000" cy="19050"/>
            </a:xfrm>
            <a:prstGeom prst="roundRect">
              <a:avLst>
                <a:gd name="adj" fmla="val 50000"/>
              </a:avLst>
            </a:prstGeom>
            <a:gradFill>
              <a:gsLst>
                <a:gs pos="0">
                  <a:srgbClr val="00796B">
                    <a:alpha val="60000"/>
                  </a:srgbClr>
                </a:gs>
                <a:gs pos="100000">
                  <a:srgbClr val="00E5FF">
                    <a:alpha val="60000"/>
                  </a:srgbClr>
                </a:gs>
              </a:gsLst>
              <a:lin ang="0" scaled="1"/>
            </a:gradFill>
            <a:ln>
              <a:noFill/>
            </a:ln>
          </p:spPr>
        </p:sp>
        <p:sp>
          <p:nvSpPr>
            <p:cNvPr id="27" name="TextBox 27"/>
            <p:cNvSpPr txBox="1"/>
            <p:nvPr/>
          </p:nvSpPr>
          <p:spPr>
            <a:xfrm>
              <a:off x="790194" y="3942398"/>
              <a:ext cx="2443439" cy="381381"/>
            </a:xfrm>
            <a:prstGeom prst="rect">
              <a:avLst/>
            </a:prstGeom>
            <a:noFill/>
            <a:ln>
              <a:noFill/>
            </a:ln>
          </p:spPr>
          <p:txBody>
            <a:bodyPr wrap="none" lIns="0" tIns="0" rIns="0" bIns="0" anchor="t" anchorCtr="0">
              <a:spAutoFit/>
            </a:bodyPr>
            <a:lstStyle/>
            <a:p>
              <a:pPr algn="l"/>
              <a:r>
                <a:rPr lang="en-US" sz="1950" dirty="0">
                  <a:solidFill>
                    <a:srgbClr val="E8F5E9"/>
                  </a:solidFill>
                  <a:latin typeface="Arial"/>
                  <a:ea typeface="Arial"/>
                  <a:cs typeface="Arial"/>
                </a:rPr>
                <a:t>The question is not</a:t>
              </a:r>
            </a:p>
          </p:txBody>
        </p:sp>
        <p:sp>
          <p:nvSpPr>
            <p:cNvPr id="28" name="TextBox 28"/>
            <p:cNvSpPr txBox="1"/>
            <p:nvPr/>
          </p:nvSpPr>
          <p:spPr>
            <a:xfrm>
              <a:off x="790194" y="4247198"/>
              <a:ext cx="1143152" cy="381381"/>
            </a:xfrm>
            <a:prstGeom prst="rect">
              <a:avLst/>
            </a:prstGeom>
            <a:noFill/>
            <a:ln>
              <a:noFill/>
            </a:ln>
          </p:spPr>
          <p:txBody>
            <a:bodyPr wrap="none" lIns="0" tIns="0" rIns="0" bIns="0" anchor="t" anchorCtr="0">
              <a:spAutoFit/>
            </a:bodyPr>
            <a:lstStyle/>
            <a:p>
              <a:pPr algn="l"/>
              <a:r>
                <a:rPr lang="en-US" sz="1950" i="1" dirty="0">
                  <a:solidFill>
                    <a:srgbClr val="00E5FF"/>
                  </a:solidFill>
                  <a:latin typeface="Georgia"/>
                  <a:ea typeface="Georgia"/>
                  <a:cs typeface="Georgia"/>
                </a:rPr>
                <a:t>whether</a:t>
              </a:r>
            </a:p>
          </p:txBody>
        </p:sp>
        <p:sp>
          <p:nvSpPr>
            <p:cNvPr id="29" name="TextBox 29"/>
            <p:cNvSpPr txBox="1"/>
            <p:nvPr/>
          </p:nvSpPr>
          <p:spPr>
            <a:xfrm>
              <a:off x="790194" y="4247198"/>
              <a:ext cx="5865343" cy="381381"/>
            </a:xfrm>
            <a:prstGeom prst="rect">
              <a:avLst/>
            </a:prstGeom>
            <a:noFill/>
            <a:ln>
              <a:noFill/>
            </a:ln>
          </p:spPr>
          <p:txBody>
            <a:bodyPr wrap="none" lIns="0" tIns="0" rIns="0" bIns="0" anchor="t" anchorCtr="0">
              <a:spAutoFit/>
            </a:bodyPr>
            <a:lstStyle/>
            <a:p>
              <a:pPr algn="l"/>
              <a:r>
                <a:rPr lang="en-US" sz="1950" dirty="0">
                  <a:solidFill>
                    <a:srgbClr val="E8F5E9"/>
                  </a:solidFill>
                  <a:latin typeface="Arial"/>
                  <a:ea typeface="Arial"/>
                  <a:cs typeface="Arial"/>
                </a:rPr>
                <a:t>AI will transform healthcare — it already has.</a:t>
              </a:r>
            </a:p>
          </p:txBody>
        </p:sp>
        <p:sp>
          <p:nvSpPr>
            <p:cNvPr id="30" name="TextBox 30"/>
            <p:cNvSpPr txBox="1"/>
            <p:nvPr/>
          </p:nvSpPr>
          <p:spPr>
            <a:xfrm>
              <a:off x="790194" y="4647248"/>
              <a:ext cx="1931289" cy="381381"/>
            </a:xfrm>
            <a:prstGeom prst="rect">
              <a:avLst/>
            </a:prstGeom>
            <a:noFill/>
            <a:ln>
              <a:noFill/>
            </a:ln>
          </p:spPr>
          <p:txBody>
            <a:bodyPr wrap="none" lIns="0" tIns="0" rIns="0" bIns="0" anchor="t" anchorCtr="0">
              <a:spAutoFit/>
            </a:bodyPr>
            <a:lstStyle/>
            <a:p>
              <a:pPr algn="l"/>
              <a:r>
                <a:rPr lang="en-US" sz="1950" dirty="0">
                  <a:solidFill>
                    <a:srgbClr val="E8F5E9"/>
                  </a:solidFill>
                  <a:latin typeface="Arial"/>
                  <a:ea typeface="Arial"/>
                  <a:cs typeface="Arial"/>
                </a:rPr>
                <a:t>The question is</a:t>
              </a:r>
            </a:p>
          </p:txBody>
        </p:sp>
        <p:sp>
          <p:nvSpPr>
            <p:cNvPr id="31" name="TextBox 31"/>
            <p:cNvSpPr txBox="1"/>
            <p:nvPr/>
          </p:nvSpPr>
          <p:spPr>
            <a:xfrm>
              <a:off x="790194" y="4647248"/>
              <a:ext cx="6194024" cy="381381"/>
            </a:xfrm>
            <a:prstGeom prst="rect">
              <a:avLst/>
            </a:prstGeom>
            <a:noFill/>
            <a:ln>
              <a:noFill/>
            </a:ln>
          </p:spPr>
          <p:txBody>
            <a:bodyPr wrap="none" lIns="0" tIns="0" rIns="0" bIns="0" anchor="t" anchorCtr="0">
              <a:spAutoFit/>
            </a:bodyPr>
            <a:lstStyle/>
            <a:p>
              <a:pPr algn="l"/>
              <a:r>
                <a:rPr lang="en-US" sz="1950" b="1" dirty="0">
                  <a:solidFill>
                    <a:srgbClr val="4CAF50"/>
                  </a:solidFill>
                  <a:latin typeface="Georgia"/>
                  <a:ea typeface="Georgia"/>
                  <a:cs typeface="Georgia"/>
                </a:rPr>
                <a:t>whether you will lead that transformation.</a:t>
              </a:r>
            </a:p>
          </p:txBody>
        </p:sp>
        <p:sp>
          <p:nvSpPr>
            <p:cNvPr id="32" name="Rectangle 32"/>
            <p:cNvSpPr/>
            <p:nvPr/>
          </p:nvSpPr>
          <p:spPr>
            <a:xfrm>
              <a:off x="800100" y="5200650"/>
              <a:ext cx="2857500" cy="571500"/>
            </a:xfrm>
            <a:prstGeom prst="roundRect">
              <a:avLst>
                <a:gd name="adj" fmla="val 10000"/>
              </a:avLst>
            </a:prstGeom>
            <a:solidFill>
              <a:srgbClr val="161B22"/>
            </a:solidFill>
            <a:ln w="14288">
              <a:solidFill>
                <a:srgbClr val="4CAF50"/>
              </a:solidFill>
            </a:ln>
          </p:spPr>
        </p:sp>
        <p:sp>
          <p:nvSpPr>
            <p:cNvPr id="33" name="TextBox 33"/>
            <p:cNvSpPr txBox="1"/>
            <p:nvPr/>
          </p:nvSpPr>
          <p:spPr>
            <a:xfrm>
              <a:off x="560138" y="5381625"/>
              <a:ext cx="3337424" cy="293370"/>
            </a:xfrm>
            <a:prstGeom prst="rect">
              <a:avLst/>
            </a:prstGeom>
            <a:noFill/>
            <a:ln>
              <a:noFill/>
            </a:ln>
          </p:spPr>
          <p:txBody>
            <a:bodyPr wrap="none" lIns="0" tIns="0" rIns="0" bIns="0" anchor="t" anchorCtr="0">
              <a:spAutoFit/>
            </a:bodyPr>
            <a:lstStyle/>
            <a:p>
              <a:pPr algn="ctr"/>
              <a:r>
                <a:rPr lang="en-US" sz="1500" b="1" dirty="0">
                  <a:solidFill>
                    <a:srgbClr val="4CAF50"/>
                  </a:solidFill>
                  <a:latin typeface="Arial"/>
                  <a:ea typeface="Arial"/>
                  <a:cs typeface="Arial"/>
                </a:rPr>
                <a:t>▶ Begin AI Readiness Assessment</a:t>
              </a:r>
            </a:p>
          </p:txBody>
        </p:sp>
        <p:sp>
          <p:nvSpPr>
            <p:cNvPr id="34" name="Rectangle 34"/>
            <p:cNvSpPr/>
            <p:nvPr/>
          </p:nvSpPr>
          <p:spPr>
            <a:xfrm>
              <a:off x="3848100" y="5200650"/>
              <a:ext cx="2667000" cy="571500"/>
            </a:xfrm>
            <a:prstGeom prst="roundRect">
              <a:avLst>
                <a:gd name="adj" fmla="val 10000"/>
              </a:avLst>
            </a:prstGeom>
            <a:solidFill>
              <a:srgbClr val="161B22"/>
            </a:solidFill>
            <a:ln w="9525">
              <a:solidFill>
                <a:srgbClr val="263238"/>
              </a:solidFill>
            </a:ln>
          </p:spPr>
        </p:sp>
        <p:sp>
          <p:nvSpPr>
            <p:cNvPr id="35" name="TextBox 35"/>
            <p:cNvSpPr txBox="1"/>
            <p:nvPr/>
          </p:nvSpPr>
          <p:spPr>
            <a:xfrm>
              <a:off x="3437474" y="5381625"/>
              <a:ext cx="3488252" cy="293370"/>
            </a:xfrm>
            <a:prstGeom prst="rect">
              <a:avLst/>
            </a:prstGeom>
            <a:noFill/>
            <a:ln>
              <a:noFill/>
            </a:ln>
          </p:spPr>
          <p:txBody>
            <a:bodyPr wrap="none" lIns="0" tIns="0" rIns="0" bIns="0" anchor="t" anchorCtr="0">
              <a:spAutoFit/>
            </a:bodyPr>
            <a:lstStyle/>
            <a:p>
              <a:pPr algn="ctr"/>
              <a:r>
                <a:rPr lang="en-US" sz="1500" dirty="0">
                  <a:solidFill>
                    <a:srgbClr val="90A4AE"/>
                  </a:solidFill>
                  <a:latin typeface="Arial"/>
                  <a:ea typeface="Arial"/>
                  <a:cs typeface="Arial"/>
                </a:rPr>
                <a:t>▶ Build Your AI Healthcare Strategy</a:t>
              </a:r>
            </a:p>
          </p:txBody>
        </p:sp>
      </p:grpSp>
      <p:grpSp>
        <p:nvGrpSpPr>
          <p:cNvPr id="51" name="Group 51"/>
          <p:cNvGrpSpPr/>
          <p:nvPr/>
        </p:nvGrpSpPr>
        <p:grpSpPr>
          <a:xfrm>
            <a:off x="8572500" y="3810000"/>
            <a:ext cx="3181236" cy="1905000"/>
            <a:chOff x="8572500" y="3810000"/>
            <a:chExt cx="3181236" cy="1905000"/>
          </a:xfrm>
        </p:grpSpPr>
        <p:sp>
          <p:nvSpPr>
            <p:cNvPr id="37" name="Rectangle 37"/>
            <p:cNvSpPr/>
            <p:nvPr/>
          </p:nvSpPr>
          <p:spPr>
            <a:xfrm>
              <a:off x="8572500" y="3810000"/>
              <a:ext cx="3009900" cy="1905000"/>
            </a:xfrm>
            <a:prstGeom prst="roundRect">
              <a:avLst>
                <a:gd name="adj" fmla="val 4000"/>
              </a:avLst>
            </a:prstGeom>
            <a:solidFill>
              <a:srgbClr val="161B22"/>
            </a:solidFill>
            <a:ln>
              <a:noFill/>
            </a:ln>
          </p:spPr>
        </p:sp>
        <p:sp>
          <p:nvSpPr>
            <p:cNvPr id="38" name="Rectangle 38"/>
            <p:cNvSpPr/>
            <p:nvPr/>
          </p:nvSpPr>
          <p:spPr>
            <a:xfrm>
              <a:off x="8572500" y="3810000"/>
              <a:ext cx="3009900" cy="38100"/>
            </a:xfrm>
            <a:prstGeom prst="roundRect">
              <a:avLst>
                <a:gd name="adj" fmla="val 50000"/>
              </a:avLst>
            </a:prstGeom>
            <a:gradFill>
              <a:gsLst>
                <a:gs pos="0">
                  <a:srgbClr val="00796B"/>
                </a:gs>
                <a:gs pos="100000">
                  <a:srgbClr val="00E5FF"/>
                </a:gs>
              </a:gsLst>
              <a:lin ang="0" scaled="1"/>
            </a:gradFill>
            <a:ln>
              <a:noFill/>
            </a:ln>
          </p:spPr>
        </p:sp>
        <p:sp>
          <p:nvSpPr>
            <p:cNvPr id="39" name="TextBox 39"/>
            <p:cNvSpPr txBox="1"/>
            <p:nvPr/>
          </p:nvSpPr>
          <p:spPr>
            <a:xfrm>
              <a:off x="8718042" y="3969068"/>
              <a:ext cx="1381347" cy="264033"/>
            </a:xfrm>
            <a:prstGeom prst="rect">
              <a:avLst/>
            </a:prstGeom>
            <a:noFill/>
            <a:ln>
              <a:noFill/>
            </a:ln>
          </p:spPr>
          <p:txBody>
            <a:bodyPr wrap="none" lIns="0" tIns="0" rIns="0" bIns="0" anchor="t" anchorCtr="0">
              <a:spAutoFit/>
            </a:bodyPr>
            <a:lstStyle/>
            <a:p>
              <a:pPr algn="l"/>
              <a:r>
                <a:rPr lang="en-US" sz="1350" b="1" dirty="0">
                  <a:solidFill>
                    <a:srgbClr val="90A4AE"/>
                  </a:solidFill>
                  <a:latin typeface="Arial"/>
                  <a:ea typeface="Arial"/>
                  <a:cs typeface="Arial"/>
                </a:rPr>
                <a:t>Key Takeaways</a:t>
              </a:r>
            </a:p>
          </p:txBody>
        </p:sp>
        <p:sp>
          <p:nvSpPr>
            <p:cNvPr id="40" name="Rectangle 40"/>
            <p:cNvSpPr/>
            <p:nvPr/>
          </p:nvSpPr>
          <p:spPr>
            <a:xfrm>
              <a:off x="8724900" y="4267200"/>
              <a:ext cx="57150" cy="57150"/>
            </a:xfrm>
            <a:prstGeom prst="roundRect">
              <a:avLst>
                <a:gd name="adj" fmla="val 50000"/>
              </a:avLst>
            </a:prstGeom>
            <a:solidFill>
              <a:srgbClr val="4CAF50"/>
            </a:solidFill>
            <a:ln>
              <a:noFill/>
            </a:ln>
          </p:spPr>
        </p:sp>
        <p:sp>
          <p:nvSpPr>
            <p:cNvPr id="41" name="TextBox 41"/>
            <p:cNvSpPr txBox="1"/>
            <p:nvPr/>
          </p:nvSpPr>
          <p:spPr>
            <a:xfrm>
              <a:off x="8852154" y="4223385"/>
              <a:ext cx="2421179" cy="234696"/>
            </a:xfrm>
            <a:prstGeom prst="rect">
              <a:avLst/>
            </a:prstGeom>
            <a:noFill/>
            <a:ln>
              <a:noFill/>
            </a:ln>
          </p:spPr>
          <p:txBody>
            <a:bodyPr wrap="none" lIns="0" tIns="0" rIns="0" bIns="0" anchor="t" anchorCtr="0">
              <a:spAutoFit/>
            </a:bodyPr>
            <a:lstStyle/>
            <a:p>
              <a:pPr algn="l"/>
              <a:r>
                <a:rPr lang="en-US" sz="1200" dirty="0">
                  <a:solidFill>
                    <a:srgbClr val="E8F5E9"/>
                  </a:solidFill>
                  <a:latin typeface="Arial"/>
                  <a:ea typeface="Arial"/>
                  <a:cs typeface="Arial"/>
                </a:rPr>
                <a:t>AI already saving lives at scale</a:t>
              </a:r>
            </a:p>
          </p:txBody>
        </p:sp>
        <p:sp>
          <p:nvSpPr>
            <p:cNvPr id="42" name="Rectangle 42"/>
            <p:cNvSpPr/>
            <p:nvPr/>
          </p:nvSpPr>
          <p:spPr>
            <a:xfrm>
              <a:off x="8724900" y="4457700"/>
              <a:ext cx="57150" cy="57150"/>
            </a:xfrm>
            <a:prstGeom prst="roundRect">
              <a:avLst>
                <a:gd name="adj" fmla="val 50000"/>
              </a:avLst>
            </a:prstGeom>
            <a:solidFill>
              <a:srgbClr val="00E5FF"/>
            </a:solidFill>
            <a:ln>
              <a:noFill/>
            </a:ln>
          </p:spPr>
        </p:sp>
        <p:sp>
          <p:nvSpPr>
            <p:cNvPr id="43" name="TextBox 43"/>
            <p:cNvSpPr txBox="1"/>
            <p:nvPr/>
          </p:nvSpPr>
          <p:spPr>
            <a:xfrm>
              <a:off x="8852154" y="4413885"/>
              <a:ext cx="1917746" cy="234696"/>
            </a:xfrm>
            <a:prstGeom prst="rect">
              <a:avLst/>
            </a:prstGeom>
            <a:noFill/>
            <a:ln>
              <a:noFill/>
            </a:ln>
          </p:spPr>
          <p:txBody>
            <a:bodyPr wrap="none" lIns="0" tIns="0" rIns="0" bIns="0" anchor="t" anchorCtr="0">
              <a:spAutoFit/>
            </a:bodyPr>
            <a:lstStyle/>
            <a:p>
              <a:pPr algn="l"/>
              <a:r>
                <a:rPr lang="en-US" sz="1200" dirty="0">
                  <a:solidFill>
                    <a:srgbClr val="E8F5E9"/>
                  </a:solidFill>
                  <a:latin typeface="Arial"/>
                  <a:ea typeface="Arial"/>
                  <a:cs typeface="Arial"/>
                </a:rPr>
                <a:t>$45B market — 40% CAGR</a:t>
              </a:r>
            </a:p>
          </p:txBody>
        </p:sp>
        <p:sp>
          <p:nvSpPr>
            <p:cNvPr id="44" name="Rectangle 44"/>
            <p:cNvSpPr/>
            <p:nvPr/>
          </p:nvSpPr>
          <p:spPr>
            <a:xfrm>
              <a:off x="8724900" y="4648200"/>
              <a:ext cx="57150" cy="57150"/>
            </a:xfrm>
            <a:prstGeom prst="roundRect">
              <a:avLst>
                <a:gd name="adj" fmla="val 50000"/>
              </a:avLst>
            </a:prstGeom>
            <a:solidFill>
              <a:srgbClr val="26A69A"/>
            </a:solidFill>
            <a:ln>
              <a:noFill/>
            </a:ln>
          </p:spPr>
        </p:sp>
        <p:sp>
          <p:nvSpPr>
            <p:cNvPr id="45" name="TextBox 45"/>
            <p:cNvSpPr txBox="1"/>
            <p:nvPr/>
          </p:nvSpPr>
          <p:spPr>
            <a:xfrm>
              <a:off x="8852154" y="4604385"/>
              <a:ext cx="2200929" cy="234696"/>
            </a:xfrm>
            <a:prstGeom prst="rect">
              <a:avLst/>
            </a:prstGeom>
            <a:noFill/>
            <a:ln>
              <a:noFill/>
            </a:ln>
          </p:spPr>
          <p:txBody>
            <a:bodyPr wrap="none" lIns="0" tIns="0" rIns="0" bIns="0" anchor="t" anchorCtr="0">
              <a:spAutoFit/>
            </a:bodyPr>
            <a:lstStyle/>
            <a:p>
              <a:pPr algn="l"/>
              <a:r>
                <a:rPr lang="en-US" sz="1200" dirty="0">
                  <a:solidFill>
                    <a:srgbClr val="E8F5E9"/>
                  </a:solidFill>
                  <a:latin typeface="Arial"/>
                  <a:ea typeface="Arial"/>
                  <a:cs typeface="Arial"/>
                </a:rPr>
                <a:t>521+ FDA-cleared AI devices</a:t>
              </a:r>
            </a:p>
          </p:txBody>
        </p:sp>
        <p:sp>
          <p:nvSpPr>
            <p:cNvPr id="46" name="Rectangle 46"/>
            <p:cNvSpPr/>
            <p:nvPr/>
          </p:nvSpPr>
          <p:spPr>
            <a:xfrm>
              <a:off x="8724900" y="4838700"/>
              <a:ext cx="57150" cy="57150"/>
            </a:xfrm>
            <a:prstGeom prst="roundRect">
              <a:avLst>
                <a:gd name="adj" fmla="val 50000"/>
              </a:avLst>
            </a:prstGeom>
            <a:solidFill>
              <a:srgbClr val="FF5252"/>
            </a:solidFill>
            <a:ln>
              <a:noFill/>
            </a:ln>
          </p:spPr>
        </p:sp>
        <p:sp>
          <p:nvSpPr>
            <p:cNvPr id="47" name="TextBox 47"/>
            <p:cNvSpPr txBox="1"/>
            <p:nvPr/>
          </p:nvSpPr>
          <p:spPr>
            <a:xfrm>
              <a:off x="8852154" y="4794885"/>
              <a:ext cx="2901582" cy="234696"/>
            </a:xfrm>
            <a:prstGeom prst="rect">
              <a:avLst/>
            </a:prstGeom>
            <a:noFill/>
            <a:ln>
              <a:noFill/>
            </a:ln>
          </p:spPr>
          <p:txBody>
            <a:bodyPr wrap="none" lIns="0" tIns="0" rIns="0" bIns="0" anchor="t" anchorCtr="0">
              <a:spAutoFit/>
            </a:bodyPr>
            <a:lstStyle/>
            <a:p>
              <a:pPr algn="l"/>
              <a:r>
                <a:rPr lang="en-US" sz="1200" dirty="0">
                  <a:solidFill>
                    <a:srgbClr val="E8F5E9"/>
                  </a:solidFill>
                  <a:latin typeface="Arial"/>
                  <a:ea typeface="Arial"/>
                  <a:cs typeface="Arial"/>
                </a:rPr>
                <a:t>18M worker shortage drives urgency</a:t>
              </a:r>
            </a:p>
          </p:txBody>
        </p:sp>
        <p:sp>
          <p:nvSpPr>
            <p:cNvPr id="48" name="Rectangle 48"/>
            <p:cNvSpPr/>
            <p:nvPr/>
          </p:nvSpPr>
          <p:spPr>
            <a:xfrm>
              <a:off x="8724900" y="5029200"/>
              <a:ext cx="57150" cy="57150"/>
            </a:xfrm>
            <a:prstGeom prst="roundRect">
              <a:avLst>
                <a:gd name="adj" fmla="val 50000"/>
              </a:avLst>
            </a:prstGeom>
            <a:solidFill>
              <a:srgbClr val="F59E0B"/>
            </a:solidFill>
            <a:ln>
              <a:noFill/>
            </a:ln>
          </p:spPr>
        </p:sp>
        <p:sp>
          <p:nvSpPr>
            <p:cNvPr id="49" name="TextBox 49"/>
            <p:cNvSpPr txBox="1"/>
            <p:nvPr/>
          </p:nvSpPr>
          <p:spPr>
            <a:xfrm>
              <a:off x="8852154" y="4985385"/>
              <a:ext cx="2166808" cy="234696"/>
            </a:xfrm>
            <a:prstGeom prst="rect">
              <a:avLst/>
            </a:prstGeom>
            <a:noFill/>
            <a:ln>
              <a:noFill/>
            </a:ln>
          </p:spPr>
          <p:txBody>
            <a:bodyPr wrap="none" lIns="0" tIns="0" rIns="0" bIns="0" anchor="t" anchorCtr="0">
              <a:spAutoFit/>
            </a:bodyPr>
            <a:lstStyle/>
            <a:p>
              <a:pPr algn="l"/>
              <a:r>
                <a:rPr lang="en-US" sz="1200" dirty="0">
                  <a:solidFill>
                    <a:srgbClr val="E8F5E9"/>
                  </a:solidFill>
                  <a:latin typeface="Arial"/>
                  <a:ea typeface="Arial"/>
                  <a:cs typeface="Arial"/>
                </a:rPr>
                <a:t>Act now — or catch up later</a:t>
              </a:r>
            </a:p>
          </p:txBody>
        </p:sp>
        <p:sp>
          <p:nvSpPr>
            <p:cNvPr id="50" name="TextBox 50"/>
            <p:cNvSpPr txBox="1"/>
            <p:nvPr/>
          </p:nvSpPr>
          <p:spPr>
            <a:xfrm>
              <a:off x="8905468" y="5487352"/>
              <a:ext cx="2343965" cy="205359"/>
            </a:xfrm>
            <a:prstGeom prst="rect">
              <a:avLst/>
            </a:prstGeom>
            <a:noFill/>
            <a:ln>
              <a:noFill/>
            </a:ln>
          </p:spPr>
          <p:txBody>
            <a:bodyPr wrap="none" lIns="0" tIns="0" rIns="0" bIns="0" anchor="t" anchorCtr="0">
              <a:spAutoFit/>
            </a:bodyPr>
            <a:lstStyle/>
            <a:p>
              <a:pPr algn="ctr"/>
              <a:r>
                <a:rPr lang="en-US" sz="1050" dirty="0">
                  <a:solidFill>
                    <a:srgbClr val="546E7A"/>
                  </a:solidFill>
                  <a:latin typeface="Arial"/>
                  <a:ea typeface="Arial"/>
                  <a:cs typeface="Arial"/>
                </a:rPr>
                <a:t>Healthcare Innovation Series 2026</a:t>
              </a:r>
            </a:p>
          </p:txBody>
        </p:sp>
      </p:grpSp>
      <p:grpSp>
        <p:nvGrpSpPr>
          <p:cNvPr id="55" name="Group 55"/>
          <p:cNvGrpSpPr/>
          <p:nvPr/>
        </p:nvGrpSpPr>
        <p:grpSpPr>
          <a:xfrm>
            <a:off x="603504" y="6534150"/>
            <a:ext cx="10984992" cy="295656"/>
            <a:chOff x="603504" y="6534150"/>
            <a:chExt cx="10984992" cy="295656"/>
          </a:xfrm>
        </p:grpSpPr>
        <p:sp>
          <p:nvSpPr>
            <p:cNvPr id="52" name="Line 52"/>
            <p:cNvSpPr/>
            <p:nvPr/>
          </p:nvSpPr>
          <p:spPr>
            <a:xfrm>
              <a:off x="609600" y="6534150"/>
              <a:ext cx="10972800" cy="9525"/>
            </a:xfrm>
            <a:custGeom>
              <a:avLst/>
              <a:gdLst/>
              <a:ahLst/>
              <a:cxnLst/>
              <a:rect l="l" t="t" r="r" b="b"/>
              <a:pathLst>
                <a:path w="10972800" h="9525">
                  <a:moveTo>
                    <a:pt x="0" y="0"/>
                  </a:moveTo>
                  <a:lnTo>
                    <a:pt x="10972800" y="0"/>
                  </a:lnTo>
                </a:path>
              </a:pathLst>
            </a:custGeom>
            <a:noFill/>
            <a:ln w="9525">
              <a:solidFill>
                <a:srgbClr val="263238"/>
              </a:solidFill>
            </a:ln>
          </p:spPr>
        </p:sp>
        <p:sp>
          <p:nvSpPr>
            <p:cNvPr id="53" name="TextBox 53"/>
            <p:cNvSpPr txBox="1"/>
            <p:nvPr/>
          </p:nvSpPr>
          <p:spPr>
            <a:xfrm>
              <a:off x="603504" y="6595110"/>
              <a:ext cx="2381098" cy="234696"/>
            </a:xfrm>
            <a:prstGeom prst="rect">
              <a:avLst/>
            </a:prstGeom>
            <a:noFill/>
            <a:ln>
              <a:noFill/>
            </a:ln>
          </p:spPr>
          <p:txBody>
            <a:bodyPr wrap="none" lIns="0" tIns="0" rIns="0" bIns="0" anchor="t" anchorCtr="0">
              <a:spAutoFit/>
            </a:bodyPr>
            <a:lstStyle/>
            <a:p>
              <a:pPr algn="l"/>
              <a:r>
                <a:rPr lang="en-US" sz="1200" dirty="0">
                  <a:solidFill>
                    <a:srgbClr val="546E7A"/>
                  </a:solidFill>
                  <a:latin typeface="Arial"/>
                  <a:ea typeface="Arial"/>
                  <a:cs typeface="Arial"/>
                </a:rPr>
                <a:t>The Future of AI in Healthcare</a:t>
              </a:r>
            </a:p>
          </p:txBody>
        </p:sp>
        <p:sp>
          <p:nvSpPr>
            <p:cNvPr id="54" name="TextBox 54"/>
            <p:cNvSpPr txBox="1"/>
            <p:nvPr/>
          </p:nvSpPr>
          <p:spPr>
            <a:xfrm>
              <a:off x="11035132" y="6595110"/>
              <a:ext cx="553364" cy="234696"/>
            </a:xfrm>
            <a:prstGeom prst="rect">
              <a:avLst/>
            </a:prstGeom>
            <a:noFill/>
            <a:ln>
              <a:noFill/>
            </a:ln>
          </p:spPr>
          <p:txBody>
            <a:bodyPr wrap="none" lIns="0" tIns="0" rIns="0" bIns="0" anchor="t" anchorCtr="0">
              <a:spAutoFit/>
            </a:bodyPr>
            <a:lstStyle/>
            <a:p>
              <a:pPr algn="r"/>
              <a:r>
                <a:rPr lang="en-US" sz="1200" dirty="0">
                  <a:solidFill>
                    <a:srgbClr val="546E7A"/>
                  </a:solidFill>
                  <a:latin typeface="Arial"/>
                  <a:ea typeface="Arial"/>
                  <a:cs typeface="Arial"/>
                </a:rPr>
                <a:t>14 / 14</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2026-06-29T06:28:14Z</dcterms:created>
  <dcterms:modified xsi:type="dcterms:W3CDTF">2026-06-29T06:28:14Z</dcterms:modified>
  <cp:category/>
  <cp:contentStatus/>
</cp:coreProperties>
</file>